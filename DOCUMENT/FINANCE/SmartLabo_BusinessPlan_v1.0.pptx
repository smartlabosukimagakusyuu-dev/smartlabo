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1B3D"/>
                </a:solidFill>
                <a:latin typeface="Arial"/>
              </a:defRPr>
            </a:pPr>
            <a:r>
              <a:rPr sz="1200" b="0" i="0" u="none" strike="noStrike">
                <a:solidFill>
                  <a:srgbClr val="0A1B3D"/>
                </a:solidFill>
                <a:latin typeface="Arial"/>
              </a:rPr>
              <a:t>導入社数と年間売上高の推移</a:t>
            </a:r>
          </a:p>
        </c:rich>
      </c:tx>
      <c:layout/>
      <c:overlay val="0"/>
    </c:title>
    <c:autoTitleDeleted val="0"/>
    <c:plotArea>
      <c:layout/>
      <c:barChart>
        <c:barDir val="col"/>
        <c:grouping val="clustered"/>
        <c:varyColors val="0"/>
        <c:ser>
          <c:idx val="0"/>
          <c:order val="0"/>
          <c:tx>
            <c:strRef>
              <c:f>Sheet1!$B$1</c:f>
              <c:strCache>
                <c:ptCount val="1"/>
                <c:pt idx="0">
                  <c:v>導入社数（累計・社）</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60A5FA"/>
              </a:solidFill>
              <a:effectLst/>
            </c:spPr>
          </c:dPt>
          <c:dPt>
            <c:idx val="2"/>
            <c:invertIfNegative val="0"/>
            <c:bubble3D val="0"/>
            <c:spPr>
              <a:solidFill>
                <a:srgbClr val="2563EB"/>
              </a:solidFill>
              <a:effectLst/>
            </c:spPr>
          </c:dPt>
          <c:cat>
            <c:multiLvlStrRef>
              <c:f>Sheet1!$A$2:$A$4</c:f>
              <c:multiLvlStrCache>
                <c:ptCount val="3"/>
                <c:lvl>
                  <c:pt idx="0">
                    <c:v>Year 1（2026年度）</c:v>
                  </c:pt>
                  <c:pt idx="1">
                    <c:v>Year 2（2027年度）</c:v>
                  </c:pt>
                  <c:pt idx="2">
                    <c:v>Year 3（2028年度）</c:v>
                  </c:pt>
                </c:lvl>
              </c:multiLvlStrCache>
            </c:multiLvlStrRef>
          </c:cat>
          <c:val>
            <c:numRef>
              <c:f>Sheet1!$B$2:$B$4</c:f>
              <c:numCache>
                <c:formatCode>General</c:formatCode>
                <c:ptCount val="3"/>
                <c:pt idx="0">
                  <c:v>3</c:v>
                </c:pt>
                <c:pt idx="1">
                  <c:v>15</c:v>
                </c:pt>
                <c:pt idx="2">
                  <c:v>40</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年間売上高（万円）</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c:symbol val="circle"/>
            <c:size val="8"/>
            <c:spPr>
              <a:solidFill>
                <a:srgbClr val="60A5FA"/>
              </a:solidFill>
              <a:ln w="9525" cap="flat">
                <a:solidFill>
                  <a:srgbClr val="2563EB"/>
                </a:solidFill>
                <a:prstDash val="solid"/>
                <a:round/>
              </a:ln>
              <a:effectLst/>
            </c:spPr>
          </c:marker>
          <c:cat>
            <c:multiLvlStrRef>
              <c:f>Sheet1!$A$2:$A$4</c:f>
              <c:multiLvlStrCache>
                <c:ptCount val="3"/>
                <c:lvl>
                  <c:pt idx="0">
                    <c:v>Year 1（2026年度）</c:v>
                  </c:pt>
                  <c:pt idx="1">
                    <c:v>Year 2（2027年度）</c:v>
                  </c:pt>
                  <c:pt idx="2">
                    <c:v>Year 3（2028年度）</c:v>
                  </c:pt>
                </c:lvl>
              </c:multiLvlStrCache>
            </c:multiLvlStrRef>
          </c:cat>
          <c:val>
            <c:numRef>
              <c:f>Sheet1!$C$2:$C$4</c:f>
              <c:numCache>
                <c:formatCode>General</c:formatCode>
                <c:ptCount val="3"/>
                <c:pt idx="0">
                  <c:v>150</c:v>
                </c:pt>
                <c:pt idx="1">
                  <c:v>1200</c:v>
                </c:pt>
                <c:pt idx="2">
                  <c:v>3500</c:v>
                </c:pt>
              </c:numCache>
            </c:numRef>
          </c:val>
          <c:smooth val="0"/>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導入社数（社）</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売上高（万円）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0A1B3D"/>
              </a:solidFill>
              <a:ln w="25400" cap="flat">
                <a:solidFill>
                  <a:srgbClr val="FFFFFF"/>
                </a:solidFill>
                <a:prstDash val="solid"/>
                <a:round/>
              </a:ln>
              <a:effectLst/>
            </c:spPr>
          </c:dPt>
          <c:dPt>
            <c:idx val="1"/>
            <c:bubble3D val="0"/>
            <c:spPr>
              <a:solidFill>
                <a:srgbClr val="2563EB"/>
              </a:solidFill>
              <a:ln w="25400" cap="flat">
                <a:solidFill>
                  <a:srgbClr val="FFFFFF"/>
                </a:solidFill>
                <a:prstDash val="solid"/>
                <a:round/>
              </a:ln>
              <a:effectLst/>
            </c:spPr>
          </c:dPt>
          <c:dPt>
            <c:idx val="2"/>
            <c:bubble3D val="0"/>
            <c:spPr>
              <a:solidFill>
                <a:srgbClr val="60A5FA"/>
              </a:solidFill>
              <a:ln w="25400" cap="flat">
                <a:solidFill>
                  <a:srgbClr val="FFFFFF"/>
                </a:solidFill>
                <a:prstDash val="solid"/>
                <a:round/>
              </a:ln>
              <a:effectLst/>
            </c:spPr>
          </c:dPt>
          <c:dPt>
            <c:idx val="3"/>
            <c:bubble3D val="0"/>
            <c:spPr>
              <a:solidFill>
                <a:srgbClr val="8AB4F8"/>
              </a:solidFill>
              <a:ln w="25400" cap="flat">
                <a:solidFill>
                  <a:srgbClr val="FFFFFF"/>
                </a:solidFill>
                <a:prstDash val="solid"/>
                <a:round/>
              </a:ln>
              <a:effectLst/>
            </c:spPr>
          </c:dPt>
          <c:dPt>
            <c:idx val="4"/>
            <c:bubble3D val="0"/>
            <c:spPr>
              <a:solidFill>
                <a:srgbClr val="C9D9F8"/>
              </a:solidFill>
              <a:ln w="254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2"/>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3"/>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4"/>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開発費</c:v>
                </c:pt>
                <c:pt idx="1">
                  <c:v>サーバー・インフラ費</c:v>
                </c:pt>
                <c:pt idx="2">
                  <c:v>営業費</c:v>
                </c:pt>
                <c:pt idx="3">
                  <c:v>広告宣伝費</c:v>
                </c:pt>
                <c:pt idx="4">
                  <c:v>運転資金</c:v>
                </c:pt>
              </c:strCache>
            </c:strRef>
          </c:cat>
          <c:val>
            <c:numRef>
              <c:f>Sheet1!$B$2:$B$6</c:f>
              <c:numCache>
                <c:ptCount val="5"/>
                <c:pt idx="0">
                  <c:v>35</c:v>
                </c:pt>
                <c:pt idx="1">
                  <c:v>15</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563EB">
              <a:alpha val="12000"/>
            </a:srgbClr>
          </a:solidFill>
          <a:ln/>
        </p:spPr>
      </p:sp>
      <p:sp>
        <p:nvSpPr>
          <p:cNvPr id="3" name="Shape 1"/>
          <p:cNvSpPr/>
          <p:nvPr/>
        </p:nvSpPr>
        <p:spPr>
          <a:xfrm>
            <a:off x="-2743200" y="4389120"/>
            <a:ext cx="5029200" cy="5029200"/>
          </a:xfrm>
          <a:prstGeom prst="ellipse">
            <a:avLst/>
          </a:prstGeom>
          <a:solidFill>
            <a:srgbClr val="00D4FF">
              <a:alpha val="7000"/>
            </a:srgbClr>
          </a:solidFill>
          <a:ln/>
        </p:spPr>
      </p:sp>
      <p:sp>
        <p:nvSpPr>
          <p:cNvPr id="4" name="Text 2"/>
          <p:cNvSpPr/>
          <p:nvPr/>
        </p:nvSpPr>
        <p:spPr>
          <a:xfrm>
            <a:off x="0" y="777240"/>
            <a:ext cx="12191695" cy="36576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CONFIDENTIAL  ―  銀行提出用資料</a:t>
            </a:r>
            <a:endParaRPr lang="en-US" sz="1200" dirty="0"/>
          </a:p>
        </p:txBody>
      </p:sp>
      <p:pic>
        <p:nvPicPr>
          <p:cNvPr id="5" name="Image 0" descr="C:\Users\user\Desktop\SmartLabo\DESIGN_ASSETS\01_LOGO\White\smartlabo_logo_white_lockup.png">    </p:cNvPr>
          <p:cNvPicPr>
            <a:picLocks noChangeAspect="1"/>
          </p:cNvPicPr>
          <p:nvPr/>
        </p:nvPicPr>
        <p:blipFill>
          <a:blip r:embed="rId1"/>
          <a:stretch>
            <a:fillRect/>
          </a:stretch>
        </p:blipFill>
        <p:spPr>
          <a:xfrm>
            <a:off x="3992728" y="1417320"/>
            <a:ext cx="4206240" cy="1425844"/>
          </a:xfrm>
          <a:prstGeom prst="rect">
            <a:avLst/>
          </a:prstGeom>
        </p:spPr>
      </p:pic>
      <p:sp>
        <p:nvSpPr>
          <p:cNvPr id="6" name="Text 3"/>
          <p:cNvSpPr/>
          <p:nvPr/>
        </p:nvSpPr>
        <p:spPr>
          <a:xfrm>
            <a:off x="0" y="3063240"/>
            <a:ext cx="12191695" cy="10515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事業計画書</a:t>
            </a:r>
            <a:endParaRPr lang="en-US" sz="5400" dirty="0"/>
          </a:p>
        </p:txBody>
      </p:sp>
      <p:sp>
        <p:nvSpPr>
          <p:cNvPr id="7" name="Text 4"/>
          <p:cNvSpPr/>
          <p:nvPr/>
        </p:nvSpPr>
        <p:spPr>
          <a:xfrm>
            <a:off x="0" y="4160520"/>
            <a:ext cx="12191695" cy="502920"/>
          </a:xfrm>
          <a:prstGeom prst="rect">
            <a:avLst/>
          </a:prstGeom>
          <a:noFill/>
          <a:ln/>
        </p:spPr>
        <p:txBody>
          <a:bodyPr wrap="square" lIns="0" tIns="0" rIns="0" bIns="0" rtlCol="0" anchor="ctr"/>
          <a:lstStyle/>
          <a:p>
            <a:pPr algn="ctr" indent="0" marL="0">
              <a:buNone/>
            </a:pPr>
            <a:r>
              <a:rPr lang="en-US" sz="2200" dirty="0">
                <a:solidFill>
                  <a:srgbClr val="60A5FA"/>
                </a:solidFill>
                <a:latin typeface="Calibri" pitchFamily="34" charset="0"/>
                <a:ea typeface="Calibri" pitchFamily="34" charset="-122"/>
                <a:cs typeface="Calibri" pitchFamily="34" charset="-120"/>
              </a:rPr>
              <a:t>株式会社スマートラボ</a:t>
            </a:r>
            <a:endParaRPr lang="en-US" sz="22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CA3C7"/>
                </a:solidFill>
                <a:latin typeface="Calibri" pitchFamily="34" charset="0"/>
                <a:ea typeface="Calibri" pitchFamily="34" charset="-122"/>
                <a:cs typeface="Calibri" pitchFamily="34" charset="-120"/>
              </a:rPr>
              <a:t>Version 1.0　|　2026年7月　|　smartlaboworks.com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VISION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AIで、中小企業の可能性を最大化する。</a:t>
            </a:r>
            <a:endParaRPr lang="en-US" sz="2700" dirty="0"/>
          </a:p>
        </p:txBody>
      </p:sp>
      <p:sp>
        <p:nvSpPr>
          <p:cNvPr id="4" name="Text 2"/>
          <p:cNvSpPr/>
          <p:nvPr/>
        </p:nvSpPr>
        <p:spPr>
          <a:xfrm>
            <a:off x="502920" y="1691640"/>
            <a:ext cx="521208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私たちが見ている社会課題</a:t>
            </a:r>
            <a:endParaRPr lang="en-US" sz="1600" dirty="0"/>
          </a:p>
        </p:txBody>
      </p:sp>
      <p:sp>
        <p:nvSpPr>
          <p:cNvPr id="5" name="Shape 3"/>
          <p:cNvSpPr/>
          <p:nvPr/>
        </p:nvSpPr>
        <p:spPr>
          <a:xfrm>
            <a:off x="502920" y="2194560"/>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685800" y="2414016"/>
            <a:ext cx="512064" cy="512064"/>
          </a:xfrm>
          <a:prstGeom prst="ellipse">
            <a:avLst/>
          </a:prstGeom>
          <a:solidFill>
            <a:srgbClr val="0A1B3D"/>
          </a:solidFill>
          <a:ln/>
        </p:spPr>
      </p:sp>
      <p:pic>
        <p:nvPicPr>
          <p:cNvPr id="7" name="Image 0" descr="C:\Users\user\AppData\Local\Temp\claude\C--Users-user-Desktop-TOEIC---\46f2443e-6c5b-45fc-8f6e-79718ae21477\scratchpad\business-plan\icons\warning.png">    </p:cNvPr>
          <p:cNvPicPr>
            <a:picLocks noChangeAspect="1"/>
          </p:cNvPicPr>
          <p:nvPr/>
        </p:nvPicPr>
        <p:blipFill>
          <a:blip r:embed="rId1"/>
          <a:stretch>
            <a:fillRect/>
          </a:stretch>
        </p:blipFill>
        <p:spPr>
          <a:xfrm>
            <a:off x="813816" y="2542032"/>
            <a:ext cx="256032" cy="256032"/>
          </a:xfrm>
          <a:prstGeom prst="rect">
            <a:avLst/>
          </a:prstGeom>
        </p:spPr>
      </p:pic>
      <p:sp>
        <p:nvSpPr>
          <p:cNvPr id="8" name="Text 5"/>
          <p:cNvSpPr/>
          <p:nvPr/>
        </p:nvSpPr>
        <p:spPr>
          <a:xfrm>
            <a:off x="1371600" y="2267712"/>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人手不足と高齢化により、中小企業の社長は経営者であると同時に現場の実務者を兼務している</a:t>
            </a:r>
            <a:endParaRPr lang="en-US" sz="1150" dirty="0"/>
          </a:p>
        </p:txBody>
      </p:sp>
      <p:sp>
        <p:nvSpPr>
          <p:cNvPr id="9" name="Shape 6"/>
          <p:cNvSpPr/>
          <p:nvPr/>
        </p:nvSpPr>
        <p:spPr>
          <a:xfrm>
            <a:off x="502920" y="3310128"/>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685800" y="3529584"/>
            <a:ext cx="512064" cy="512064"/>
          </a:xfrm>
          <a:prstGeom prst="ellipse">
            <a:avLst/>
          </a:prstGeom>
          <a:solidFill>
            <a:srgbClr val="0A1B3D"/>
          </a:solidFill>
          <a:ln/>
        </p:spPr>
      </p:sp>
      <p:pic>
        <p:nvPicPr>
          <p:cNvPr id="11" name="Image 1" descr="C:\Users\user\AppData\Local\Temp\claude\C--Users-user-Desktop-TOEIC---\46f2443e-6c5b-45fc-8f6e-79718ae21477\scratchpad\business-plan\icons\warning.png">    </p:cNvPr>
          <p:cNvPicPr>
            <a:picLocks noChangeAspect="1"/>
          </p:cNvPicPr>
          <p:nvPr/>
        </p:nvPicPr>
        <p:blipFill>
          <a:blip r:embed="rId2"/>
          <a:stretch>
            <a:fillRect/>
          </a:stretch>
        </p:blipFill>
        <p:spPr>
          <a:xfrm>
            <a:off x="813816" y="3657600"/>
            <a:ext cx="256032" cy="256032"/>
          </a:xfrm>
          <a:prstGeom prst="rect">
            <a:avLst/>
          </a:prstGeom>
        </p:spPr>
      </p:pic>
      <p:sp>
        <p:nvSpPr>
          <p:cNvPr id="12" name="Text 8"/>
          <p:cNvSpPr/>
          <p:nvPr/>
        </p:nvSpPr>
        <p:spPr>
          <a:xfrm>
            <a:off x="1371600" y="3383280"/>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経理・契約書確認・見積作成・問い合わせ対応など、本来仕組み化できるはずの業務に日々の時間の多くを奪われている</a:t>
            </a:r>
            <a:endParaRPr lang="en-US" sz="1150" dirty="0"/>
          </a:p>
        </p:txBody>
      </p:sp>
      <p:sp>
        <p:nvSpPr>
          <p:cNvPr id="13" name="Shape 9"/>
          <p:cNvSpPr/>
          <p:nvPr/>
        </p:nvSpPr>
        <p:spPr>
          <a:xfrm>
            <a:off x="502920" y="4425696"/>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4" name="Shape 10"/>
          <p:cNvSpPr/>
          <p:nvPr/>
        </p:nvSpPr>
        <p:spPr>
          <a:xfrm>
            <a:off x="685800" y="4645152"/>
            <a:ext cx="512064" cy="512064"/>
          </a:xfrm>
          <a:prstGeom prst="ellipse">
            <a:avLst/>
          </a:prstGeom>
          <a:solidFill>
            <a:srgbClr val="0A1B3D"/>
          </a:solidFill>
          <a:ln/>
        </p:spPr>
      </p:sp>
      <p:pic>
        <p:nvPicPr>
          <p:cNvPr id="15" name="Image 2" descr="C:\Users\user\AppData\Local\Temp\claude\C--Users-user-Desktop-TOEIC---\46f2443e-6c5b-45fc-8f6e-79718ae21477\scratchpad\business-plan\icons\warning.png">    </p:cNvPr>
          <p:cNvPicPr>
            <a:picLocks noChangeAspect="1"/>
          </p:cNvPicPr>
          <p:nvPr/>
        </p:nvPicPr>
        <p:blipFill>
          <a:blip r:embed="rId3"/>
          <a:stretch>
            <a:fillRect/>
          </a:stretch>
        </p:blipFill>
        <p:spPr>
          <a:xfrm>
            <a:off x="813816" y="4773168"/>
            <a:ext cx="256032" cy="256032"/>
          </a:xfrm>
          <a:prstGeom prst="rect">
            <a:avLst/>
          </a:prstGeom>
        </p:spPr>
      </p:pic>
      <p:sp>
        <p:nvSpPr>
          <p:cNvPr id="16" name="Text 11"/>
          <p:cNvSpPr/>
          <p:nvPr/>
        </p:nvSpPr>
        <p:spPr>
          <a:xfrm>
            <a:off x="1371600" y="4498848"/>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その結果、最も重要であるはずの「事業を前に進める判断」に、十分な時間を割けていない</a:t>
            </a:r>
            <a:endParaRPr lang="en-US" sz="1150" dirty="0"/>
          </a:p>
        </p:txBody>
      </p:sp>
      <p:sp>
        <p:nvSpPr>
          <p:cNvPr id="17" name="Text 12"/>
          <p:cNvSpPr/>
          <p:nvPr/>
        </p:nvSpPr>
        <p:spPr>
          <a:xfrm>
            <a:off x="6309360" y="1691640"/>
            <a:ext cx="539496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私たちの理念</a:t>
            </a:r>
            <a:endParaRPr lang="en-US" sz="1600" dirty="0"/>
          </a:p>
        </p:txBody>
      </p:sp>
      <p:sp>
        <p:nvSpPr>
          <p:cNvPr id="18" name="Shape 13"/>
          <p:cNvSpPr/>
          <p:nvPr/>
        </p:nvSpPr>
        <p:spPr>
          <a:xfrm>
            <a:off x="6309360" y="2194560"/>
            <a:ext cx="5394960" cy="960120"/>
          </a:xfrm>
          <a:prstGeom prst="roundRect">
            <a:avLst>
              <a:gd name="adj" fmla="val 7619"/>
            </a:avLst>
          </a:prstGeom>
          <a:solidFill>
            <a:srgbClr val="0A1B3D"/>
          </a:solidFill>
          <a:ln/>
        </p:spPr>
      </p:sp>
      <p:sp>
        <p:nvSpPr>
          <p:cNvPr id="19" name="Shape 14"/>
          <p:cNvSpPr/>
          <p:nvPr/>
        </p:nvSpPr>
        <p:spPr>
          <a:xfrm>
            <a:off x="6492240" y="2414016"/>
            <a:ext cx="512064" cy="512064"/>
          </a:xfrm>
          <a:prstGeom prst="ellipse">
            <a:avLst/>
          </a:prstGeom>
          <a:solidFill>
            <a:srgbClr val="2563EB"/>
          </a:solidFill>
          <a:ln/>
        </p:spPr>
      </p:sp>
      <p:pic>
        <p:nvPicPr>
          <p:cNvPr id="20" name="Image 3" descr="C:\Users\user\AppData\Local\Temp\claude\C--Users-user-Desktop-TOEIC---\46f2443e-6c5b-45fc-8f6e-79718ae21477\scratchpad\business-plan\icons\bullseye.png">    </p:cNvPr>
          <p:cNvPicPr>
            <a:picLocks noChangeAspect="1"/>
          </p:cNvPicPr>
          <p:nvPr/>
        </p:nvPicPr>
        <p:blipFill>
          <a:blip r:embed="rId4"/>
          <a:stretch>
            <a:fillRect/>
          </a:stretch>
        </p:blipFill>
        <p:spPr>
          <a:xfrm>
            <a:off x="6620256" y="2542032"/>
            <a:ext cx="256032" cy="256032"/>
          </a:xfrm>
          <a:prstGeom prst="rect">
            <a:avLst/>
          </a:prstGeom>
        </p:spPr>
      </p:pic>
      <p:sp>
        <p:nvSpPr>
          <p:cNvPr id="21" name="Text 15"/>
          <p:cNvSpPr/>
          <p:nvPr/>
        </p:nvSpPr>
        <p:spPr>
          <a:xfrm>
            <a:off x="7178040" y="2286000"/>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Mission</a:t>
            </a:r>
            <a:endParaRPr lang="en-US" sz="1050" dirty="0"/>
          </a:p>
        </p:txBody>
      </p:sp>
      <p:sp>
        <p:nvSpPr>
          <p:cNvPr id="22" name="Text 16"/>
          <p:cNvSpPr/>
          <p:nvPr/>
        </p:nvSpPr>
        <p:spPr>
          <a:xfrm>
            <a:off x="7178040" y="2542032"/>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AIで、社長が本来の仕事に集中できる世界をつくる。</a:t>
            </a:r>
            <a:endParaRPr lang="en-US" sz="1150" dirty="0"/>
          </a:p>
        </p:txBody>
      </p:sp>
      <p:sp>
        <p:nvSpPr>
          <p:cNvPr id="23" name="Shape 17"/>
          <p:cNvSpPr/>
          <p:nvPr/>
        </p:nvSpPr>
        <p:spPr>
          <a:xfrm>
            <a:off x="6309360" y="3310128"/>
            <a:ext cx="5394960" cy="960120"/>
          </a:xfrm>
          <a:prstGeom prst="roundRect">
            <a:avLst>
              <a:gd name="adj" fmla="val 7619"/>
            </a:avLst>
          </a:prstGeom>
          <a:solidFill>
            <a:srgbClr val="0A1B3D"/>
          </a:solidFill>
          <a:ln/>
        </p:spPr>
      </p:sp>
      <p:sp>
        <p:nvSpPr>
          <p:cNvPr id="24" name="Shape 18"/>
          <p:cNvSpPr/>
          <p:nvPr/>
        </p:nvSpPr>
        <p:spPr>
          <a:xfrm>
            <a:off x="6492240" y="3529584"/>
            <a:ext cx="512064" cy="512064"/>
          </a:xfrm>
          <a:prstGeom prst="ellipse">
            <a:avLst/>
          </a:prstGeom>
          <a:solidFill>
            <a:srgbClr val="2563EB"/>
          </a:solidFill>
          <a:ln/>
        </p:spPr>
      </p:sp>
      <p:pic>
        <p:nvPicPr>
          <p:cNvPr id="25"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6620256" y="3657600"/>
            <a:ext cx="256032" cy="256032"/>
          </a:xfrm>
          <a:prstGeom prst="rect">
            <a:avLst/>
          </a:prstGeom>
        </p:spPr>
      </p:pic>
      <p:sp>
        <p:nvSpPr>
          <p:cNvPr id="26" name="Text 19"/>
          <p:cNvSpPr/>
          <p:nvPr/>
        </p:nvSpPr>
        <p:spPr>
          <a:xfrm>
            <a:off x="7178040" y="3401568"/>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Vision</a:t>
            </a:r>
            <a:endParaRPr lang="en-US" sz="1050" dirty="0"/>
          </a:p>
        </p:txBody>
      </p:sp>
      <p:sp>
        <p:nvSpPr>
          <p:cNvPr id="27" name="Text 20"/>
          <p:cNvSpPr/>
          <p:nvPr/>
        </p:nvSpPr>
        <p:spPr>
          <a:xfrm>
            <a:off x="7178040" y="3657600"/>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日本で最も信頼される、中小企業向けAI経営プラットフォームになる。</a:t>
            </a:r>
            <a:endParaRPr lang="en-US" sz="1150" dirty="0"/>
          </a:p>
        </p:txBody>
      </p:sp>
      <p:sp>
        <p:nvSpPr>
          <p:cNvPr id="28" name="Shape 21"/>
          <p:cNvSpPr/>
          <p:nvPr/>
        </p:nvSpPr>
        <p:spPr>
          <a:xfrm>
            <a:off x="6309360" y="4425696"/>
            <a:ext cx="5394960" cy="960120"/>
          </a:xfrm>
          <a:prstGeom prst="roundRect">
            <a:avLst>
              <a:gd name="adj" fmla="val 7619"/>
            </a:avLst>
          </a:prstGeom>
          <a:solidFill>
            <a:srgbClr val="0A1B3D"/>
          </a:solidFill>
          <a:ln/>
        </p:spPr>
      </p:sp>
      <p:sp>
        <p:nvSpPr>
          <p:cNvPr id="29" name="Shape 22"/>
          <p:cNvSpPr/>
          <p:nvPr/>
        </p:nvSpPr>
        <p:spPr>
          <a:xfrm>
            <a:off x="6492240" y="4645152"/>
            <a:ext cx="512064" cy="512064"/>
          </a:xfrm>
          <a:prstGeom prst="ellipse">
            <a:avLst/>
          </a:prstGeom>
          <a:solidFill>
            <a:srgbClr val="2563EB"/>
          </a:solidFill>
          <a:ln/>
        </p:spPr>
      </p:sp>
      <p:pic>
        <p:nvPicPr>
          <p:cNvPr id="30" name="Image 5" descr="C:\Users\user\AppData\Local\Temp\claude\C--Users-user-Desktop-TOEIC---\46f2443e-6c5b-45fc-8f6e-79718ae21477\scratchpad\business-plan\icons\shield.png">    </p:cNvPr>
          <p:cNvPicPr>
            <a:picLocks noChangeAspect="1"/>
          </p:cNvPicPr>
          <p:nvPr/>
        </p:nvPicPr>
        <p:blipFill>
          <a:blip r:embed="rId6"/>
          <a:stretch>
            <a:fillRect/>
          </a:stretch>
        </p:blipFill>
        <p:spPr>
          <a:xfrm>
            <a:off x="6620256" y="4773168"/>
            <a:ext cx="256032" cy="256032"/>
          </a:xfrm>
          <a:prstGeom prst="rect">
            <a:avLst/>
          </a:prstGeom>
        </p:spPr>
      </p:pic>
      <p:sp>
        <p:nvSpPr>
          <p:cNvPr id="31" name="Text 23"/>
          <p:cNvSpPr/>
          <p:nvPr/>
        </p:nvSpPr>
        <p:spPr>
          <a:xfrm>
            <a:off x="7178040" y="4517136"/>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Value</a:t>
            </a:r>
            <a:endParaRPr lang="en-US" sz="1050" dirty="0"/>
          </a:p>
        </p:txBody>
      </p:sp>
      <p:sp>
        <p:nvSpPr>
          <p:cNvPr id="32" name="Text 24"/>
          <p:cNvSpPr/>
          <p:nvPr/>
        </p:nvSpPr>
        <p:spPr>
          <a:xfrm>
            <a:off x="7178040" y="4773168"/>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シンプルさ・誠実さ・スピード・当事者意識・余白を大切にする ―― 5つの価値観を判断基準とする。</a:t>
            </a:r>
            <a:endParaRPr lang="en-US" sz="1150" dirty="0"/>
          </a:p>
        </p:txBody>
      </p:sp>
      <p:sp>
        <p:nvSpPr>
          <p:cNvPr id="33"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4"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会社概要</a:t>
            </a:r>
            <a:endParaRPr lang="en-US" sz="3000" dirty="0"/>
          </a:p>
        </p:txBody>
      </p:sp>
      <p:sp>
        <p:nvSpPr>
          <p:cNvPr id="4" name="Shape 2"/>
          <p:cNvSpPr/>
          <p:nvPr/>
        </p:nvSpPr>
        <p:spPr>
          <a:xfrm>
            <a:off x="502920" y="1783080"/>
            <a:ext cx="3749040" cy="3977640"/>
          </a:xfrm>
          <a:prstGeom prst="roundRect">
            <a:avLst>
              <a:gd name="adj" fmla="val 1951"/>
            </a:avLst>
          </a:prstGeom>
          <a:solidFill>
            <a:srgbClr val="F3F6FA"/>
          </a:solidFill>
          <a:ln/>
          <a:effectLst>
            <a:outerShdw sx="100000" sy="100000" kx="0" ky="0" algn="bl" rotWithShape="0" blurRad="76200" dist="25400" dir="5400000">
              <a:srgbClr val="0A1B3D">
                <a:alpha val="12000"/>
              </a:srgbClr>
            </a:outerShdw>
          </a:effectLst>
        </p:spPr>
      </p:sp>
      <p:pic>
        <p:nvPicPr>
          <p:cNvPr id="5" name="Image 0" descr="C:\Users\user\Desktop\SmartLabo\DESIGN_ASSETS\01_LOGO\Primary\smartlabo_logo_primary.png">    </p:cNvPr>
          <p:cNvPicPr>
            <a:picLocks noChangeAspect="1"/>
          </p:cNvPicPr>
          <p:nvPr/>
        </p:nvPicPr>
        <p:blipFill>
          <a:blip r:embed="rId1"/>
          <a:stretch>
            <a:fillRect/>
          </a:stretch>
        </p:blipFill>
        <p:spPr>
          <a:xfrm>
            <a:off x="1005840" y="2286000"/>
            <a:ext cx="2743200" cy="2027583"/>
          </a:xfrm>
          <a:prstGeom prst="rect">
            <a:avLst/>
          </a:prstGeom>
        </p:spPr>
      </p:pic>
      <p:sp>
        <p:nvSpPr>
          <p:cNvPr id="6" name="Text 3"/>
          <p:cNvSpPr/>
          <p:nvPr/>
        </p:nvSpPr>
        <p:spPr>
          <a:xfrm>
            <a:off x="777240" y="4663440"/>
            <a:ext cx="3200400" cy="822960"/>
          </a:xfrm>
          <a:prstGeom prst="rect">
            <a:avLst/>
          </a:prstGeom>
          <a:noFill/>
          <a:ln/>
        </p:spPr>
        <p:txBody>
          <a:bodyPr wrap="square" lIns="0" tIns="0" rIns="0" bIns="0" rtlCol="0" anchor="ctr"/>
          <a:lstStyle/>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Smart Labo Works</a:t>
            </a:r>
            <a:endParaRPr lang="en-US" sz="1150" dirty="0"/>
          </a:p>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「会社を動かすAI。」</a:t>
            </a:r>
            <a:endParaRPr lang="en-US" sz="1150" dirty="0"/>
          </a:p>
        </p:txBody>
      </p:sp>
      <p:sp>
        <p:nvSpPr>
          <p:cNvPr id="7" name="Shape 4"/>
          <p:cNvSpPr/>
          <p:nvPr/>
        </p:nvSpPr>
        <p:spPr>
          <a:xfrm>
            <a:off x="4572000" y="1783080"/>
            <a:ext cx="1737360" cy="498348"/>
          </a:xfrm>
          <a:prstGeom prst="rect">
            <a:avLst/>
          </a:prstGeom>
          <a:solidFill>
            <a:srgbClr val="F3F6FA"/>
          </a:solidFill>
          <a:ln w="19050">
            <a:solidFill>
              <a:srgbClr val="FFFFFF"/>
            </a:solidFill>
            <a:prstDash val="solid"/>
          </a:ln>
        </p:spPr>
      </p:sp>
      <p:sp>
        <p:nvSpPr>
          <p:cNvPr id="8" name="Text 5"/>
          <p:cNvSpPr/>
          <p:nvPr/>
        </p:nvSpPr>
        <p:spPr>
          <a:xfrm>
            <a:off x="4709160" y="178308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会社名</a:t>
            </a:r>
            <a:endParaRPr lang="en-US" sz="1150" dirty="0"/>
          </a:p>
        </p:txBody>
      </p:sp>
      <p:sp>
        <p:nvSpPr>
          <p:cNvPr id="9" name="Shape 6"/>
          <p:cNvSpPr/>
          <p:nvPr/>
        </p:nvSpPr>
        <p:spPr>
          <a:xfrm>
            <a:off x="6309360" y="1783080"/>
            <a:ext cx="5376672" cy="498348"/>
          </a:xfrm>
          <a:prstGeom prst="rect">
            <a:avLst/>
          </a:prstGeom>
          <a:solidFill>
            <a:srgbClr val="FFFFFF"/>
          </a:solidFill>
          <a:ln w="19050">
            <a:solidFill>
              <a:srgbClr val="F3F6FA"/>
            </a:solidFill>
            <a:prstDash val="solid"/>
          </a:ln>
        </p:spPr>
      </p:sp>
      <p:sp>
        <p:nvSpPr>
          <p:cNvPr id="10" name="Text 7"/>
          <p:cNvSpPr/>
          <p:nvPr/>
        </p:nvSpPr>
        <p:spPr>
          <a:xfrm>
            <a:off x="6473952" y="178308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株式会社スマートラボ</a:t>
            </a:r>
            <a:endParaRPr lang="en-US" sz="1150" dirty="0"/>
          </a:p>
        </p:txBody>
      </p:sp>
      <p:sp>
        <p:nvSpPr>
          <p:cNvPr id="11" name="Shape 8"/>
          <p:cNvSpPr/>
          <p:nvPr/>
        </p:nvSpPr>
        <p:spPr>
          <a:xfrm>
            <a:off x="4572000" y="2281428"/>
            <a:ext cx="1737360" cy="498348"/>
          </a:xfrm>
          <a:prstGeom prst="rect">
            <a:avLst/>
          </a:prstGeom>
          <a:solidFill>
            <a:srgbClr val="F3F6FA"/>
          </a:solidFill>
          <a:ln w="19050">
            <a:solidFill>
              <a:srgbClr val="FFFFFF"/>
            </a:solidFill>
            <a:prstDash val="solid"/>
          </a:ln>
        </p:spPr>
      </p:sp>
      <p:sp>
        <p:nvSpPr>
          <p:cNvPr id="12" name="Text 9"/>
          <p:cNvSpPr/>
          <p:nvPr/>
        </p:nvSpPr>
        <p:spPr>
          <a:xfrm>
            <a:off x="4709160" y="228142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代表者</a:t>
            </a:r>
            <a:endParaRPr lang="en-US" sz="1150" dirty="0"/>
          </a:p>
        </p:txBody>
      </p:sp>
      <p:sp>
        <p:nvSpPr>
          <p:cNvPr id="13" name="Shape 10"/>
          <p:cNvSpPr/>
          <p:nvPr/>
        </p:nvSpPr>
        <p:spPr>
          <a:xfrm>
            <a:off x="6309360" y="2281428"/>
            <a:ext cx="5376672" cy="498348"/>
          </a:xfrm>
          <a:prstGeom prst="rect">
            <a:avLst/>
          </a:prstGeom>
          <a:solidFill>
            <a:srgbClr val="FDEDEC"/>
          </a:solidFill>
          <a:ln w="19050">
            <a:solidFill>
              <a:srgbClr val="F3F6FA"/>
            </a:solidFill>
            <a:prstDash val="solid"/>
          </a:ln>
        </p:spPr>
      </p:sp>
      <p:sp>
        <p:nvSpPr>
          <p:cNvPr id="14" name="Text 11"/>
          <p:cNvSpPr/>
          <p:nvPr/>
        </p:nvSpPr>
        <p:spPr>
          <a:xfrm>
            <a:off x="6473952" y="2281428"/>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5" name="Shape 12"/>
          <p:cNvSpPr/>
          <p:nvPr/>
        </p:nvSpPr>
        <p:spPr>
          <a:xfrm>
            <a:off x="4572000" y="2779776"/>
            <a:ext cx="1737360" cy="498348"/>
          </a:xfrm>
          <a:prstGeom prst="rect">
            <a:avLst/>
          </a:prstGeom>
          <a:solidFill>
            <a:srgbClr val="F3F6FA"/>
          </a:solidFill>
          <a:ln w="19050">
            <a:solidFill>
              <a:srgbClr val="FFFFFF"/>
            </a:solidFill>
            <a:prstDash val="solid"/>
          </a:ln>
        </p:spPr>
      </p:sp>
      <p:sp>
        <p:nvSpPr>
          <p:cNvPr id="16" name="Text 13"/>
          <p:cNvSpPr/>
          <p:nvPr/>
        </p:nvSpPr>
        <p:spPr>
          <a:xfrm>
            <a:off x="4709160" y="2779776"/>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設立</a:t>
            </a:r>
            <a:endParaRPr lang="en-US" sz="1150" dirty="0"/>
          </a:p>
        </p:txBody>
      </p:sp>
      <p:sp>
        <p:nvSpPr>
          <p:cNvPr id="17" name="Shape 14"/>
          <p:cNvSpPr/>
          <p:nvPr/>
        </p:nvSpPr>
        <p:spPr>
          <a:xfrm>
            <a:off x="6309360" y="2779776"/>
            <a:ext cx="5376672" cy="498348"/>
          </a:xfrm>
          <a:prstGeom prst="rect">
            <a:avLst/>
          </a:prstGeom>
          <a:solidFill>
            <a:srgbClr val="FDEDEC"/>
          </a:solidFill>
          <a:ln w="19050">
            <a:solidFill>
              <a:srgbClr val="F3F6FA"/>
            </a:solidFill>
            <a:prstDash val="solid"/>
          </a:ln>
        </p:spPr>
      </p:sp>
      <p:sp>
        <p:nvSpPr>
          <p:cNvPr id="18" name="Text 15"/>
          <p:cNvSpPr/>
          <p:nvPr/>
        </p:nvSpPr>
        <p:spPr>
          <a:xfrm>
            <a:off x="6473952" y="2779776"/>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9" name="Shape 16"/>
          <p:cNvSpPr/>
          <p:nvPr/>
        </p:nvSpPr>
        <p:spPr>
          <a:xfrm>
            <a:off x="4572000" y="3278124"/>
            <a:ext cx="1737360" cy="498348"/>
          </a:xfrm>
          <a:prstGeom prst="rect">
            <a:avLst/>
          </a:prstGeom>
          <a:solidFill>
            <a:srgbClr val="F3F6FA"/>
          </a:solidFill>
          <a:ln w="19050">
            <a:solidFill>
              <a:srgbClr val="FFFFFF"/>
            </a:solidFill>
            <a:prstDash val="solid"/>
          </a:ln>
        </p:spPr>
      </p:sp>
      <p:sp>
        <p:nvSpPr>
          <p:cNvPr id="20" name="Text 17"/>
          <p:cNvSpPr/>
          <p:nvPr/>
        </p:nvSpPr>
        <p:spPr>
          <a:xfrm>
            <a:off x="4709160" y="3278124"/>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所在地</a:t>
            </a:r>
            <a:endParaRPr lang="en-US" sz="1150" dirty="0"/>
          </a:p>
        </p:txBody>
      </p:sp>
      <p:sp>
        <p:nvSpPr>
          <p:cNvPr id="21" name="Shape 18"/>
          <p:cNvSpPr/>
          <p:nvPr/>
        </p:nvSpPr>
        <p:spPr>
          <a:xfrm>
            <a:off x="6309360" y="3278124"/>
            <a:ext cx="5376672" cy="498348"/>
          </a:xfrm>
          <a:prstGeom prst="rect">
            <a:avLst/>
          </a:prstGeom>
          <a:solidFill>
            <a:srgbClr val="FDEDEC"/>
          </a:solidFill>
          <a:ln w="19050">
            <a:solidFill>
              <a:srgbClr val="F3F6FA"/>
            </a:solidFill>
            <a:prstDash val="solid"/>
          </a:ln>
        </p:spPr>
      </p:sp>
      <p:sp>
        <p:nvSpPr>
          <p:cNvPr id="22" name="Text 19"/>
          <p:cNvSpPr/>
          <p:nvPr/>
        </p:nvSpPr>
        <p:spPr>
          <a:xfrm>
            <a:off x="6473952" y="3278124"/>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3" name="Shape 20"/>
          <p:cNvSpPr/>
          <p:nvPr/>
        </p:nvSpPr>
        <p:spPr>
          <a:xfrm>
            <a:off x="4572000" y="3776472"/>
            <a:ext cx="1737360" cy="498348"/>
          </a:xfrm>
          <a:prstGeom prst="rect">
            <a:avLst/>
          </a:prstGeom>
          <a:solidFill>
            <a:srgbClr val="F3F6FA"/>
          </a:solidFill>
          <a:ln w="19050">
            <a:solidFill>
              <a:srgbClr val="FFFFFF"/>
            </a:solidFill>
            <a:prstDash val="solid"/>
          </a:ln>
        </p:spPr>
      </p:sp>
      <p:sp>
        <p:nvSpPr>
          <p:cNvPr id="24" name="Text 21"/>
          <p:cNvSpPr/>
          <p:nvPr/>
        </p:nvSpPr>
        <p:spPr>
          <a:xfrm>
            <a:off x="4709160" y="3776472"/>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資本金</a:t>
            </a:r>
            <a:endParaRPr lang="en-US" sz="1150" dirty="0"/>
          </a:p>
        </p:txBody>
      </p:sp>
      <p:sp>
        <p:nvSpPr>
          <p:cNvPr id="25" name="Shape 22"/>
          <p:cNvSpPr/>
          <p:nvPr/>
        </p:nvSpPr>
        <p:spPr>
          <a:xfrm>
            <a:off x="6309360" y="3776472"/>
            <a:ext cx="5376672" cy="498348"/>
          </a:xfrm>
          <a:prstGeom prst="rect">
            <a:avLst/>
          </a:prstGeom>
          <a:solidFill>
            <a:srgbClr val="FDEDEC"/>
          </a:solidFill>
          <a:ln w="19050">
            <a:solidFill>
              <a:srgbClr val="F3F6FA"/>
            </a:solidFill>
            <a:prstDash val="solid"/>
          </a:ln>
        </p:spPr>
      </p:sp>
      <p:sp>
        <p:nvSpPr>
          <p:cNvPr id="26" name="Text 23"/>
          <p:cNvSpPr/>
          <p:nvPr/>
        </p:nvSpPr>
        <p:spPr>
          <a:xfrm>
            <a:off x="6473952" y="3776472"/>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7" name="Shape 24"/>
          <p:cNvSpPr/>
          <p:nvPr/>
        </p:nvSpPr>
        <p:spPr>
          <a:xfrm>
            <a:off x="4572000" y="4274820"/>
            <a:ext cx="1737360" cy="498348"/>
          </a:xfrm>
          <a:prstGeom prst="rect">
            <a:avLst/>
          </a:prstGeom>
          <a:solidFill>
            <a:srgbClr val="F3F6FA"/>
          </a:solidFill>
          <a:ln w="19050">
            <a:solidFill>
              <a:srgbClr val="FFFFFF"/>
            </a:solidFill>
            <a:prstDash val="solid"/>
          </a:ln>
        </p:spPr>
      </p:sp>
      <p:sp>
        <p:nvSpPr>
          <p:cNvPr id="28" name="Text 25"/>
          <p:cNvSpPr/>
          <p:nvPr/>
        </p:nvSpPr>
        <p:spPr>
          <a:xfrm>
            <a:off x="4709160" y="427482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事業内容</a:t>
            </a:r>
            <a:endParaRPr lang="en-US" sz="1150" dirty="0"/>
          </a:p>
        </p:txBody>
      </p:sp>
      <p:sp>
        <p:nvSpPr>
          <p:cNvPr id="29" name="Shape 26"/>
          <p:cNvSpPr/>
          <p:nvPr/>
        </p:nvSpPr>
        <p:spPr>
          <a:xfrm>
            <a:off x="6309360" y="4274820"/>
            <a:ext cx="5376672" cy="498348"/>
          </a:xfrm>
          <a:prstGeom prst="rect">
            <a:avLst/>
          </a:prstGeom>
          <a:solidFill>
            <a:srgbClr val="FFFFFF"/>
          </a:solidFill>
          <a:ln w="19050">
            <a:solidFill>
              <a:srgbClr val="F3F6FA"/>
            </a:solidFill>
            <a:prstDash val="solid"/>
          </a:ln>
        </p:spPr>
      </p:sp>
      <p:sp>
        <p:nvSpPr>
          <p:cNvPr id="30" name="Text 27"/>
          <p:cNvSpPr/>
          <p:nvPr/>
        </p:nvSpPr>
        <p:spPr>
          <a:xfrm>
            <a:off x="6473952" y="427482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AI業務支援プラットフォーム「Smart Labo Works」の企画・開発・提供</a:t>
            </a:r>
            <a:endParaRPr lang="en-US" sz="1150" dirty="0"/>
          </a:p>
        </p:txBody>
      </p:sp>
      <p:sp>
        <p:nvSpPr>
          <p:cNvPr id="31" name="Shape 28"/>
          <p:cNvSpPr/>
          <p:nvPr/>
        </p:nvSpPr>
        <p:spPr>
          <a:xfrm>
            <a:off x="4572000" y="4773168"/>
            <a:ext cx="1737360" cy="498348"/>
          </a:xfrm>
          <a:prstGeom prst="rect">
            <a:avLst/>
          </a:prstGeom>
          <a:solidFill>
            <a:srgbClr val="F3F6FA"/>
          </a:solidFill>
          <a:ln w="19050">
            <a:solidFill>
              <a:srgbClr val="FFFFFF"/>
            </a:solidFill>
            <a:prstDash val="solid"/>
          </a:ln>
        </p:spPr>
      </p:sp>
      <p:sp>
        <p:nvSpPr>
          <p:cNvPr id="32" name="Text 29"/>
          <p:cNvSpPr/>
          <p:nvPr/>
        </p:nvSpPr>
        <p:spPr>
          <a:xfrm>
            <a:off x="4709160" y="477316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ホームページ</a:t>
            </a:r>
            <a:endParaRPr lang="en-US" sz="1150" dirty="0"/>
          </a:p>
        </p:txBody>
      </p:sp>
      <p:sp>
        <p:nvSpPr>
          <p:cNvPr id="33" name="Shape 30"/>
          <p:cNvSpPr/>
          <p:nvPr/>
        </p:nvSpPr>
        <p:spPr>
          <a:xfrm>
            <a:off x="6309360" y="4773168"/>
            <a:ext cx="5376672" cy="498348"/>
          </a:xfrm>
          <a:prstGeom prst="rect">
            <a:avLst/>
          </a:prstGeom>
          <a:solidFill>
            <a:srgbClr val="FFFFFF"/>
          </a:solidFill>
          <a:ln w="19050">
            <a:solidFill>
              <a:srgbClr val="F3F6FA"/>
            </a:solidFill>
            <a:prstDash val="solid"/>
          </a:ln>
        </p:spPr>
      </p:sp>
      <p:sp>
        <p:nvSpPr>
          <p:cNvPr id="34" name="Text 31"/>
          <p:cNvSpPr/>
          <p:nvPr/>
        </p:nvSpPr>
        <p:spPr>
          <a:xfrm>
            <a:off x="6473952" y="4773168"/>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https://smartlaboworks.com/</a:t>
            </a:r>
            <a:endParaRPr lang="en-US" sz="1150" dirty="0"/>
          </a:p>
        </p:txBody>
      </p:sp>
      <p:sp>
        <p:nvSpPr>
          <p:cNvPr id="35" name="Text 32"/>
          <p:cNvSpPr/>
          <p:nvPr/>
        </p:nvSpPr>
        <p:spPr>
          <a:xfrm>
            <a:off x="4572000" y="5381244"/>
            <a:ext cx="7114032" cy="320040"/>
          </a:xfrm>
          <a:prstGeom prst="rect">
            <a:avLst/>
          </a:prstGeom>
          <a:noFill/>
          <a:ln/>
        </p:spPr>
        <p:txBody>
          <a:bodyPr wrap="square" lIns="0" tIns="0" rIns="0" bIns="0" rtlCol="0" anchor="ctr"/>
          <a:lstStyle/>
          <a:p>
            <a:pPr indent="0" marL="0">
              <a:buNone/>
            </a:pPr>
            <a:r>
              <a:rPr lang="en-US" sz="1000" i="1" dirty="0">
                <a:solidFill>
                  <a:srgbClr val="B91C1C"/>
                </a:solidFill>
                <a:latin typeface="Calibri" pitchFamily="34" charset="0"/>
                <a:ea typeface="Calibri" pitchFamily="34" charset="-122"/>
                <a:cs typeface="Calibri" pitchFamily="34" charset="-120"/>
              </a:rPr>
              <a:t>※ 網掛けの項目は、登記情報等の確定後に代表者様のご確認・ご記入をお願いいたします。</a:t>
            </a:r>
            <a:endParaRPr lang="en-US" sz="1000" dirty="0"/>
          </a:p>
        </p:txBody>
      </p:sp>
      <p:sp>
        <p:nvSpPr>
          <p:cNvPr id="36" name="Text 3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7" name="Text 3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MARKET CHALLENGE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中小企業が抱える構造的な課題</a:t>
            </a:r>
            <a:endParaRPr lang="en-US" sz="2700" dirty="0"/>
          </a:p>
        </p:txBody>
      </p:sp>
      <p:sp>
        <p:nvSpPr>
          <p:cNvPr id="4" name="Shape 2"/>
          <p:cNvSpPr/>
          <p:nvPr/>
        </p:nvSpPr>
        <p:spPr>
          <a:xfrm>
            <a:off x="502920" y="1783080"/>
            <a:ext cx="2670048" cy="2331720"/>
          </a:xfrm>
          <a:prstGeom prst="roundRect">
            <a:avLst>
              <a:gd name="adj" fmla="val 3137"/>
            </a:avLst>
          </a:prstGeom>
          <a:solidFill>
            <a:srgbClr val="0A1B3D"/>
          </a:solidFill>
          <a:ln/>
        </p:spPr>
      </p:sp>
      <p:sp>
        <p:nvSpPr>
          <p:cNvPr id="5" name="Shape 3"/>
          <p:cNvSpPr/>
          <p:nvPr/>
        </p:nvSpPr>
        <p:spPr>
          <a:xfrm>
            <a:off x="1449324" y="20574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1624203" y="2232279"/>
            <a:ext cx="427482" cy="427482"/>
          </a:xfrm>
          <a:prstGeom prst="rect">
            <a:avLst/>
          </a:prstGeom>
        </p:spPr>
      </p:pic>
      <p:sp>
        <p:nvSpPr>
          <p:cNvPr id="7" name="Text 4"/>
          <p:cNvSpPr/>
          <p:nvPr/>
        </p:nvSpPr>
        <p:spPr>
          <a:xfrm>
            <a:off x="640080"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人手不足</a:t>
            </a:r>
            <a:endParaRPr lang="en-US" sz="1400" dirty="0"/>
          </a:p>
        </p:txBody>
      </p:sp>
      <p:sp>
        <p:nvSpPr>
          <p:cNvPr id="8" name="Text 5"/>
          <p:cNvSpPr/>
          <p:nvPr/>
        </p:nvSpPr>
        <p:spPr>
          <a:xfrm>
            <a:off x="685800"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採用難と高齢化により、少人数で従来以上の業務をこなす必要に迫られている</a:t>
            </a:r>
            <a:endParaRPr lang="en-US" sz="1050" dirty="0"/>
          </a:p>
        </p:txBody>
      </p:sp>
      <p:sp>
        <p:nvSpPr>
          <p:cNvPr id="9" name="Shape 6"/>
          <p:cNvSpPr/>
          <p:nvPr/>
        </p:nvSpPr>
        <p:spPr>
          <a:xfrm>
            <a:off x="3374136" y="1783080"/>
            <a:ext cx="2670048" cy="2331720"/>
          </a:xfrm>
          <a:prstGeom prst="roundRect">
            <a:avLst>
              <a:gd name="adj" fmla="val 3137"/>
            </a:avLst>
          </a:prstGeom>
          <a:solidFill>
            <a:srgbClr val="0A1B3D"/>
          </a:solidFill>
          <a:ln/>
        </p:spPr>
      </p:sp>
      <p:sp>
        <p:nvSpPr>
          <p:cNvPr id="10" name="Shape 7"/>
          <p:cNvSpPr/>
          <p:nvPr/>
        </p:nvSpPr>
        <p:spPr>
          <a:xfrm>
            <a:off x="4320540" y="2057400"/>
            <a:ext cx="777240" cy="777240"/>
          </a:xfrm>
          <a:prstGeom prst="ellipse">
            <a:avLst/>
          </a:prstGeom>
          <a:solidFill>
            <a:srgbClr val="2563EB"/>
          </a:solidFill>
          <a:ln/>
        </p:spPr>
      </p:sp>
      <p:pic>
        <p:nvPicPr>
          <p:cNvPr id="11" name="Image 1" descr="C:\Users\user\AppData\Local\Temp\claude\C--Users-user-Desktop-TOEIC---\46f2443e-6c5b-45fc-8f6e-79718ae21477\scratchpad\business-plan\icons\network.png">    </p:cNvPr>
          <p:cNvPicPr>
            <a:picLocks noChangeAspect="1"/>
          </p:cNvPicPr>
          <p:nvPr/>
        </p:nvPicPr>
        <p:blipFill>
          <a:blip r:embed="rId2"/>
          <a:stretch>
            <a:fillRect/>
          </a:stretch>
        </p:blipFill>
        <p:spPr>
          <a:xfrm>
            <a:off x="4495419" y="2232279"/>
            <a:ext cx="427482" cy="427482"/>
          </a:xfrm>
          <a:prstGeom prst="rect">
            <a:avLst/>
          </a:prstGeom>
        </p:spPr>
      </p:pic>
      <p:sp>
        <p:nvSpPr>
          <p:cNvPr id="12" name="Text 8"/>
          <p:cNvSpPr/>
          <p:nvPr/>
        </p:nvSpPr>
        <p:spPr>
          <a:xfrm>
            <a:off x="3511296"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DX推進の遅れ</a:t>
            </a:r>
            <a:endParaRPr lang="en-US" sz="1400" dirty="0"/>
          </a:p>
        </p:txBody>
      </p:sp>
      <p:sp>
        <p:nvSpPr>
          <p:cNvPr id="13" name="Text 9"/>
          <p:cNvSpPr/>
          <p:nvPr/>
        </p:nvSpPr>
        <p:spPr>
          <a:xfrm>
            <a:off x="3557016"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ITツールを導入しても定着せず、紙・Excel・個人管理が根強く残っている</a:t>
            </a:r>
            <a:endParaRPr lang="en-US" sz="1050" dirty="0"/>
          </a:p>
        </p:txBody>
      </p:sp>
      <p:sp>
        <p:nvSpPr>
          <p:cNvPr id="14" name="Shape 10"/>
          <p:cNvSpPr/>
          <p:nvPr/>
        </p:nvSpPr>
        <p:spPr>
          <a:xfrm>
            <a:off x="6245352" y="1783080"/>
            <a:ext cx="2670048" cy="2331720"/>
          </a:xfrm>
          <a:prstGeom prst="roundRect">
            <a:avLst>
              <a:gd name="adj" fmla="val 3137"/>
            </a:avLst>
          </a:prstGeom>
          <a:solidFill>
            <a:srgbClr val="0A1B3D"/>
          </a:solidFill>
          <a:ln/>
        </p:spPr>
      </p:sp>
      <p:sp>
        <p:nvSpPr>
          <p:cNvPr id="15" name="Shape 11"/>
          <p:cNvSpPr/>
          <p:nvPr/>
        </p:nvSpPr>
        <p:spPr>
          <a:xfrm>
            <a:off x="7191756" y="2057400"/>
            <a:ext cx="777240" cy="777240"/>
          </a:xfrm>
          <a:prstGeom prst="ellipse">
            <a:avLst/>
          </a:prstGeom>
          <a:solidFill>
            <a:srgbClr val="2563EB"/>
          </a:solidFill>
          <a:ln/>
        </p:spPr>
      </p:sp>
      <p:pic>
        <p:nvPicPr>
          <p:cNvPr id="16" name="Image 2" descr="C:\Users\user\AppData\Local\Temp\claude\C--Users-user-Desktop-TOEIC---\46f2443e-6c5b-45fc-8f6e-79718ae21477\scratchpad\business-plan\icons\scatter.png">    </p:cNvPr>
          <p:cNvPicPr>
            <a:picLocks noChangeAspect="1"/>
          </p:cNvPicPr>
          <p:nvPr/>
        </p:nvPicPr>
        <p:blipFill>
          <a:blip r:embed="rId3"/>
          <a:stretch>
            <a:fillRect/>
          </a:stretch>
        </p:blipFill>
        <p:spPr>
          <a:xfrm>
            <a:off x="7366635" y="2232279"/>
            <a:ext cx="427482" cy="427482"/>
          </a:xfrm>
          <a:prstGeom prst="rect">
            <a:avLst/>
          </a:prstGeom>
        </p:spPr>
      </p:pic>
      <p:sp>
        <p:nvSpPr>
          <p:cNvPr id="17" name="Text 12"/>
          <p:cNvSpPr/>
          <p:nvPr/>
        </p:nvSpPr>
        <p:spPr>
          <a:xfrm>
            <a:off x="6382512"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業務の属人化</a:t>
            </a:r>
            <a:endParaRPr lang="en-US" sz="1400" dirty="0"/>
          </a:p>
        </p:txBody>
      </p:sp>
      <p:sp>
        <p:nvSpPr>
          <p:cNvPr id="18" name="Text 13"/>
          <p:cNvSpPr/>
          <p:nvPr/>
        </p:nvSpPr>
        <p:spPr>
          <a:xfrm>
            <a:off x="6428232"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ベテラン頼みの対応品質にばらつきが生じ、新人育成にも時間がかかる</a:t>
            </a:r>
            <a:endParaRPr lang="en-US" sz="1050" dirty="0"/>
          </a:p>
        </p:txBody>
      </p:sp>
      <p:sp>
        <p:nvSpPr>
          <p:cNvPr id="19" name="Shape 14"/>
          <p:cNvSpPr/>
          <p:nvPr/>
        </p:nvSpPr>
        <p:spPr>
          <a:xfrm>
            <a:off x="9116568" y="1783080"/>
            <a:ext cx="2670048" cy="2331720"/>
          </a:xfrm>
          <a:prstGeom prst="roundRect">
            <a:avLst>
              <a:gd name="adj" fmla="val 3137"/>
            </a:avLst>
          </a:prstGeom>
          <a:solidFill>
            <a:srgbClr val="0A1B3D"/>
          </a:solidFill>
          <a:ln/>
        </p:spPr>
      </p:sp>
      <p:sp>
        <p:nvSpPr>
          <p:cNvPr id="20" name="Shape 15"/>
          <p:cNvSpPr/>
          <p:nvPr/>
        </p:nvSpPr>
        <p:spPr>
          <a:xfrm>
            <a:off x="10062972" y="2057400"/>
            <a:ext cx="777240" cy="777240"/>
          </a:xfrm>
          <a:prstGeom prst="ellipse">
            <a:avLst/>
          </a:prstGeom>
          <a:solidFill>
            <a:srgbClr val="2563EB"/>
          </a:solidFill>
          <a:ln/>
        </p:spPr>
      </p:sp>
      <p:pic>
        <p:nvPicPr>
          <p:cNvPr id="21"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10237851" y="2232279"/>
            <a:ext cx="427482" cy="427482"/>
          </a:xfrm>
          <a:prstGeom prst="rect">
            <a:avLst/>
          </a:prstGeom>
        </p:spPr>
      </p:pic>
      <p:sp>
        <p:nvSpPr>
          <p:cNvPr id="22" name="Text 16"/>
          <p:cNvSpPr/>
          <p:nvPr/>
        </p:nvSpPr>
        <p:spPr>
          <a:xfrm>
            <a:off x="9253728"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情報の分散</a:t>
            </a:r>
            <a:endParaRPr lang="en-US" sz="1400" dirty="0"/>
          </a:p>
        </p:txBody>
      </p:sp>
      <p:sp>
        <p:nvSpPr>
          <p:cNvPr id="23" name="Text 17"/>
          <p:cNvSpPr/>
          <p:nvPr/>
        </p:nvSpPr>
        <p:spPr>
          <a:xfrm>
            <a:off x="9299448"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顧客情報やノウハウが個人のメモに散在し、組織としての資産にならない</a:t>
            </a:r>
            <a:endParaRPr lang="en-US" sz="1050" dirty="0"/>
          </a:p>
        </p:txBody>
      </p:sp>
      <p:sp>
        <p:nvSpPr>
          <p:cNvPr id="24" name="Text 18"/>
          <p:cNvSpPr/>
          <p:nvPr/>
        </p:nvSpPr>
        <p:spPr>
          <a:xfrm>
            <a:off x="0" y="4187952"/>
            <a:ext cx="12191695" cy="36576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25" name="Shape 19"/>
          <p:cNvSpPr/>
          <p:nvPr/>
        </p:nvSpPr>
        <p:spPr>
          <a:xfrm>
            <a:off x="3124048" y="4572000"/>
            <a:ext cx="5943600" cy="566928"/>
          </a:xfrm>
          <a:prstGeom prst="roundRect">
            <a:avLst>
              <a:gd name="adj" fmla="val 16129"/>
            </a:avLst>
          </a:prstGeom>
          <a:solidFill>
            <a:srgbClr val="2563EB"/>
          </a:solidFill>
          <a:ln/>
        </p:spPr>
      </p:sp>
      <p:sp>
        <p:nvSpPr>
          <p:cNvPr id="26" name="Text 20"/>
          <p:cNvSpPr/>
          <p:nvPr/>
        </p:nvSpPr>
        <p:spPr>
          <a:xfrm>
            <a:off x="3124048" y="4572000"/>
            <a:ext cx="59436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Smart Labo Works が解決します</a:t>
            </a:r>
            <a:endParaRPr lang="en-US" sz="1500" dirty="0"/>
          </a:p>
        </p:txBody>
      </p:sp>
      <p:sp>
        <p:nvSpPr>
          <p:cNvPr id="27" name="Text 2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SERVICE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Smart Labo Works ― 会社を動かすAI経営プラットフォーム</a:t>
            </a:r>
            <a:endParaRPr lang="en-US" sz="2300" dirty="0"/>
          </a:p>
        </p:txBody>
      </p:sp>
      <p:sp>
        <p:nvSpPr>
          <p:cNvPr id="4" name="Text 2"/>
          <p:cNvSpPr/>
          <p:nvPr/>
        </p:nvSpPr>
        <p:spPr>
          <a:xfrm>
            <a:off x="502920" y="1417320"/>
            <a:ext cx="1097280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業務ごとに特化したAIモジュールを組み合わせ、中小企業の日常業務を支援します。</a:t>
            </a:r>
            <a:endParaRPr lang="en-US" sz="1250" dirty="0"/>
          </a:p>
        </p:txBody>
      </p:sp>
      <p:sp>
        <p:nvSpPr>
          <p:cNvPr id="5" name="Shape 3"/>
          <p:cNvSpPr/>
          <p:nvPr/>
        </p:nvSpPr>
        <p:spPr>
          <a:xfrm>
            <a:off x="502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1207008" y="2240280"/>
            <a:ext cx="731520" cy="731520"/>
          </a:xfrm>
          <a:prstGeom prst="ellipse">
            <a:avLst/>
          </a:prstGeom>
          <a:solidFill>
            <a:srgbClr val="FFFFFF"/>
          </a:solidFill>
          <a:ln/>
        </p:spPr>
      </p:sp>
      <p:pic>
        <p:nvPicPr>
          <p:cNvPr id="7"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1371600" y="2404872"/>
            <a:ext cx="402336" cy="402336"/>
          </a:xfrm>
          <a:prstGeom prst="rect">
            <a:avLst/>
          </a:prstGeom>
        </p:spPr>
      </p:pic>
      <p:sp>
        <p:nvSpPr>
          <p:cNvPr id="8" name="Text 5"/>
          <p:cNvSpPr/>
          <p:nvPr/>
        </p:nvSpPr>
        <p:spPr>
          <a:xfrm>
            <a:off x="612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Company Brain</a:t>
            </a:r>
            <a:endParaRPr lang="en-US" sz="1250" dirty="0"/>
          </a:p>
        </p:txBody>
      </p:sp>
      <p:sp>
        <p:nvSpPr>
          <p:cNvPr id="9" name="Text 6"/>
          <p:cNvSpPr/>
          <p:nvPr/>
        </p:nvSpPr>
        <p:spPr>
          <a:xfrm>
            <a:off x="649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社内ナレッジに基づき即座に回答するAI基盤。最大の差別化要素</a:t>
            </a:r>
            <a:endParaRPr lang="en-US" sz="1000" dirty="0"/>
          </a:p>
        </p:txBody>
      </p:sp>
      <p:sp>
        <p:nvSpPr>
          <p:cNvPr id="10" name="Shape 7"/>
          <p:cNvSpPr/>
          <p:nvPr/>
        </p:nvSpPr>
        <p:spPr>
          <a:xfrm>
            <a:off x="2788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3493008" y="2240280"/>
            <a:ext cx="731520" cy="731520"/>
          </a:xfrm>
          <a:prstGeom prst="ellipse">
            <a:avLst/>
          </a:prstGeom>
          <a:solidFill>
            <a:srgbClr val="FFFFFF"/>
          </a:solidFill>
          <a:ln/>
        </p:spPr>
      </p:sp>
      <p:pic>
        <p:nvPicPr>
          <p:cNvPr id="12" name="Image 1" descr="C:\Users\user\AppData\Local\Temp\claude\C--Users-user-Desktop-TOEIC---\46f2443e-6c5b-45fc-8f6e-79718ae21477\scratchpad\business-plan\icons\comments.png">    </p:cNvPr>
          <p:cNvPicPr>
            <a:picLocks noChangeAspect="1"/>
          </p:cNvPicPr>
          <p:nvPr/>
        </p:nvPicPr>
        <p:blipFill>
          <a:blip r:embed="rId2"/>
          <a:stretch>
            <a:fillRect/>
          </a:stretch>
        </p:blipFill>
        <p:spPr>
          <a:xfrm>
            <a:off x="3657600" y="2404872"/>
            <a:ext cx="402336" cy="402336"/>
          </a:xfrm>
          <a:prstGeom prst="rect">
            <a:avLst/>
          </a:prstGeom>
        </p:spPr>
      </p:pic>
      <p:sp>
        <p:nvSpPr>
          <p:cNvPr id="13" name="Text 9"/>
          <p:cNvSpPr/>
          <p:nvPr/>
        </p:nvSpPr>
        <p:spPr>
          <a:xfrm>
            <a:off x="2898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AI Assistant</a:t>
            </a:r>
            <a:endParaRPr lang="en-US" sz="1250" dirty="0"/>
          </a:p>
        </p:txBody>
      </p:sp>
      <p:sp>
        <p:nvSpPr>
          <p:cNvPr id="14" name="Text 10"/>
          <p:cNvSpPr/>
          <p:nvPr/>
        </p:nvSpPr>
        <p:spPr>
          <a:xfrm>
            <a:off x="2935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営業メール・提案書・問い合わせ返信などの文書作成を支援</a:t>
            </a:r>
            <a:endParaRPr lang="en-US" sz="1000" dirty="0"/>
          </a:p>
        </p:txBody>
      </p:sp>
      <p:sp>
        <p:nvSpPr>
          <p:cNvPr id="15" name="Shape 11"/>
          <p:cNvSpPr/>
          <p:nvPr/>
        </p:nvSpPr>
        <p:spPr>
          <a:xfrm>
            <a:off x="5074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5779008" y="2240280"/>
            <a:ext cx="731520" cy="731520"/>
          </a:xfrm>
          <a:prstGeom prst="ellipse">
            <a:avLst/>
          </a:prstGeom>
          <a:solidFill>
            <a:srgbClr val="FFFFFF"/>
          </a:solidFill>
          <a:ln/>
        </p:spPr>
      </p:sp>
      <p:pic>
        <p:nvPicPr>
          <p:cNvPr id="17" name="Image 2" descr="C:\Users\user\AppData\Local\Temp\claude\C--Users-user-Desktop-TOEIC---\46f2443e-6c5b-45fc-8f6e-79718ae21477\scratchpad\business-plan\icons\users.png">    </p:cNvPr>
          <p:cNvPicPr>
            <a:picLocks noChangeAspect="1"/>
          </p:cNvPicPr>
          <p:nvPr/>
        </p:nvPicPr>
        <p:blipFill>
          <a:blip r:embed="rId3"/>
          <a:stretch>
            <a:fillRect/>
          </a:stretch>
        </p:blipFill>
        <p:spPr>
          <a:xfrm>
            <a:off x="5943600" y="2404872"/>
            <a:ext cx="402336" cy="402336"/>
          </a:xfrm>
          <a:prstGeom prst="rect">
            <a:avLst/>
          </a:prstGeom>
        </p:spPr>
      </p:pic>
      <p:sp>
        <p:nvSpPr>
          <p:cNvPr id="18" name="Text 13"/>
          <p:cNvSpPr/>
          <p:nvPr/>
        </p:nvSpPr>
        <p:spPr>
          <a:xfrm>
            <a:off x="5184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CRM</a:t>
            </a:r>
            <a:endParaRPr lang="en-US" sz="1250" dirty="0"/>
          </a:p>
        </p:txBody>
      </p:sp>
      <p:sp>
        <p:nvSpPr>
          <p:cNvPr id="19" name="Text 14"/>
          <p:cNvSpPr/>
          <p:nvPr/>
        </p:nvSpPr>
        <p:spPr>
          <a:xfrm>
            <a:off x="5221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顧客情報・案件を一元管理し、組織全体で共有できる状態にする</a:t>
            </a:r>
            <a:endParaRPr lang="en-US" sz="1000" dirty="0"/>
          </a:p>
        </p:txBody>
      </p:sp>
      <p:sp>
        <p:nvSpPr>
          <p:cNvPr id="20" name="Shape 15"/>
          <p:cNvSpPr/>
          <p:nvPr/>
        </p:nvSpPr>
        <p:spPr>
          <a:xfrm>
            <a:off x="7360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8065008" y="2240280"/>
            <a:ext cx="731520" cy="731520"/>
          </a:xfrm>
          <a:prstGeom prst="ellipse">
            <a:avLst/>
          </a:prstGeom>
          <a:solidFill>
            <a:srgbClr val="FFFFFF"/>
          </a:solidFill>
          <a:ln/>
        </p:spPr>
      </p:sp>
      <p:pic>
        <p:nvPicPr>
          <p:cNvPr id="22" name="Image 3" descr="C:\Users\user\AppData\Local\Temp\claude\C--Users-user-Desktop-TOEIC---\46f2443e-6c5b-45fc-8f6e-79718ae21477\scratchpad\business-plan\icons\microphone.png">    </p:cNvPr>
          <p:cNvPicPr>
            <a:picLocks noChangeAspect="1"/>
          </p:cNvPicPr>
          <p:nvPr/>
        </p:nvPicPr>
        <p:blipFill>
          <a:blip r:embed="rId4"/>
          <a:stretch>
            <a:fillRect/>
          </a:stretch>
        </p:blipFill>
        <p:spPr>
          <a:xfrm>
            <a:off x="8229600" y="2404872"/>
            <a:ext cx="402336" cy="402336"/>
          </a:xfrm>
          <a:prstGeom prst="rect">
            <a:avLst/>
          </a:prstGeom>
        </p:spPr>
      </p:pic>
      <p:sp>
        <p:nvSpPr>
          <p:cNvPr id="23" name="Text 17"/>
          <p:cNvSpPr/>
          <p:nvPr/>
        </p:nvSpPr>
        <p:spPr>
          <a:xfrm>
            <a:off x="7470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議事録AI</a:t>
            </a:r>
            <a:endParaRPr lang="en-US" sz="1250" dirty="0"/>
          </a:p>
        </p:txBody>
      </p:sp>
      <p:sp>
        <p:nvSpPr>
          <p:cNvPr id="24" name="Text 18"/>
          <p:cNvSpPr/>
          <p:nvPr/>
        </p:nvSpPr>
        <p:spPr>
          <a:xfrm>
            <a:off x="7507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会議・商談の記録を自動要約し、決定事項とタスクを可視化</a:t>
            </a:r>
            <a:endParaRPr lang="en-US" sz="1000" dirty="0"/>
          </a:p>
        </p:txBody>
      </p:sp>
      <p:sp>
        <p:nvSpPr>
          <p:cNvPr id="25" name="Shape 19"/>
          <p:cNvSpPr/>
          <p:nvPr/>
        </p:nvSpPr>
        <p:spPr>
          <a:xfrm>
            <a:off x="9646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10351008" y="2240280"/>
            <a:ext cx="731520" cy="731520"/>
          </a:xfrm>
          <a:prstGeom prst="ellipse">
            <a:avLst/>
          </a:prstGeom>
          <a:solidFill>
            <a:srgbClr val="FFFFFF"/>
          </a:solidFill>
          <a:ln/>
        </p:spPr>
      </p:sp>
      <p:pic>
        <p:nvPicPr>
          <p:cNvPr id="27" name="Image 4" descr="C:\Users\user\AppData\Local\Temp\claude\C--Users-user-Desktop-TOEIC---\46f2443e-6c5b-45fc-8f6e-79718ae21477\scratchpad\business-plan\icons\briefcase.png">    </p:cNvPr>
          <p:cNvPicPr>
            <a:picLocks noChangeAspect="1"/>
          </p:cNvPicPr>
          <p:nvPr/>
        </p:nvPicPr>
        <p:blipFill>
          <a:blip r:embed="rId5"/>
          <a:stretch>
            <a:fillRect/>
          </a:stretch>
        </p:blipFill>
        <p:spPr>
          <a:xfrm>
            <a:off x="10515600" y="2404872"/>
            <a:ext cx="402336" cy="402336"/>
          </a:xfrm>
          <a:prstGeom prst="rect">
            <a:avLst/>
          </a:prstGeom>
        </p:spPr>
      </p:pic>
      <p:sp>
        <p:nvSpPr>
          <p:cNvPr id="28" name="Text 21"/>
          <p:cNvSpPr/>
          <p:nvPr/>
        </p:nvSpPr>
        <p:spPr>
          <a:xfrm>
            <a:off x="9756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業務支援テンプレート</a:t>
            </a:r>
            <a:endParaRPr lang="en-US" sz="1250" dirty="0"/>
          </a:p>
        </p:txBody>
      </p:sp>
      <p:sp>
        <p:nvSpPr>
          <p:cNvPr id="29" name="Text 22"/>
          <p:cNvSpPr/>
          <p:nvPr/>
        </p:nvSpPr>
        <p:spPr>
          <a:xfrm>
            <a:off x="9793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不動産をはじめ、業種特化のテンプレートで導入初速を高める</a:t>
            </a:r>
            <a:endParaRPr lang="en-US" sz="1000" dirty="0"/>
          </a:p>
        </p:txBody>
      </p:sp>
      <p:sp>
        <p:nvSpPr>
          <p:cNvPr id="30" name="Text 2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COMPETITIVE ADVANTAGE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一般的なAIチャットとの違い</a:t>
            </a:r>
            <a:endParaRPr lang="en-US" sz="2800" dirty="0"/>
          </a:p>
        </p:txBody>
      </p:sp>
      <p:sp>
        <p:nvSpPr>
          <p:cNvPr id="4" name="Shape 2"/>
          <p:cNvSpPr/>
          <p:nvPr/>
        </p:nvSpPr>
        <p:spPr>
          <a:xfrm>
            <a:off x="502920" y="1691640"/>
            <a:ext cx="5074920" cy="502920"/>
          </a:xfrm>
          <a:prstGeom prst="roundRect">
            <a:avLst>
              <a:gd name="adj" fmla="val 14545"/>
            </a:avLst>
          </a:prstGeom>
          <a:solidFill>
            <a:srgbClr val="F3F6FA"/>
          </a:solidFill>
          <a:ln/>
        </p:spPr>
      </p:sp>
      <p:sp>
        <p:nvSpPr>
          <p:cNvPr id="5" name="Text 3"/>
          <p:cNvSpPr/>
          <p:nvPr/>
        </p:nvSpPr>
        <p:spPr>
          <a:xfrm>
            <a:off x="502920" y="1691640"/>
            <a:ext cx="5074920" cy="50292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汎用AIチャットツール</a:t>
            </a:r>
            <a:endParaRPr lang="en-US" sz="1300" dirty="0"/>
          </a:p>
        </p:txBody>
      </p:sp>
      <p:sp>
        <p:nvSpPr>
          <p:cNvPr id="6" name="Shape 4"/>
          <p:cNvSpPr/>
          <p:nvPr/>
        </p:nvSpPr>
        <p:spPr>
          <a:xfrm>
            <a:off x="5943600" y="1691640"/>
            <a:ext cx="5074920" cy="502920"/>
          </a:xfrm>
          <a:prstGeom prst="roundRect">
            <a:avLst>
              <a:gd name="adj" fmla="val 14545"/>
            </a:avLst>
          </a:prstGeom>
          <a:solidFill>
            <a:srgbClr val="2563EB"/>
          </a:solidFill>
          <a:ln/>
        </p:spPr>
      </p:sp>
      <p:sp>
        <p:nvSpPr>
          <p:cNvPr id="7" name="Text 5"/>
          <p:cNvSpPr/>
          <p:nvPr/>
        </p:nvSpPr>
        <p:spPr>
          <a:xfrm>
            <a:off x="5943600" y="1691640"/>
            <a:ext cx="5074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Labo Works</a:t>
            </a:r>
            <a:endParaRPr lang="en-US" sz="1300" dirty="0"/>
          </a:p>
        </p:txBody>
      </p:sp>
      <p:sp>
        <p:nvSpPr>
          <p:cNvPr id="8" name="Text 6"/>
          <p:cNvSpPr/>
          <p:nvPr/>
        </p:nvSpPr>
        <p:spPr>
          <a:xfrm>
            <a:off x="502920" y="2093976"/>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回答の拠り所</a:t>
            </a:r>
            <a:endParaRPr lang="en-US" sz="1000" dirty="0"/>
          </a:p>
        </p:txBody>
      </p:sp>
      <p:sp>
        <p:nvSpPr>
          <p:cNvPr id="9" name="Shape 7"/>
          <p:cNvSpPr/>
          <p:nvPr/>
        </p:nvSpPr>
        <p:spPr>
          <a:xfrm>
            <a:off x="502920" y="2313432"/>
            <a:ext cx="5074920" cy="566928"/>
          </a:xfrm>
          <a:prstGeom prst="rect">
            <a:avLst/>
          </a:prstGeom>
          <a:solidFill>
            <a:srgbClr val="FAFBFC"/>
          </a:solidFill>
          <a:ln w="12700">
            <a:solidFill>
              <a:srgbClr val="F3F6FA"/>
            </a:solidFill>
            <a:prstDash val="solid"/>
          </a:ln>
        </p:spPr>
      </p:sp>
      <p:sp>
        <p:nvSpPr>
          <p:cNvPr id="10" name="Text 8"/>
          <p:cNvSpPr/>
          <p:nvPr/>
        </p:nvSpPr>
        <p:spPr>
          <a:xfrm>
            <a:off x="640080" y="2313432"/>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汎用的な知識のみ</a:t>
            </a:r>
            <a:endParaRPr lang="en-US" sz="1100" dirty="0"/>
          </a:p>
        </p:txBody>
      </p:sp>
      <p:sp>
        <p:nvSpPr>
          <p:cNvPr id="11" name="Shape 9"/>
          <p:cNvSpPr/>
          <p:nvPr/>
        </p:nvSpPr>
        <p:spPr>
          <a:xfrm>
            <a:off x="5943600" y="2313432"/>
            <a:ext cx="5074920" cy="566928"/>
          </a:xfrm>
          <a:prstGeom prst="rect">
            <a:avLst/>
          </a:prstGeom>
          <a:solidFill>
            <a:srgbClr val="EFF4FE"/>
          </a:solidFill>
          <a:ln w="12700">
            <a:solidFill>
              <a:srgbClr val="D6E4FB"/>
            </a:solidFill>
            <a:prstDash val="solid"/>
          </a:ln>
        </p:spPr>
      </p:sp>
      <p:sp>
        <p:nvSpPr>
          <p:cNvPr id="12" name="Text 10"/>
          <p:cNvSpPr/>
          <p:nvPr/>
        </p:nvSpPr>
        <p:spPr>
          <a:xfrm>
            <a:off x="6080760" y="2313432"/>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自社のナレッジ(Company Brain)に基づく回答</a:t>
            </a:r>
            <a:endParaRPr lang="en-US" sz="1100" dirty="0"/>
          </a:p>
        </p:txBody>
      </p:sp>
      <p:sp>
        <p:nvSpPr>
          <p:cNvPr id="13" name="Text 11"/>
          <p:cNvSpPr/>
          <p:nvPr/>
        </p:nvSpPr>
        <p:spPr>
          <a:xfrm>
            <a:off x="502920" y="2898648"/>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専門性</a:t>
            </a:r>
            <a:endParaRPr lang="en-US" sz="1000" dirty="0"/>
          </a:p>
        </p:txBody>
      </p:sp>
      <p:sp>
        <p:nvSpPr>
          <p:cNvPr id="14" name="Shape 12"/>
          <p:cNvSpPr/>
          <p:nvPr/>
        </p:nvSpPr>
        <p:spPr>
          <a:xfrm>
            <a:off x="502920" y="3118104"/>
            <a:ext cx="5074920" cy="566928"/>
          </a:xfrm>
          <a:prstGeom prst="rect">
            <a:avLst/>
          </a:prstGeom>
          <a:solidFill>
            <a:srgbClr val="FAFBFC"/>
          </a:solidFill>
          <a:ln w="12700">
            <a:solidFill>
              <a:srgbClr val="F3F6FA"/>
            </a:solidFill>
            <a:prstDash val="solid"/>
          </a:ln>
        </p:spPr>
      </p:sp>
      <p:sp>
        <p:nvSpPr>
          <p:cNvPr id="15" name="Text 13"/>
          <p:cNvSpPr/>
          <p:nvPr/>
        </p:nvSpPr>
        <p:spPr>
          <a:xfrm>
            <a:off x="640080" y="3118104"/>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業種を問わない一般的な回答</a:t>
            </a:r>
            <a:endParaRPr lang="en-US" sz="1100" dirty="0"/>
          </a:p>
        </p:txBody>
      </p:sp>
      <p:sp>
        <p:nvSpPr>
          <p:cNvPr id="16" name="Shape 14"/>
          <p:cNvSpPr/>
          <p:nvPr/>
        </p:nvSpPr>
        <p:spPr>
          <a:xfrm>
            <a:off x="5943600" y="3118104"/>
            <a:ext cx="5074920" cy="566928"/>
          </a:xfrm>
          <a:prstGeom prst="rect">
            <a:avLst/>
          </a:prstGeom>
          <a:solidFill>
            <a:srgbClr val="EFF4FE"/>
          </a:solidFill>
          <a:ln w="12700">
            <a:solidFill>
              <a:srgbClr val="D6E4FB"/>
            </a:solidFill>
            <a:prstDash val="solid"/>
          </a:ln>
        </p:spPr>
      </p:sp>
      <p:sp>
        <p:nvSpPr>
          <p:cNvPr id="17" name="Text 15"/>
          <p:cNvSpPr/>
          <p:nvPr/>
        </p:nvSpPr>
        <p:spPr>
          <a:xfrm>
            <a:off x="6080760" y="3118104"/>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業種特化のテンプレート・プロンプト</a:t>
            </a:r>
            <a:endParaRPr lang="en-US" sz="1100" dirty="0"/>
          </a:p>
        </p:txBody>
      </p:sp>
      <p:sp>
        <p:nvSpPr>
          <p:cNvPr id="18" name="Text 16"/>
          <p:cNvSpPr/>
          <p:nvPr/>
        </p:nvSpPr>
        <p:spPr>
          <a:xfrm>
            <a:off x="502920" y="3703320"/>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アウトプット</a:t>
            </a:r>
            <a:endParaRPr lang="en-US" sz="1000" dirty="0"/>
          </a:p>
        </p:txBody>
      </p:sp>
      <p:sp>
        <p:nvSpPr>
          <p:cNvPr id="19" name="Shape 17"/>
          <p:cNvSpPr/>
          <p:nvPr/>
        </p:nvSpPr>
        <p:spPr>
          <a:xfrm>
            <a:off x="502920" y="3922776"/>
            <a:ext cx="5074920" cy="566928"/>
          </a:xfrm>
          <a:prstGeom prst="rect">
            <a:avLst/>
          </a:prstGeom>
          <a:solidFill>
            <a:srgbClr val="FAFBFC"/>
          </a:solidFill>
          <a:ln w="12700">
            <a:solidFill>
              <a:srgbClr val="F3F6FA"/>
            </a:solidFill>
            <a:prstDash val="solid"/>
          </a:ln>
        </p:spPr>
      </p:sp>
      <p:sp>
        <p:nvSpPr>
          <p:cNvPr id="20" name="Text 18"/>
          <p:cNvSpPr/>
          <p:nvPr/>
        </p:nvSpPr>
        <p:spPr>
          <a:xfrm>
            <a:off x="640080" y="3922776"/>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回答して終わり</a:t>
            </a:r>
            <a:endParaRPr lang="en-US" sz="1100" dirty="0"/>
          </a:p>
        </p:txBody>
      </p:sp>
      <p:sp>
        <p:nvSpPr>
          <p:cNvPr id="21" name="Shape 19"/>
          <p:cNvSpPr/>
          <p:nvPr/>
        </p:nvSpPr>
        <p:spPr>
          <a:xfrm>
            <a:off x="5943600" y="3922776"/>
            <a:ext cx="5074920" cy="566928"/>
          </a:xfrm>
          <a:prstGeom prst="rect">
            <a:avLst/>
          </a:prstGeom>
          <a:solidFill>
            <a:srgbClr val="EFF4FE"/>
          </a:solidFill>
          <a:ln w="12700">
            <a:solidFill>
              <a:srgbClr val="D6E4FB"/>
            </a:solidFill>
            <a:prstDash val="solid"/>
          </a:ln>
        </p:spPr>
      </p:sp>
      <p:sp>
        <p:nvSpPr>
          <p:cNvPr id="22" name="Text 20"/>
          <p:cNvSpPr/>
          <p:nvPr/>
        </p:nvSpPr>
        <p:spPr>
          <a:xfrm>
            <a:off x="6080760" y="3922776"/>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次に取るべきアクションまで提示</a:t>
            </a:r>
            <a:endParaRPr lang="en-US" sz="1100" dirty="0"/>
          </a:p>
        </p:txBody>
      </p:sp>
      <p:sp>
        <p:nvSpPr>
          <p:cNvPr id="23" name="Text 21"/>
          <p:cNvSpPr/>
          <p:nvPr/>
        </p:nvSpPr>
        <p:spPr>
          <a:xfrm>
            <a:off x="502920" y="4507992"/>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AIの使い分け</a:t>
            </a:r>
            <a:endParaRPr lang="en-US" sz="1000" dirty="0"/>
          </a:p>
        </p:txBody>
      </p:sp>
      <p:sp>
        <p:nvSpPr>
          <p:cNvPr id="24" name="Shape 22"/>
          <p:cNvSpPr/>
          <p:nvPr/>
        </p:nvSpPr>
        <p:spPr>
          <a:xfrm>
            <a:off x="502920" y="4727448"/>
            <a:ext cx="5074920" cy="566928"/>
          </a:xfrm>
          <a:prstGeom prst="rect">
            <a:avLst/>
          </a:prstGeom>
          <a:solidFill>
            <a:srgbClr val="FAFBFC"/>
          </a:solidFill>
          <a:ln w="12700">
            <a:solidFill>
              <a:srgbClr val="F3F6FA"/>
            </a:solidFill>
            <a:prstDash val="solid"/>
          </a:ln>
        </p:spPr>
      </p:sp>
      <p:sp>
        <p:nvSpPr>
          <p:cNvPr id="25" name="Text 23"/>
          <p:cNvSpPr/>
          <p:nvPr/>
        </p:nvSpPr>
        <p:spPr>
          <a:xfrm>
            <a:off x="640080" y="4727448"/>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単一モデルに固定</a:t>
            </a:r>
            <a:endParaRPr lang="en-US" sz="1100" dirty="0"/>
          </a:p>
        </p:txBody>
      </p:sp>
      <p:sp>
        <p:nvSpPr>
          <p:cNvPr id="26" name="Shape 24"/>
          <p:cNvSpPr/>
          <p:nvPr/>
        </p:nvSpPr>
        <p:spPr>
          <a:xfrm>
            <a:off x="5943600" y="4727448"/>
            <a:ext cx="5074920" cy="566928"/>
          </a:xfrm>
          <a:prstGeom prst="rect">
            <a:avLst/>
          </a:prstGeom>
          <a:solidFill>
            <a:srgbClr val="EFF4FE"/>
          </a:solidFill>
          <a:ln w="12700">
            <a:solidFill>
              <a:srgbClr val="D6E4FB"/>
            </a:solidFill>
            <a:prstDash val="solid"/>
          </a:ln>
        </p:spPr>
      </p:sp>
      <p:sp>
        <p:nvSpPr>
          <p:cNvPr id="27" name="Text 25"/>
          <p:cNvSpPr/>
          <p:nvPr/>
        </p:nvSpPr>
        <p:spPr>
          <a:xfrm>
            <a:off x="6080760" y="4727448"/>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複数AIを自動で使い分けるSmart AI Router</a:t>
            </a:r>
            <a:endParaRPr lang="en-US" sz="1100" dirty="0"/>
          </a:p>
        </p:txBody>
      </p:sp>
      <p:sp>
        <p:nvSpPr>
          <p:cNvPr id="28" name="Text 26"/>
          <p:cNvSpPr/>
          <p:nvPr/>
        </p:nvSpPr>
        <p:spPr>
          <a:xfrm>
            <a:off x="502920" y="5312664"/>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使うほど</a:t>
            </a:r>
            <a:endParaRPr lang="en-US" sz="1000" dirty="0"/>
          </a:p>
        </p:txBody>
      </p:sp>
      <p:sp>
        <p:nvSpPr>
          <p:cNvPr id="29" name="Shape 27"/>
          <p:cNvSpPr/>
          <p:nvPr/>
        </p:nvSpPr>
        <p:spPr>
          <a:xfrm>
            <a:off x="502920" y="5532120"/>
            <a:ext cx="5074920" cy="566928"/>
          </a:xfrm>
          <a:prstGeom prst="rect">
            <a:avLst/>
          </a:prstGeom>
          <a:solidFill>
            <a:srgbClr val="FAFBFC"/>
          </a:solidFill>
          <a:ln w="12700">
            <a:solidFill>
              <a:srgbClr val="F3F6FA"/>
            </a:solidFill>
            <a:prstDash val="solid"/>
          </a:ln>
        </p:spPr>
      </p:sp>
      <p:sp>
        <p:nvSpPr>
          <p:cNvPr id="30" name="Text 28"/>
          <p:cNvSpPr/>
          <p:nvPr/>
        </p:nvSpPr>
        <p:spPr>
          <a:xfrm>
            <a:off x="640080" y="5532120"/>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変化しない</a:t>
            </a:r>
            <a:endParaRPr lang="en-US" sz="1100" dirty="0"/>
          </a:p>
        </p:txBody>
      </p:sp>
      <p:sp>
        <p:nvSpPr>
          <p:cNvPr id="31" name="Shape 29"/>
          <p:cNvSpPr/>
          <p:nvPr/>
        </p:nvSpPr>
        <p:spPr>
          <a:xfrm>
            <a:off x="5943600" y="5532120"/>
            <a:ext cx="5074920" cy="566928"/>
          </a:xfrm>
          <a:prstGeom prst="rect">
            <a:avLst/>
          </a:prstGeom>
          <a:solidFill>
            <a:srgbClr val="EFF4FE"/>
          </a:solidFill>
          <a:ln w="12700">
            <a:solidFill>
              <a:srgbClr val="D6E4FB"/>
            </a:solidFill>
            <a:prstDash val="solid"/>
          </a:ln>
        </p:spPr>
      </p:sp>
      <p:sp>
        <p:nvSpPr>
          <p:cNvPr id="32" name="Text 30"/>
          <p:cNvSpPr/>
          <p:nvPr/>
        </p:nvSpPr>
        <p:spPr>
          <a:xfrm>
            <a:off x="6080760" y="5532120"/>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ナレッジが蓄積し、回答の精度が高まる</a:t>
            </a:r>
            <a:endParaRPr lang="en-US" sz="11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4" name="Text 3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ストック型収益モデル</a:t>
            </a:r>
            <a:endParaRPr lang="en-US" sz="3000" dirty="0"/>
          </a:p>
        </p:txBody>
      </p:sp>
      <p:sp>
        <p:nvSpPr>
          <p:cNvPr id="4" name="Shape 2"/>
          <p:cNvSpPr/>
          <p:nvPr/>
        </p:nvSpPr>
        <p:spPr>
          <a:xfrm>
            <a:off x="809244" y="2194560"/>
            <a:ext cx="960120" cy="960120"/>
          </a:xfrm>
          <a:prstGeom prst="ellipse">
            <a:avLst/>
          </a:prstGeom>
          <a:solidFill>
            <a:srgbClr val="0A1B3D"/>
          </a:solidFill>
          <a:ln/>
        </p:spPr>
      </p:sp>
      <p:pic>
        <p:nvPicPr>
          <p:cNvPr id="5" name="Image 0" descr="C:\Users\user\AppData\Local\Temp\claude\C--Users-user-Desktop-TOEIC---\46f2443e-6c5b-45fc-8f6e-79718ae21477\scratchpad\business-plan\icons\handshake.png">    </p:cNvPr>
          <p:cNvPicPr>
            <a:picLocks noChangeAspect="1"/>
          </p:cNvPicPr>
          <p:nvPr/>
        </p:nvPicPr>
        <p:blipFill>
          <a:blip r:embed="rId1"/>
          <a:stretch>
            <a:fillRect/>
          </a:stretch>
        </p:blipFill>
        <p:spPr>
          <a:xfrm>
            <a:off x="1049274" y="2434590"/>
            <a:ext cx="480060" cy="480060"/>
          </a:xfrm>
          <a:prstGeom prst="rect">
            <a:avLst/>
          </a:prstGeom>
        </p:spPr>
      </p:pic>
      <p:sp>
        <p:nvSpPr>
          <p:cNvPr id="6" name="Text 3"/>
          <p:cNvSpPr/>
          <p:nvPr/>
        </p:nvSpPr>
        <p:spPr>
          <a:xfrm>
            <a:off x="36576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導入</a:t>
            </a:r>
            <a:endParaRPr lang="en-US" sz="1250" dirty="0"/>
          </a:p>
        </p:txBody>
      </p:sp>
      <p:sp>
        <p:nvSpPr>
          <p:cNvPr id="7" name="Text 4"/>
          <p:cNvSpPr/>
          <p:nvPr/>
        </p:nvSpPr>
        <p:spPr>
          <a:xfrm>
            <a:off x="36576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ヒアリング・</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個別提案</a:t>
            </a:r>
            <a:endParaRPr lang="en-US" sz="950" dirty="0"/>
          </a:p>
        </p:txBody>
      </p:sp>
      <p:sp>
        <p:nvSpPr>
          <p:cNvPr id="8" name="Text 5"/>
          <p:cNvSpPr/>
          <p:nvPr/>
        </p:nvSpPr>
        <p:spPr>
          <a:xfrm>
            <a:off x="207568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731861" y="2194560"/>
            <a:ext cx="960120" cy="960120"/>
          </a:xfrm>
          <a:prstGeom prst="ellipse">
            <a:avLst/>
          </a:prstGeom>
          <a:solidFill>
            <a:srgbClr val="0A1B3D"/>
          </a:solidFill>
          <a:ln/>
        </p:spPr>
      </p:sp>
      <p:pic>
        <p:nvPicPr>
          <p:cNvPr id="10" name="Image 1" descr="C:\Users\user\AppData\Local\Temp\claude\C--Users-user-Desktop-TOEIC---\46f2443e-6c5b-45fc-8f6e-79718ae21477\scratchpad\business-plan\icons\coins.png">    </p:cNvPr>
          <p:cNvPicPr>
            <a:picLocks noChangeAspect="1"/>
          </p:cNvPicPr>
          <p:nvPr/>
        </p:nvPicPr>
        <p:blipFill>
          <a:blip r:embed="rId2"/>
          <a:stretch>
            <a:fillRect/>
          </a:stretch>
        </p:blipFill>
        <p:spPr>
          <a:xfrm>
            <a:off x="2971891" y="2434590"/>
            <a:ext cx="480060" cy="480060"/>
          </a:xfrm>
          <a:prstGeom prst="rect">
            <a:avLst/>
          </a:prstGeom>
        </p:spPr>
      </p:pic>
      <p:sp>
        <p:nvSpPr>
          <p:cNvPr id="11" name="Text 7"/>
          <p:cNvSpPr/>
          <p:nvPr/>
        </p:nvSpPr>
        <p:spPr>
          <a:xfrm>
            <a:off x="228837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初期費用</a:t>
            </a:r>
            <a:endParaRPr lang="en-US" sz="1250" dirty="0"/>
          </a:p>
        </p:txBody>
      </p:sp>
      <p:sp>
        <p:nvSpPr>
          <p:cNvPr id="12" name="Text 8"/>
          <p:cNvSpPr/>
          <p:nvPr/>
        </p:nvSpPr>
        <p:spPr>
          <a:xfrm>
            <a:off x="228837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導入支援・</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初期設定</a:t>
            </a:r>
            <a:endParaRPr lang="en-US" sz="950" dirty="0"/>
          </a:p>
        </p:txBody>
      </p:sp>
      <p:sp>
        <p:nvSpPr>
          <p:cNvPr id="13" name="Text 9"/>
          <p:cNvSpPr/>
          <p:nvPr/>
        </p:nvSpPr>
        <p:spPr>
          <a:xfrm>
            <a:off x="3998305"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654479" y="2194560"/>
            <a:ext cx="960120" cy="960120"/>
          </a:xfrm>
          <a:prstGeom prst="ellipse">
            <a:avLst/>
          </a:prstGeom>
          <a:solidFill>
            <a:srgbClr val="0A1B3D"/>
          </a:solidFill>
          <a:ln/>
        </p:spPr>
      </p:sp>
      <p:pic>
        <p:nvPicPr>
          <p:cNvPr id="15" name="Image 2" descr="C:\Users\user\AppData\Local\Temp\claude\C--Users-user-Desktop-TOEIC---\46f2443e-6c5b-45fc-8f6e-79718ae21477\scratchpad\business-plan\icons\briefcase.png">    </p:cNvPr>
          <p:cNvPicPr>
            <a:picLocks noChangeAspect="1"/>
          </p:cNvPicPr>
          <p:nvPr/>
        </p:nvPicPr>
        <p:blipFill>
          <a:blip r:embed="rId3"/>
          <a:stretch>
            <a:fillRect/>
          </a:stretch>
        </p:blipFill>
        <p:spPr>
          <a:xfrm>
            <a:off x="4894509" y="2434590"/>
            <a:ext cx="480060" cy="480060"/>
          </a:xfrm>
          <a:prstGeom prst="rect">
            <a:avLst/>
          </a:prstGeom>
        </p:spPr>
      </p:pic>
      <p:sp>
        <p:nvSpPr>
          <p:cNvPr id="16" name="Text 11"/>
          <p:cNvSpPr/>
          <p:nvPr/>
        </p:nvSpPr>
        <p:spPr>
          <a:xfrm>
            <a:off x="4210995"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月額利用</a:t>
            </a:r>
            <a:endParaRPr lang="en-US" sz="1250" dirty="0"/>
          </a:p>
        </p:txBody>
      </p:sp>
      <p:sp>
        <p:nvSpPr>
          <p:cNvPr id="17" name="Text 12"/>
          <p:cNvSpPr/>
          <p:nvPr/>
        </p:nvSpPr>
        <p:spPr>
          <a:xfrm>
            <a:off x="4210995"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基本プラン</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(利用モジュール)</a:t>
            </a:r>
            <a:endParaRPr lang="en-US" sz="950" dirty="0"/>
          </a:p>
        </p:txBody>
      </p:sp>
      <p:sp>
        <p:nvSpPr>
          <p:cNvPr id="18" name="Text 13"/>
          <p:cNvSpPr/>
          <p:nvPr/>
        </p:nvSpPr>
        <p:spPr>
          <a:xfrm>
            <a:off x="5920923"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6577096" y="2194560"/>
            <a:ext cx="960120" cy="960120"/>
          </a:xfrm>
          <a:prstGeom prst="ellipse">
            <a:avLst/>
          </a:prstGeom>
          <a:solidFill>
            <a:srgbClr val="0A1B3D"/>
          </a:solidFill>
          <a:ln/>
        </p:spPr>
      </p:sp>
      <p:pic>
        <p:nvPicPr>
          <p:cNvPr id="20"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6817126" y="2434590"/>
            <a:ext cx="480060" cy="480060"/>
          </a:xfrm>
          <a:prstGeom prst="rect">
            <a:avLst/>
          </a:prstGeom>
        </p:spPr>
      </p:pic>
      <p:sp>
        <p:nvSpPr>
          <p:cNvPr id="21" name="Text 15"/>
          <p:cNvSpPr/>
          <p:nvPr/>
        </p:nvSpPr>
        <p:spPr>
          <a:xfrm>
            <a:off x="6133612"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オプション</a:t>
            </a:r>
            <a:endParaRPr lang="en-US" sz="1250" dirty="0"/>
          </a:p>
        </p:txBody>
      </p:sp>
      <p:sp>
        <p:nvSpPr>
          <p:cNvPr id="22" name="Text 16"/>
          <p:cNvSpPr/>
          <p:nvPr/>
        </p:nvSpPr>
        <p:spPr>
          <a:xfrm>
            <a:off x="6133612"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追加機能・</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拡張支援</a:t>
            </a:r>
            <a:endParaRPr lang="en-US" sz="950" dirty="0"/>
          </a:p>
        </p:txBody>
      </p:sp>
      <p:sp>
        <p:nvSpPr>
          <p:cNvPr id="23" name="Text 17"/>
          <p:cNvSpPr/>
          <p:nvPr/>
        </p:nvSpPr>
        <p:spPr>
          <a:xfrm>
            <a:off x="7843540"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8499714" y="2194560"/>
            <a:ext cx="960120" cy="960120"/>
          </a:xfrm>
          <a:prstGeom prst="ellipse">
            <a:avLst/>
          </a:prstGeom>
          <a:solidFill>
            <a:srgbClr val="0A1B3D"/>
          </a:solidFill>
          <a:ln/>
        </p:spPr>
      </p:sp>
      <p:pic>
        <p:nvPicPr>
          <p:cNvPr id="25"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8739744" y="2434590"/>
            <a:ext cx="480060" cy="480060"/>
          </a:xfrm>
          <a:prstGeom prst="rect">
            <a:avLst/>
          </a:prstGeom>
        </p:spPr>
      </p:pic>
      <p:sp>
        <p:nvSpPr>
          <p:cNvPr id="26" name="Text 19"/>
          <p:cNvSpPr/>
          <p:nvPr/>
        </p:nvSpPr>
        <p:spPr>
          <a:xfrm>
            <a:off x="805623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継続課金</a:t>
            </a:r>
            <a:endParaRPr lang="en-US" sz="1250" dirty="0"/>
          </a:p>
        </p:txBody>
      </p:sp>
      <p:sp>
        <p:nvSpPr>
          <p:cNvPr id="27" name="Text 20"/>
          <p:cNvSpPr/>
          <p:nvPr/>
        </p:nvSpPr>
        <p:spPr>
          <a:xfrm>
            <a:off x="805623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利用継続に伴う</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月次収益</a:t>
            </a:r>
            <a:endParaRPr lang="en-US" sz="950" dirty="0"/>
          </a:p>
        </p:txBody>
      </p:sp>
      <p:sp>
        <p:nvSpPr>
          <p:cNvPr id="28" name="Text 21"/>
          <p:cNvSpPr/>
          <p:nvPr/>
        </p:nvSpPr>
        <p:spPr>
          <a:xfrm>
            <a:off x="976615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10422331" y="2194560"/>
            <a:ext cx="960120" cy="960120"/>
          </a:xfrm>
          <a:prstGeom prst="ellipse">
            <a:avLst/>
          </a:prstGeom>
          <a:solidFill>
            <a:srgbClr val="2563EB"/>
          </a:solidFill>
          <a:ln/>
        </p:spPr>
      </p:sp>
      <p:pic>
        <p:nvPicPr>
          <p:cNvPr id="30" name="Image 5" descr="C:\Users\user\AppData\Local\Temp\claude\C--Users-user-Desktop-TOEIC---\46f2443e-6c5b-45fc-8f6e-79718ae21477\scratchpad\business-plan\icons\network.png">    </p:cNvPr>
          <p:cNvPicPr>
            <a:picLocks noChangeAspect="1"/>
          </p:cNvPicPr>
          <p:nvPr/>
        </p:nvPicPr>
        <p:blipFill>
          <a:blip r:embed="rId6"/>
          <a:stretch>
            <a:fillRect/>
          </a:stretch>
        </p:blipFill>
        <p:spPr>
          <a:xfrm>
            <a:off x="10662361" y="2434590"/>
            <a:ext cx="480060" cy="480060"/>
          </a:xfrm>
          <a:prstGeom prst="rect">
            <a:avLst/>
          </a:prstGeom>
        </p:spPr>
      </p:pic>
      <p:sp>
        <p:nvSpPr>
          <p:cNvPr id="31" name="Text 23"/>
          <p:cNvSpPr/>
          <p:nvPr/>
        </p:nvSpPr>
        <p:spPr>
          <a:xfrm>
            <a:off x="997884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ストック収益</a:t>
            </a:r>
            <a:endParaRPr lang="en-US" sz="1250" dirty="0"/>
          </a:p>
        </p:txBody>
      </p:sp>
      <p:sp>
        <p:nvSpPr>
          <p:cNvPr id="32" name="Text 24"/>
          <p:cNvSpPr/>
          <p:nvPr/>
        </p:nvSpPr>
        <p:spPr>
          <a:xfrm>
            <a:off x="997884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積み上がる</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安定収益基盤</a:t>
            </a:r>
            <a:endParaRPr lang="en-US" sz="950" dirty="0"/>
          </a:p>
        </p:txBody>
      </p:sp>
      <p:sp>
        <p:nvSpPr>
          <p:cNvPr id="33" name="Shape 25"/>
          <p:cNvSpPr/>
          <p:nvPr/>
        </p:nvSpPr>
        <p:spPr>
          <a:xfrm>
            <a:off x="502920" y="42519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34" name="Text 26"/>
          <p:cNvSpPr/>
          <p:nvPr/>
        </p:nvSpPr>
        <p:spPr>
          <a:xfrm>
            <a:off x="822960" y="4434840"/>
            <a:ext cx="5029200" cy="365760"/>
          </a:xfrm>
          <a:prstGeom prst="rect">
            <a:avLst/>
          </a:prstGeom>
          <a:noFill/>
          <a:ln/>
        </p:spPr>
        <p:txBody>
          <a:bodyPr wrap="square" lIns="0" tIns="0" rIns="0" bIns="0" rtlCol="0" anchor="ctr"/>
          <a:lstStyle/>
          <a:p>
            <a:pPr indent="0" marL="0">
              <a:buNone/>
            </a:pPr>
            <a:r>
              <a:rPr lang="en-US" sz="1350" b="1" dirty="0">
                <a:solidFill>
                  <a:srgbClr val="0A1B3D"/>
                </a:solidFill>
                <a:latin typeface="Calibri" pitchFamily="34" charset="0"/>
                <a:ea typeface="Calibri" pitchFamily="34" charset="-122"/>
                <a:cs typeface="Calibri" pitchFamily="34" charset="-120"/>
              </a:rPr>
              <a:t>中核機能は切り売りしない</a:t>
            </a:r>
            <a:endParaRPr lang="en-US" sz="1350" dirty="0"/>
          </a:p>
        </p:txBody>
      </p:sp>
      <p:sp>
        <p:nvSpPr>
          <p:cNvPr id="35" name="Text 27"/>
          <p:cNvSpPr/>
          <p:nvPr/>
        </p:nvSpPr>
        <p:spPr>
          <a:xfrm>
            <a:off x="822960" y="4800600"/>
            <a:ext cx="10545775" cy="77724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Company Brain・CRM・AI Assistant等の中核機能は、選択いただいた基本プランに標準搭載します。企業規模と活用範囲に応じて必要な機能を組み合わせる「導入プラン」として提供し、単なる価格表ではなく、お客様に合わせた導入設計を一緒に行う姿勢を一貫させています。</a:t>
            </a:r>
            <a:endParaRPr lang="en-US" sz="1100" dirty="0"/>
          </a:p>
        </p:txBody>
      </p:sp>
      <p:sp>
        <p:nvSpPr>
          <p:cNvPr id="36" name="Text 28"/>
          <p:cNvSpPr/>
          <p:nvPr/>
        </p:nvSpPr>
        <p:spPr>
          <a:xfrm>
            <a:off x="502920" y="6080760"/>
            <a:ext cx="91440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具体的な料金は、企業規模・利用範囲に応じた個別見積りとしています。</a:t>
            </a:r>
            <a:endParaRPr lang="en-US" sz="9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GO-TO-MARKET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業種展開ロードマップ</a:t>
            </a:r>
            <a:endParaRPr lang="en-US" sz="2900" dirty="0"/>
          </a:p>
        </p:txBody>
      </p:sp>
      <p:sp>
        <p:nvSpPr>
          <p:cNvPr id="4" name="Shape 2"/>
          <p:cNvSpPr/>
          <p:nvPr/>
        </p:nvSpPr>
        <p:spPr>
          <a:xfrm>
            <a:off x="502920" y="1965960"/>
            <a:ext cx="2514600" cy="3566160"/>
          </a:xfrm>
          <a:prstGeom prst="roundRect">
            <a:avLst>
              <a:gd name="adj" fmla="val 2909"/>
            </a:avLst>
          </a:prstGeom>
          <a:solidFill>
            <a:srgbClr val="0A1B3D"/>
          </a:solidFill>
          <a:ln/>
        </p:spPr>
      </p:sp>
      <p:sp>
        <p:nvSpPr>
          <p:cNvPr id="5" name="Shape 3"/>
          <p:cNvSpPr/>
          <p:nvPr/>
        </p:nvSpPr>
        <p:spPr>
          <a:xfrm>
            <a:off x="1371600" y="22860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home.png">    </p:cNvPr>
          <p:cNvPicPr>
            <a:picLocks noChangeAspect="1"/>
          </p:cNvPicPr>
          <p:nvPr/>
        </p:nvPicPr>
        <p:blipFill>
          <a:blip r:embed="rId1"/>
          <a:stretch>
            <a:fillRect/>
          </a:stretch>
        </p:blipFill>
        <p:spPr>
          <a:xfrm>
            <a:off x="1546479" y="2460879"/>
            <a:ext cx="427482" cy="427482"/>
          </a:xfrm>
          <a:prstGeom prst="rect">
            <a:avLst/>
          </a:prstGeom>
        </p:spPr>
      </p:pic>
      <p:sp>
        <p:nvSpPr>
          <p:cNvPr id="7" name="Text 4"/>
          <p:cNvSpPr/>
          <p:nvPr/>
        </p:nvSpPr>
        <p:spPr>
          <a:xfrm>
            <a:off x="502920"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60A5FA"/>
                </a:solidFill>
                <a:latin typeface="Calibri" pitchFamily="34" charset="0"/>
                <a:ea typeface="Calibri" pitchFamily="34" charset="-122"/>
                <a:cs typeface="Calibri" pitchFamily="34" charset="-120"/>
              </a:rPr>
              <a:t>Phase 1</a:t>
            </a:r>
            <a:endParaRPr lang="en-US" sz="1100" dirty="0"/>
          </a:p>
        </p:txBody>
      </p:sp>
      <p:sp>
        <p:nvSpPr>
          <p:cNvPr id="8" name="Text 5"/>
          <p:cNvSpPr/>
          <p:nvPr/>
        </p:nvSpPr>
        <p:spPr>
          <a:xfrm>
            <a:off x="594360" y="3502152"/>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不動産会社</a:t>
            </a:r>
            <a:endParaRPr lang="en-US" sz="1400" dirty="0"/>
          </a:p>
        </p:txBody>
      </p:sp>
      <p:sp>
        <p:nvSpPr>
          <p:cNvPr id="9" name="Text 6"/>
          <p:cNvSpPr/>
          <p:nvPr/>
        </p:nvSpPr>
        <p:spPr>
          <a:xfrm>
            <a:off x="685800"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C7D3E8"/>
                </a:solidFill>
                <a:latin typeface="Calibri" pitchFamily="34" charset="0"/>
                <a:ea typeface="Calibri" pitchFamily="34" charset="-122"/>
                <a:cs typeface="Calibri" pitchFamily="34" charset="-120"/>
              </a:rPr>
              <a:t>札幌の不動産会社を起点に、実導入を通じて価値を実証</a:t>
            </a:r>
            <a:endParaRPr lang="en-US" sz="1050" dirty="0"/>
          </a:p>
        </p:txBody>
      </p:sp>
      <p:sp>
        <p:nvSpPr>
          <p:cNvPr id="10" name="Shape 7"/>
          <p:cNvSpPr/>
          <p:nvPr/>
        </p:nvSpPr>
        <p:spPr>
          <a:xfrm>
            <a:off x="2103120" y="2075688"/>
            <a:ext cx="777240" cy="274320"/>
          </a:xfrm>
          <a:prstGeom prst="roundRect">
            <a:avLst>
              <a:gd name="adj" fmla="val 20000"/>
            </a:avLst>
          </a:prstGeom>
          <a:solidFill>
            <a:srgbClr val="2563EB"/>
          </a:solidFill>
          <a:ln/>
        </p:spPr>
      </p:sp>
      <p:sp>
        <p:nvSpPr>
          <p:cNvPr id="11" name="Text 8"/>
          <p:cNvSpPr/>
          <p:nvPr/>
        </p:nvSpPr>
        <p:spPr>
          <a:xfrm>
            <a:off x="2103120" y="207568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現在</a:t>
            </a:r>
            <a:endParaRPr lang="en-US" sz="900" dirty="0"/>
          </a:p>
        </p:txBody>
      </p:sp>
      <p:sp>
        <p:nvSpPr>
          <p:cNvPr id="12" name="Text 9"/>
          <p:cNvSpPr/>
          <p:nvPr/>
        </p:nvSpPr>
        <p:spPr>
          <a:xfrm>
            <a:off x="3017520"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273552"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4142232" y="2286000"/>
            <a:ext cx="777240" cy="777240"/>
          </a:xfrm>
          <a:prstGeom prst="ellipse">
            <a:avLst/>
          </a:prstGeom>
          <a:solidFill>
            <a:srgbClr val="0A1B3D"/>
          </a:solidFill>
          <a:ln/>
        </p:spPr>
      </p:sp>
      <p:pic>
        <p:nvPicPr>
          <p:cNvPr id="15" name="Image 1" descr="C:\Users\user\AppData\Local\Temp\claude\C--Users-user-Desktop-TOEIC---\46f2443e-6c5b-45fc-8f6e-79718ae21477\scratchpad\business-plan\icons\gavel.png">    </p:cNvPr>
          <p:cNvPicPr>
            <a:picLocks noChangeAspect="1"/>
          </p:cNvPicPr>
          <p:nvPr/>
        </p:nvPicPr>
        <p:blipFill>
          <a:blip r:embed="rId2"/>
          <a:stretch>
            <a:fillRect/>
          </a:stretch>
        </p:blipFill>
        <p:spPr>
          <a:xfrm>
            <a:off x="4317111" y="2460879"/>
            <a:ext cx="427482" cy="427482"/>
          </a:xfrm>
          <a:prstGeom prst="rect">
            <a:avLst/>
          </a:prstGeom>
        </p:spPr>
      </p:pic>
      <p:sp>
        <p:nvSpPr>
          <p:cNvPr id="16" name="Text 12"/>
          <p:cNvSpPr/>
          <p:nvPr/>
        </p:nvSpPr>
        <p:spPr>
          <a:xfrm>
            <a:off x="3273552"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2</a:t>
            </a:r>
            <a:endParaRPr lang="en-US" sz="1100" dirty="0"/>
          </a:p>
        </p:txBody>
      </p:sp>
      <p:sp>
        <p:nvSpPr>
          <p:cNvPr id="17" name="Text 13"/>
          <p:cNvSpPr/>
          <p:nvPr/>
        </p:nvSpPr>
        <p:spPr>
          <a:xfrm>
            <a:off x="3364992"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管理会社・司法書士</a:t>
            </a:r>
            <a:endParaRPr lang="en-US" sz="1400" dirty="0"/>
          </a:p>
        </p:txBody>
      </p:sp>
      <p:sp>
        <p:nvSpPr>
          <p:cNvPr id="18" name="Text 14"/>
          <p:cNvSpPr/>
          <p:nvPr/>
        </p:nvSpPr>
        <p:spPr>
          <a:xfrm>
            <a:off x="3456432"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隣接業務領域の不動産関連業種へ展開</a:t>
            </a:r>
            <a:endParaRPr lang="en-US" sz="1050" dirty="0"/>
          </a:p>
        </p:txBody>
      </p:sp>
      <p:sp>
        <p:nvSpPr>
          <p:cNvPr id="19" name="Text 15"/>
          <p:cNvSpPr/>
          <p:nvPr/>
        </p:nvSpPr>
        <p:spPr>
          <a:xfrm>
            <a:off x="5788152"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6044184"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1" name="Shape 17"/>
          <p:cNvSpPr/>
          <p:nvPr/>
        </p:nvSpPr>
        <p:spPr>
          <a:xfrm>
            <a:off x="6912864" y="2286000"/>
            <a:ext cx="777240" cy="777240"/>
          </a:xfrm>
          <a:prstGeom prst="ellipse">
            <a:avLst/>
          </a:prstGeom>
          <a:solidFill>
            <a:srgbClr val="0A1B3D"/>
          </a:solidFill>
          <a:ln/>
        </p:spPr>
      </p:sp>
      <p:pic>
        <p:nvPicPr>
          <p:cNvPr id="22" name="Image 2" descr="C:\Users\user\AppData\Local\Temp\claude\C--Users-user-Desktop-TOEIC---\46f2443e-6c5b-45fc-8f6e-79718ae21477\scratchpad\business-plan\icons\hardhat.png">    </p:cNvPr>
          <p:cNvPicPr>
            <a:picLocks noChangeAspect="1"/>
          </p:cNvPicPr>
          <p:nvPr/>
        </p:nvPicPr>
        <p:blipFill>
          <a:blip r:embed="rId3"/>
          <a:stretch>
            <a:fillRect/>
          </a:stretch>
        </p:blipFill>
        <p:spPr>
          <a:xfrm>
            <a:off x="7087743" y="2460879"/>
            <a:ext cx="427482" cy="427482"/>
          </a:xfrm>
          <a:prstGeom prst="rect">
            <a:avLst/>
          </a:prstGeom>
        </p:spPr>
      </p:pic>
      <p:sp>
        <p:nvSpPr>
          <p:cNvPr id="23" name="Text 18"/>
          <p:cNvSpPr/>
          <p:nvPr/>
        </p:nvSpPr>
        <p:spPr>
          <a:xfrm>
            <a:off x="6044184"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3</a:t>
            </a:r>
            <a:endParaRPr lang="en-US" sz="1100" dirty="0"/>
          </a:p>
        </p:txBody>
      </p:sp>
      <p:sp>
        <p:nvSpPr>
          <p:cNvPr id="24" name="Text 19"/>
          <p:cNvSpPr/>
          <p:nvPr/>
        </p:nvSpPr>
        <p:spPr>
          <a:xfrm>
            <a:off x="6135624"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建設業・士業</a:t>
            </a:r>
            <a:endParaRPr lang="en-US" sz="1400" dirty="0"/>
          </a:p>
        </p:txBody>
      </p:sp>
      <p:sp>
        <p:nvSpPr>
          <p:cNvPr id="25" name="Text 20"/>
          <p:cNvSpPr/>
          <p:nvPr/>
        </p:nvSpPr>
        <p:spPr>
          <a:xfrm>
            <a:off x="6227064"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業務構造が似た業種へテンプレートを横展開</a:t>
            </a:r>
            <a:endParaRPr lang="en-US" sz="1050" dirty="0"/>
          </a:p>
        </p:txBody>
      </p:sp>
      <p:sp>
        <p:nvSpPr>
          <p:cNvPr id="26" name="Text 21"/>
          <p:cNvSpPr/>
          <p:nvPr/>
        </p:nvSpPr>
        <p:spPr>
          <a:xfrm>
            <a:off x="8558784"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8814816"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8" name="Shape 23"/>
          <p:cNvSpPr/>
          <p:nvPr/>
        </p:nvSpPr>
        <p:spPr>
          <a:xfrm>
            <a:off x="9683496" y="2286000"/>
            <a:ext cx="777240" cy="777240"/>
          </a:xfrm>
          <a:prstGeom prst="ellipse">
            <a:avLst/>
          </a:prstGeom>
          <a:solidFill>
            <a:srgbClr val="0A1B3D"/>
          </a:solidFill>
          <a:ln/>
        </p:spPr>
      </p:sp>
      <p:pic>
        <p:nvPicPr>
          <p:cNvPr id="29" name="Image 3" descr="C:\Users\user\AppData\Local\Temp\claude\C--Users-user-Desktop-TOEIC---\46f2443e-6c5b-45fc-8f6e-79718ae21477\scratchpad\business-plan\icons\globe.png">    </p:cNvPr>
          <p:cNvPicPr>
            <a:picLocks noChangeAspect="1"/>
          </p:cNvPicPr>
          <p:nvPr/>
        </p:nvPicPr>
        <p:blipFill>
          <a:blip r:embed="rId4"/>
          <a:stretch>
            <a:fillRect/>
          </a:stretch>
        </p:blipFill>
        <p:spPr>
          <a:xfrm>
            <a:off x="9858375" y="2460879"/>
            <a:ext cx="427482" cy="427482"/>
          </a:xfrm>
          <a:prstGeom prst="rect">
            <a:avLst/>
          </a:prstGeom>
        </p:spPr>
      </p:pic>
      <p:sp>
        <p:nvSpPr>
          <p:cNvPr id="30" name="Text 24"/>
          <p:cNvSpPr/>
          <p:nvPr/>
        </p:nvSpPr>
        <p:spPr>
          <a:xfrm>
            <a:off x="8814816"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4</a:t>
            </a:r>
            <a:endParaRPr lang="en-US" sz="1100" dirty="0"/>
          </a:p>
        </p:txBody>
      </p:sp>
      <p:sp>
        <p:nvSpPr>
          <p:cNvPr id="31" name="Text 25"/>
          <p:cNvSpPr/>
          <p:nvPr/>
        </p:nvSpPr>
        <p:spPr>
          <a:xfrm>
            <a:off x="8906256"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全国の中小企業</a:t>
            </a:r>
            <a:endParaRPr lang="en-US" sz="1400" dirty="0"/>
          </a:p>
        </p:txBody>
      </p:sp>
      <p:sp>
        <p:nvSpPr>
          <p:cNvPr id="32" name="Text 26"/>
          <p:cNvSpPr/>
          <p:nvPr/>
        </p:nvSpPr>
        <p:spPr>
          <a:xfrm>
            <a:off x="8997696"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業種を問わない経営プラットフォームへ成長</a:t>
            </a:r>
            <a:endParaRPr lang="en-US" sz="1050" dirty="0"/>
          </a:p>
        </p:txBody>
      </p:sp>
      <p:sp>
        <p:nvSpPr>
          <p:cNvPr id="33" name="Text 27"/>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4"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3-YEAR FINANCIAL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売上計画（3年間）</a:t>
            </a:r>
            <a:endParaRPr lang="en-US" sz="2900" dirty="0"/>
          </a:p>
        </p:txBody>
      </p:sp>
      <p:graphicFrame>
        <p:nvGraphicFramePr>
          <p:cNvPr id="4" name="Chart 0" descr=""/>
          <p:cNvGraphicFramePr/>
          <p:nvPr/>
        </p:nvGraphicFramePr>
        <p:xfrm>
          <a:off x="502920" y="1691640"/>
          <a:ext cx="6858000" cy="32461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691640"/>
            <a:ext cx="1371600" cy="384048"/>
          </a:xfrm>
          <a:prstGeom prst="rect">
            <a:avLst/>
          </a:prstGeom>
          <a:solidFill>
            <a:srgbClr val="0A1B3D"/>
          </a:solidFill>
          <a:ln w="12700">
            <a:solidFill>
              <a:srgbClr val="FFFFFF"/>
            </a:solidFill>
            <a:prstDash val="solid"/>
          </a:ln>
        </p:spPr>
      </p:sp>
      <p:sp>
        <p:nvSpPr>
          <p:cNvPr id="6" name="Text 3"/>
          <p:cNvSpPr/>
          <p:nvPr/>
        </p:nvSpPr>
        <p:spPr>
          <a:xfrm>
            <a:off x="8138160" y="1691640"/>
            <a:ext cx="1280160" cy="384048"/>
          </a:xfrm>
          <a:prstGeom prst="rect">
            <a:avLst/>
          </a:prstGeom>
          <a:noFill/>
          <a:ln/>
        </p:spPr>
        <p:txBody>
          <a:bodyPr wrap="square" lIns="0" tIns="0" rIns="0" bIns="0" rtlCol="0" anchor="ctr"/>
          <a:lstStyle/>
          <a:p>
            <a:pPr algn="l" indent="0" marL="0">
              <a:buNone/>
            </a:pPr>
            <a:endParaRPr lang="en-US" sz="950" dirty="0"/>
          </a:p>
        </p:txBody>
      </p:sp>
      <p:sp>
        <p:nvSpPr>
          <p:cNvPr id="7" name="Shape 4"/>
          <p:cNvSpPr/>
          <p:nvPr/>
        </p:nvSpPr>
        <p:spPr>
          <a:xfrm>
            <a:off x="9464040" y="1691640"/>
            <a:ext cx="740664" cy="384048"/>
          </a:xfrm>
          <a:prstGeom prst="rect">
            <a:avLst/>
          </a:prstGeom>
          <a:solidFill>
            <a:srgbClr val="0A1B3D"/>
          </a:solidFill>
          <a:ln w="12700">
            <a:solidFill>
              <a:srgbClr val="FFFFFF"/>
            </a:solidFill>
            <a:prstDash val="solid"/>
          </a:ln>
        </p:spPr>
      </p:sp>
      <p:sp>
        <p:nvSpPr>
          <p:cNvPr id="8" name="Text 5"/>
          <p:cNvSpPr/>
          <p:nvPr/>
        </p:nvSpPr>
        <p:spPr>
          <a:xfrm>
            <a:off x="9509760" y="1691640"/>
            <a:ext cx="64922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1</a:t>
            </a:r>
            <a:endParaRPr lang="en-US" sz="950" dirty="0"/>
          </a:p>
        </p:txBody>
      </p:sp>
      <p:sp>
        <p:nvSpPr>
          <p:cNvPr id="9" name="Shape 6"/>
          <p:cNvSpPr/>
          <p:nvPr/>
        </p:nvSpPr>
        <p:spPr>
          <a:xfrm>
            <a:off x="10204704" y="1691640"/>
            <a:ext cx="740664" cy="384048"/>
          </a:xfrm>
          <a:prstGeom prst="rect">
            <a:avLst/>
          </a:prstGeom>
          <a:solidFill>
            <a:srgbClr val="0A1B3D"/>
          </a:solidFill>
          <a:ln w="12700">
            <a:solidFill>
              <a:srgbClr val="FFFFFF"/>
            </a:solidFill>
            <a:prstDash val="solid"/>
          </a:ln>
        </p:spPr>
      </p:sp>
      <p:sp>
        <p:nvSpPr>
          <p:cNvPr id="10" name="Text 7"/>
          <p:cNvSpPr/>
          <p:nvPr/>
        </p:nvSpPr>
        <p:spPr>
          <a:xfrm>
            <a:off x="10250424" y="1691640"/>
            <a:ext cx="64922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2</a:t>
            </a:r>
            <a:endParaRPr lang="en-US" sz="950" dirty="0"/>
          </a:p>
        </p:txBody>
      </p:sp>
      <p:sp>
        <p:nvSpPr>
          <p:cNvPr id="11" name="Shape 8"/>
          <p:cNvSpPr/>
          <p:nvPr/>
        </p:nvSpPr>
        <p:spPr>
          <a:xfrm>
            <a:off x="10945368" y="1691640"/>
            <a:ext cx="740664" cy="384048"/>
          </a:xfrm>
          <a:prstGeom prst="rect">
            <a:avLst/>
          </a:prstGeom>
          <a:solidFill>
            <a:srgbClr val="0A1B3D"/>
          </a:solidFill>
          <a:ln w="12700">
            <a:solidFill>
              <a:srgbClr val="FFFFFF"/>
            </a:solidFill>
            <a:prstDash val="solid"/>
          </a:ln>
        </p:spPr>
      </p:sp>
      <p:sp>
        <p:nvSpPr>
          <p:cNvPr id="12" name="Text 9"/>
          <p:cNvSpPr/>
          <p:nvPr/>
        </p:nvSpPr>
        <p:spPr>
          <a:xfrm>
            <a:off x="10991088" y="1691640"/>
            <a:ext cx="64922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3</a:t>
            </a:r>
            <a:endParaRPr lang="en-US" sz="950" dirty="0"/>
          </a:p>
        </p:txBody>
      </p:sp>
      <p:sp>
        <p:nvSpPr>
          <p:cNvPr id="13" name="Shape 10"/>
          <p:cNvSpPr/>
          <p:nvPr/>
        </p:nvSpPr>
        <p:spPr>
          <a:xfrm>
            <a:off x="8092440" y="2075688"/>
            <a:ext cx="1371600" cy="512064"/>
          </a:xfrm>
          <a:prstGeom prst="rect">
            <a:avLst/>
          </a:prstGeom>
          <a:solidFill>
            <a:srgbClr val="F3F6FA"/>
          </a:solidFill>
          <a:ln w="12700">
            <a:solidFill>
              <a:srgbClr val="FFFFFF"/>
            </a:solidFill>
            <a:prstDash val="solid"/>
          </a:ln>
        </p:spPr>
      </p:sp>
      <p:sp>
        <p:nvSpPr>
          <p:cNvPr id="14" name="Text 11"/>
          <p:cNvSpPr/>
          <p:nvPr/>
        </p:nvSpPr>
        <p:spPr>
          <a:xfrm>
            <a:off x="8138160" y="2075688"/>
            <a:ext cx="1280160" cy="512064"/>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導入社数(累計)</a:t>
            </a:r>
            <a:endParaRPr lang="en-US" sz="950" dirty="0"/>
          </a:p>
        </p:txBody>
      </p:sp>
      <p:sp>
        <p:nvSpPr>
          <p:cNvPr id="15" name="Shape 12"/>
          <p:cNvSpPr/>
          <p:nvPr/>
        </p:nvSpPr>
        <p:spPr>
          <a:xfrm>
            <a:off x="9464040" y="2075688"/>
            <a:ext cx="740664" cy="512064"/>
          </a:xfrm>
          <a:prstGeom prst="rect">
            <a:avLst/>
          </a:prstGeom>
          <a:solidFill>
            <a:srgbClr val="FFFFFF"/>
          </a:solidFill>
          <a:ln w="12700">
            <a:solidFill>
              <a:srgbClr val="FFFFFF"/>
            </a:solidFill>
            <a:prstDash val="solid"/>
          </a:ln>
        </p:spPr>
      </p:sp>
      <p:sp>
        <p:nvSpPr>
          <p:cNvPr id="16" name="Text 13"/>
          <p:cNvSpPr/>
          <p:nvPr/>
        </p:nvSpPr>
        <p:spPr>
          <a:xfrm>
            <a:off x="9509760" y="2075688"/>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3社</a:t>
            </a:r>
            <a:endParaRPr lang="en-US" sz="1050" dirty="0"/>
          </a:p>
        </p:txBody>
      </p:sp>
      <p:sp>
        <p:nvSpPr>
          <p:cNvPr id="17" name="Shape 14"/>
          <p:cNvSpPr/>
          <p:nvPr/>
        </p:nvSpPr>
        <p:spPr>
          <a:xfrm>
            <a:off x="10204704" y="2075688"/>
            <a:ext cx="740664" cy="512064"/>
          </a:xfrm>
          <a:prstGeom prst="rect">
            <a:avLst/>
          </a:prstGeom>
          <a:solidFill>
            <a:srgbClr val="FFFFFF"/>
          </a:solidFill>
          <a:ln w="12700">
            <a:solidFill>
              <a:srgbClr val="FFFFFF"/>
            </a:solidFill>
            <a:prstDash val="solid"/>
          </a:ln>
        </p:spPr>
      </p:sp>
      <p:sp>
        <p:nvSpPr>
          <p:cNvPr id="18" name="Text 15"/>
          <p:cNvSpPr/>
          <p:nvPr/>
        </p:nvSpPr>
        <p:spPr>
          <a:xfrm>
            <a:off x="10250424" y="2075688"/>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15社</a:t>
            </a:r>
            <a:endParaRPr lang="en-US" sz="1050" dirty="0"/>
          </a:p>
        </p:txBody>
      </p:sp>
      <p:sp>
        <p:nvSpPr>
          <p:cNvPr id="19" name="Shape 16"/>
          <p:cNvSpPr/>
          <p:nvPr/>
        </p:nvSpPr>
        <p:spPr>
          <a:xfrm>
            <a:off x="10945368" y="2075688"/>
            <a:ext cx="740664" cy="512064"/>
          </a:xfrm>
          <a:prstGeom prst="rect">
            <a:avLst/>
          </a:prstGeom>
          <a:solidFill>
            <a:srgbClr val="FFFFFF"/>
          </a:solidFill>
          <a:ln w="12700">
            <a:solidFill>
              <a:srgbClr val="FFFFFF"/>
            </a:solidFill>
            <a:prstDash val="solid"/>
          </a:ln>
        </p:spPr>
      </p:sp>
      <p:sp>
        <p:nvSpPr>
          <p:cNvPr id="20" name="Text 17"/>
          <p:cNvSpPr/>
          <p:nvPr/>
        </p:nvSpPr>
        <p:spPr>
          <a:xfrm>
            <a:off x="10991088" y="2075688"/>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40社</a:t>
            </a:r>
            <a:endParaRPr lang="en-US" sz="1050" dirty="0"/>
          </a:p>
        </p:txBody>
      </p:sp>
      <p:sp>
        <p:nvSpPr>
          <p:cNvPr id="21" name="Shape 18"/>
          <p:cNvSpPr/>
          <p:nvPr/>
        </p:nvSpPr>
        <p:spPr>
          <a:xfrm>
            <a:off x="8092440" y="2587752"/>
            <a:ext cx="1371600" cy="512064"/>
          </a:xfrm>
          <a:prstGeom prst="rect">
            <a:avLst/>
          </a:prstGeom>
          <a:solidFill>
            <a:srgbClr val="F3F6FA"/>
          </a:solidFill>
          <a:ln w="12700">
            <a:solidFill>
              <a:srgbClr val="FFFFFF"/>
            </a:solidFill>
            <a:prstDash val="solid"/>
          </a:ln>
        </p:spPr>
      </p:sp>
      <p:sp>
        <p:nvSpPr>
          <p:cNvPr id="22" name="Text 19"/>
          <p:cNvSpPr/>
          <p:nvPr/>
        </p:nvSpPr>
        <p:spPr>
          <a:xfrm>
            <a:off x="8138160" y="2587752"/>
            <a:ext cx="1280160" cy="512064"/>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年間売上高</a:t>
            </a:r>
            <a:endParaRPr lang="en-US" sz="950" dirty="0"/>
          </a:p>
        </p:txBody>
      </p:sp>
      <p:sp>
        <p:nvSpPr>
          <p:cNvPr id="23" name="Shape 20"/>
          <p:cNvSpPr/>
          <p:nvPr/>
        </p:nvSpPr>
        <p:spPr>
          <a:xfrm>
            <a:off x="9464040" y="2587752"/>
            <a:ext cx="740664" cy="512064"/>
          </a:xfrm>
          <a:prstGeom prst="rect">
            <a:avLst/>
          </a:prstGeom>
          <a:solidFill>
            <a:srgbClr val="FAFBFC"/>
          </a:solidFill>
          <a:ln w="12700">
            <a:solidFill>
              <a:srgbClr val="FFFFFF"/>
            </a:solidFill>
            <a:prstDash val="solid"/>
          </a:ln>
        </p:spPr>
      </p:sp>
      <p:sp>
        <p:nvSpPr>
          <p:cNvPr id="24" name="Text 21"/>
          <p:cNvSpPr/>
          <p:nvPr/>
        </p:nvSpPr>
        <p:spPr>
          <a:xfrm>
            <a:off x="9509760" y="2587752"/>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約150万円</a:t>
            </a:r>
            <a:endParaRPr lang="en-US" sz="1050" dirty="0"/>
          </a:p>
        </p:txBody>
      </p:sp>
      <p:sp>
        <p:nvSpPr>
          <p:cNvPr id="25" name="Shape 22"/>
          <p:cNvSpPr/>
          <p:nvPr/>
        </p:nvSpPr>
        <p:spPr>
          <a:xfrm>
            <a:off x="10204704" y="2587752"/>
            <a:ext cx="740664" cy="512064"/>
          </a:xfrm>
          <a:prstGeom prst="rect">
            <a:avLst/>
          </a:prstGeom>
          <a:solidFill>
            <a:srgbClr val="FAFBFC"/>
          </a:solidFill>
          <a:ln w="12700">
            <a:solidFill>
              <a:srgbClr val="FFFFFF"/>
            </a:solidFill>
            <a:prstDash val="solid"/>
          </a:ln>
        </p:spPr>
      </p:sp>
      <p:sp>
        <p:nvSpPr>
          <p:cNvPr id="26" name="Text 23"/>
          <p:cNvSpPr/>
          <p:nvPr/>
        </p:nvSpPr>
        <p:spPr>
          <a:xfrm>
            <a:off x="10250424" y="2587752"/>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約1,200万円</a:t>
            </a:r>
            <a:endParaRPr lang="en-US" sz="1050" dirty="0"/>
          </a:p>
        </p:txBody>
      </p:sp>
      <p:sp>
        <p:nvSpPr>
          <p:cNvPr id="27" name="Shape 24"/>
          <p:cNvSpPr/>
          <p:nvPr/>
        </p:nvSpPr>
        <p:spPr>
          <a:xfrm>
            <a:off x="10945368" y="2587752"/>
            <a:ext cx="740664" cy="512064"/>
          </a:xfrm>
          <a:prstGeom prst="rect">
            <a:avLst/>
          </a:prstGeom>
          <a:solidFill>
            <a:srgbClr val="FAFBFC"/>
          </a:solidFill>
          <a:ln w="12700">
            <a:solidFill>
              <a:srgbClr val="FFFFFF"/>
            </a:solidFill>
            <a:prstDash val="solid"/>
          </a:ln>
        </p:spPr>
      </p:sp>
      <p:sp>
        <p:nvSpPr>
          <p:cNvPr id="28" name="Text 25"/>
          <p:cNvSpPr/>
          <p:nvPr/>
        </p:nvSpPr>
        <p:spPr>
          <a:xfrm>
            <a:off x="10991088" y="2587752"/>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約3,500万円</a:t>
            </a:r>
            <a:endParaRPr lang="en-US" sz="1050" dirty="0"/>
          </a:p>
        </p:txBody>
      </p:sp>
      <p:sp>
        <p:nvSpPr>
          <p:cNvPr id="29" name="Shape 26"/>
          <p:cNvSpPr/>
          <p:nvPr/>
        </p:nvSpPr>
        <p:spPr>
          <a:xfrm>
            <a:off x="8092440" y="3099816"/>
            <a:ext cx="1371600" cy="512064"/>
          </a:xfrm>
          <a:prstGeom prst="rect">
            <a:avLst/>
          </a:prstGeom>
          <a:solidFill>
            <a:srgbClr val="F3F6FA"/>
          </a:solidFill>
          <a:ln w="12700">
            <a:solidFill>
              <a:srgbClr val="FFFFFF"/>
            </a:solidFill>
            <a:prstDash val="solid"/>
          </a:ln>
        </p:spPr>
      </p:sp>
      <p:sp>
        <p:nvSpPr>
          <p:cNvPr id="30" name="Text 27"/>
          <p:cNvSpPr/>
          <p:nvPr/>
        </p:nvSpPr>
        <p:spPr>
          <a:xfrm>
            <a:off x="8138160" y="3099816"/>
            <a:ext cx="1280160" cy="512064"/>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営業利益</a:t>
            </a:r>
            <a:endParaRPr lang="en-US" sz="950" dirty="0"/>
          </a:p>
        </p:txBody>
      </p:sp>
      <p:sp>
        <p:nvSpPr>
          <p:cNvPr id="31" name="Shape 28"/>
          <p:cNvSpPr/>
          <p:nvPr/>
        </p:nvSpPr>
        <p:spPr>
          <a:xfrm>
            <a:off x="9464040" y="3099816"/>
            <a:ext cx="740664" cy="512064"/>
          </a:xfrm>
          <a:prstGeom prst="rect">
            <a:avLst/>
          </a:prstGeom>
          <a:solidFill>
            <a:srgbClr val="FFFFFF"/>
          </a:solidFill>
          <a:ln w="12700">
            <a:solidFill>
              <a:srgbClr val="FFFFFF"/>
            </a:solidFill>
            <a:prstDash val="solid"/>
          </a:ln>
        </p:spPr>
      </p:sp>
      <p:sp>
        <p:nvSpPr>
          <p:cNvPr id="32" name="Text 29"/>
          <p:cNvSpPr/>
          <p:nvPr/>
        </p:nvSpPr>
        <p:spPr>
          <a:xfrm>
            <a:off x="9509760" y="3099816"/>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△800万円</a:t>
            </a:r>
            <a:endParaRPr lang="en-US" sz="1050" dirty="0"/>
          </a:p>
        </p:txBody>
      </p:sp>
      <p:sp>
        <p:nvSpPr>
          <p:cNvPr id="33" name="Shape 30"/>
          <p:cNvSpPr/>
          <p:nvPr/>
        </p:nvSpPr>
        <p:spPr>
          <a:xfrm>
            <a:off x="10204704" y="3099816"/>
            <a:ext cx="740664" cy="512064"/>
          </a:xfrm>
          <a:prstGeom prst="rect">
            <a:avLst/>
          </a:prstGeom>
          <a:solidFill>
            <a:srgbClr val="FFFFFF"/>
          </a:solidFill>
          <a:ln w="12700">
            <a:solidFill>
              <a:srgbClr val="FFFFFF"/>
            </a:solidFill>
            <a:prstDash val="solid"/>
          </a:ln>
        </p:spPr>
      </p:sp>
      <p:sp>
        <p:nvSpPr>
          <p:cNvPr id="34" name="Text 31"/>
          <p:cNvSpPr/>
          <p:nvPr/>
        </p:nvSpPr>
        <p:spPr>
          <a:xfrm>
            <a:off x="10250424" y="3099816"/>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△200万円</a:t>
            </a:r>
            <a:endParaRPr lang="en-US" sz="1050" dirty="0"/>
          </a:p>
        </p:txBody>
      </p:sp>
      <p:sp>
        <p:nvSpPr>
          <p:cNvPr id="35" name="Shape 32"/>
          <p:cNvSpPr/>
          <p:nvPr/>
        </p:nvSpPr>
        <p:spPr>
          <a:xfrm>
            <a:off x="10945368" y="3099816"/>
            <a:ext cx="740664" cy="512064"/>
          </a:xfrm>
          <a:prstGeom prst="rect">
            <a:avLst/>
          </a:prstGeom>
          <a:solidFill>
            <a:srgbClr val="FFFFFF"/>
          </a:solidFill>
          <a:ln w="12700">
            <a:solidFill>
              <a:srgbClr val="FFFFFF"/>
            </a:solidFill>
            <a:prstDash val="solid"/>
          </a:ln>
        </p:spPr>
      </p:sp>
      <p:sp>
        <p:nvSpPr>
          <p:cNvPr id="36" name="Text 33"/>
          <p:cNvSpPr/>
          <p:nvPr/>
        </p:nvSpPr>
        <p:spPr>
          <a:xfrm>
            <a:off x="10991088" y="3099816"/>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約500万円</a:t>
            </a:r>
            <a:endParaRPr lang="en-US" sz="1050" dirty="0"/>
          </a:p>
        </p:txBody>
      </p:sp>
      <p:sp>
        <p:nvSpPr>
          <p:cNvPr id="37" name="Shape 34"/>
          <p:cNvSpPr/>
          <p:nvPr/>
        </p:nvSpPr>
        <p:spPr>
          <a:xfrm>
            <a:off x="8092440" y="3611880"/>
            <a:ext cx="1371600" cy="512064"/>
          </a:xfrm>
          <a:prstGeom prst="rect">
            <a:avLst/>
          </a:prstGeom>
          <a:solidFill>
            <a:srgbClr val="F3F6FA"/>
          </a:solidFill>
          <a:ln w="12700">
            <a:solidFill>
              <a:srgbClr val="FFFFFF"/>
            </a:solidFill>
            <a:prstDash val="solid"/>
          </a:ln>
        </p:spPr>
      </p:sp>
      <p:sp>
        <p:nvSpPr>
          <p:cNvPr id="38" name="Text 35"/>
          <p:cNvSpPr/>
          <p:nvPr/>
        </p:nvSpPr>
        <p:spPr>
          <a:xfrm>
            <a:off x="8138160" y="3611880"/>
            <a:ext cx="1280160" cy="512064"/>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継続率</a:t>
            </a:r>
            <a:endParaRPr lang="en-US" sz="950" dirty="0"/>
          </a:p>
        </p:txBody>
      </p:sp>
      <p:sp>
        <p:nvSpPr>
          <p:cNvPr id="39" name="Shape 36"/>
          <p:cNvSpPr/>
          <p:nvPr/>
        </p:nvSpPr>
        <p:spPr>
          <a:xfrm>
            <a:off x="9464040" y="3611880"/>
            <a:ext cx="740664" cy="512064"/>
          </a:xfrm>
          <a:prstGeom prst="rect">
            <a:avLst/>
          </a:prstGeom>
          <a:solidFill>
            <a:srgbClr val="FAFBFC"/>
          </a:solidFill>
          <a:ln w="12700">
            <a:solidFill>
              <a:srgbClr val="FFFFFF"/>
            </a:solidFill>
            <a:prstDash val="solid"/>
          </a:ln>
        </p:spPr>
      </p:sp>
      <p:sp>
        <p:nvSpPr>
          <p:cNvPr id="40" name="Text 37"/>
          <p:cNvSpPr/>
          <p:nvPr/>
        </p:nvSpPr>
        <p:spPr>
          <a:xfrm>
            <a:off x="9509760" y="3611880"/>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―(β期間)</a:t>
            </a:r>
            <a:endParaRPr lang="en-US" sz="1050" dirty="0"/>
          </a:p>
        </p:txBody>
      </p:sp>
      <p:sp>
        <p:nvSpPr>
          <p:cNvPr id="41" name="Shape 38"/>
          <p:cNvSpPr/>
          <p:nvPr/>
        </p:nvSpPr>
        <p:spPr>
          <a:xfrm>
            <a:off x="10204704" y="3611880"/>
            <a:ext cx="740664" cy="512064"/>
          </a:xfrm>
          <a:prstGeom prst="rect">
            <a:avLst/>
          </a:prstGeom>
          <a:solidFill>
            <a:srgbClr val="FAFBFC"/>
          </a:solidFill>
          <a:ln w="12700">
            <a:solidFill>
              <a:srgbClr val="FFFFFF"/>
            </a:solidFill>
            <a:prstDash val="solid"/>
          </a:ln>
        </p:spPr>
      </p:sp>
      <p:sp>
        <p:nvSpPr>
          <p:cNvPr id="42" name="Text 39"/>
          <p:cNvSpPr/>
          <p:nvPr/>
        </p:nvSpPr>
        <p:spPr>
          <a:xfrm>
            <a:off x="10250424" y="3611880"/>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90%</a:t>
            </a:r>
            <a:endParaRPr lang="en-US" sz="1050" dirty="0"/>
          </a:p>
        </p:txBody>
      </p:sp>
      <p:sp>
        <p:nvSpPr>
          <p:cNvPr id="43" name="Shape 40"/>
          <p:cNvSpPr/>
          <p:nvPr/>
        </p:nvSpPr>
        <p:spPr>
          <a:xfrm>
            <a:off x="10945368" y="3611880"/>
            <a:ext cx="740664" cy="512064"/>
          </a:xfrm>
          <a:prstGeom prst="rect">
            <a:avLst/>
          </a:prstGeom>
          <a:solidFill>
            <a:srgbClr val="FAFBFC"/>
          </a:solidFill>
          <a:ln w="12700">
            <a:solidFill>
              <a:srgbClr val="FFFFFF"/>
            </a:solidFill>
            <a:prstDash val="solid"/>
          </a:ln>
        </p:spPr>
      </p:sp>
      <p:sp>
        <p:nvSpPr>
          <p:cNvPr id="44" name="Text 41"/>
          <p:cNvSpPr/>
          <p:nvPr/>
        </p:nvSpPr>
        <p:spPr>
          <a:xfrm>
            <a:off x="10991088" y="3611880"/>
            <a:ext cx="649224"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93%</a:t>
            </a:r>
            <a:endParaRPr lang="en-US" sz="1050" dirty="0"/>
          </a:p>
        </p:txBody>
      </p:sp>
      <p:sp>
        <p:nvSpPr>
          <p:cNvPr id="45" name="Text 42"/>
          <p:cNvSpPr/>
          <p:nvPr/>
        </p:nvSpPr>
        <p:spPr>
          <a:xfrm>
            <a:off x="8092440" y="4261104"/>
            <a:ext cx="3593592" cy="1005840"/>
          </a:xfrm>
          <a:prstGeom prst="rect">
            <a:avLst/>
          </a:prstGeom>
          <a:noFill/>
          <a:ln/>
        </p:spPr>
        <p:txBody>
          <a:bodyPr wrap="square" lIns="0" tIns="0" rIns="0" bIns="0" rtlCol="0" anchor="ctr"/>
          <a:lstStyle/>
          <a:p>
            <a:pPr indent="0" marL="0">
              <a:lnSpc>
                <a:spcPct val="115000"/>
              </a:lnSpc>
              <a:buNone/>
            </a:pPr>
            <a:r>
              <a:rPr lang="en-US" sz="850" i="1" dirty="0">
                <a:solidFill>
                  <a:srgbClr val="64748B"/>
                </a:solidFill>
                <a:latin typeface="Calibri" pitchFamily="34" charset="0"/>
                <a:ea typeface="Calibri" pitchFamily="34" charset="-122"/>
                <a:cs typeface="Calibri" pitchFamily="34" charset="-120"/>
              </a:rPr>
              <a:t>※ 本計画は現時点の仮説に基づく試算です（月額平均単価を目安として算出）。正式な単価・契約条件の確定後、改めて見直します。無理な成長率は見込まず、Year1を先行投資期間、Year3での黒字化を目標とする保守的な前提としています。</a:t>
            </a:r>
            <a:endParaRPr lang="en-US" sz="850" dirty="0"/>
          </a:p>
        </p:txBody>
      </p:sp>
      <p:sp>
        <p:nvSpPr>
          <p:cNvPr id="46" name="Text 4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47" name="Text 4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USE OF FUNDS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資金使途</a:t>
            </a:r>
            <a:endParaRPr lang="en-US" sz="3000" dirty="0"/>
          </a:p>
        </p:txBody>
      </p:sp>
      <p:graphicFrame>
        <p:nvGraphicFramePr>
          <p:cNvPr id="4" name="Chart 0" descr=""/>
          <p:cNvGraphicFramePr/>
          <p:nvPr/>
        </p:nvGraphicFramePr>
        <p:xfrm>
          <a:off x="50292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746504"/>
            <a:ext cx="502920" cy="502920"/>
          </a:xfrm>
          <a:prstGeom prst="ellipse">
            <a:avLst/>
          </a:prstGeom>
          <a:solidFill>
            <a:srgbClr val="F3F6FA"/>
          </a:solidFill>
          <a:ln/>
        </p:spPr>
      </p:sp>
      <p:pic>
        <p:nvPicPr>
          <p:cNvPr id="6" name="Image 0" descr="C:\Users\user\AppData\Local\Temp\claude\C--Users-user-Desktop-TOEIC---\46f2443e-6c5b-45fc-8f6e-79718ae21477\scratchpad\business-plan\icons\brain.png">    </p:cNvPr>
          <p:cNvPicPr>
            <a:picLocks noChangeAspect="1"/>
          </p:cNvPicPr>
          <p:nvPr/>
        </p:nvPicPr>
        <p:blipFill>
          <a:blip r:embed="rId2"/>
          <a:stretch>
            <a:fillRect/>
          </a:stretch>
        </p:blipFill>
        <p:spPr>
          <a:xfrm>
            <a:off x="6572250" y="1872234"/>
            <a:ext cx="251460" cy="251460"/>
          </a:xfrm>
          <a:prstGeom prst="rect">
            <a:avLst/>
          </a:prstGeom>
        </p:spPr>
      </p:pic>
      <p:sp>
        <p:nvSpPr>
          <p:cNvPr id="7" name="Text 3"/>
          <p:cNvSpPr/>
          <p:nvPr/>
        </p:nvSpPr>
        <p:spPr>
          <a:xfrm>
            <a:off x="7132320" y="1691640"/>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開発費 35%</a:t>
            </a:r>
            <a:endParaRPr lang="en-US" sz="1200" dirty="0"/>
          </a:p>
        </p:txBody>
      </p:sp>
      <p:sp>
        <p:nvSpPr>
          <p:cNvPr id="8" name="Text 4"/>
          <p:cNvSpPr/>
          <p:nvPr/>
        </p:nvSpPr>
        <p:spPr>
          <a:xfrm>
            <a:off x="7132320" y="1947672"/>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AI機能の開発・プロダクト改善、業種特化テンプレートの拡充</a:t>
            </a:r>
            <a:endParaRPr lang="en-US" sz="1000" dirty="0"/>
          </a:p>
        </p:txBody>
      </p:sp>
      <p:sp>
        <p:nvSpPr>
          <p:cNvPr id="9" name="Shape 5"/>
          <p:cNvSpPr/>
          <p:nvPr/>
        </p:nvSpPr>
        <p:spPr>
          <a:xfrm>
            <a:off x="6446520" y="2532888"/>
            <a:ext cx="502920" cy="502920"/>
          </a:xfrm>
          <a:prstGeom prst="ellipse">
            <a:avLst/>
          </a:prstGeom>
          <a:solidFill>
            <a:srgbClr val="F3F6FA"/>
          </a:solidFill>
          <a:ln/>
        </p:spPr>
      </p:sp>
      <p:pic>
        <p:nvPicPr>
          <p:cNvPr id="10" name="Image 1" descr="C:\Users\user\AppData\Local\Temp\claude\C--Users-user-Desktop-TOEIC---\46f2443e-6c5b-45fc-8f6e-79718ae21477\scratchpad\business-plan\icons\server.png">    </p:cNvPr>
          <p:cNvPicPr>
            <a:picLocks noChangeAspect="1"/>
          </p:cNvPicPr>
          <p:nvPr/>
        </p:nvPicPr>
        <p:blipFill>
          <a:blip r:embed="rId3"/>
          <a:stretch>
            <a:fillRect/>
          </a:stretch>
        </p:blipFill>
        <p:spPr>
          <a:xfrm>
            <a:off x="6572250" y="2658618"/>
            <a:ext cx="251460" cy="251460"/>
          </a:xfrm>
          <a:prstGeom prst="rect">
            <a:avLst/>
          </a:prstGeom>
        </p:spPr>
      </p:pic>
      <p:sp>
        <p:nvSpPr>
          <p:cNvPr id="11" name="Text 6"/>
          <p:cNvSpPr/>
          <p:nvPr/>
        </p:nvSpPr>
        <p:spPr>
          <a:xfrm>
            <a:off x="7132320" y="2478024"/>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サーバー・インフラ費 15%</a:t>
            </a:r>
            <a:endParaRPr lang="en-US" sz="1200" dirty="0"/>
          </a:p>
        </p:txBody>
      </p:sp>
      <p:sp>
        <p:nvSpPr>
          <p:cNvPr id="12" name="Text 7"/>
          <p:cNvSpPr/>
          <p:nvPr/>
        </p:nvSpPr>
        <p:spPr>
          <a:xfrm>
            <a:off x="7132320" y="2734056"/>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 API利用料、ホスティング・セキュリティ関連費用</a:t>
            </a:r>
            <a:endParaRPr lang="en-US" sz="1000" dirty="0"/>
          </a:p>
        </p:txBody>
      </p:sp>
      <p:sp>
        <p:nvSpPr>
          <p:cNvPr id="13" name="Shape 8"/>
          <p:cNvSpPr/>
          <p:nvPr/>
        </p:nvSpPr>
        <p:spPr>
          <a:xfrm>
            <a:off x="6446520" y="3319272"/>
            <a:ext cx="502920" cy="502920"/>
          </a:xfrm>
          <a:prstGeom prst="ellipse">
            <a:avLst/>
          </a:prstGeom>
          <a:solidFill>
            <a:srgbClr val="F3F6FA"/>
          </a:solidFill>
          <a:ln/>
        </p:spPr>
      </p:sp>
      <p:pic>
        <p:nvPicPr>
          <p:cNvPr id="14" name="Image 2"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6572250" y="3445002"/>
            <a:ext cx="251460" cy="251460"/>
          </a:xfrm>
          <a:prstGeom prst="rect">
            <a:avLst/>
          </a:prstGeom>
        </p:spPr>
      </p:pic>
      <p:sp>
        <p:nvSpPr>
          <p:cNvPr id="15" name="Text 9"/>
          <p:cNvSpPr/>
          <p:nvPr/>
        </p:nvSpPr>
        <p:spPr>
          <a:xfrm>
            <a:off x="7132320" y="3264408"/>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営業費 20%</a:t>
            </a:r>
            <a:endParaRPr lang="en-US" sz="1200" dirty="0"/>
          </a:p>
        </p:txBody>
      </p:sp>
      <p:sp>
        <p:nvSpPr>
          <p:cNvPr id="16" name="Text 10"/>
          <p:cNvSpPr/>
          <p:nvPr/>
        </p:nvSpPr>
        <p:spPr>
          <a:xfrm>
            <a:off x="7132320" y="3520440"/>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営業人員の確保、導入企業へのオンボーディング支援</a:t>
            </a:r>
            <a:endParaRPr lang="en-US" sz="1000" dirty="0"/>
          </a:p>
        </p:txBody>
      </p:sp>
      <p:sp>
        <p:nvSpPr>
          <p:cNvPr id="17" name="Shape 11"/>
          <p:cNvSpPr/>
          <p:nvPr/>
        </p:nvSpPr>
        <p:spPr>
          <a:xfrm>
            <a:off x="6446520" y="4105656"/>
            <a:ext cx="502920" cy="502920"/>
          </a:xfrm>
          <a:prstGeom prst="ellipse">
            <a:avLst/>
          </a:prstGeom>
          <a:solidFill>
            <a:srgbClr val="F3F6FA"/>
          </a:solidFill>
          <a:ln/>
        </p:spPr>
      </p:sp>
      <p:pic>
        <p:nvPicPr>
          <p:cNvPr id="18" name="Image 3"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6572250" y="4231386"/>
            <a:ext cx="251460" cy="251460"/>
          </a:xfrm>
          <a:prstGeom prst="rect">
            <a:avLst/>
          </a:prstGeom>
        </p:spPr>
      </p:pic>
      <p:sp>
        <p:nvSpPr>
          <p:cNvPr id="19" name="Text 12"/>
          <p:cNvSpPr/>
          <p:nvPr/>
        </p:nvSpPr>
        <p:spPr>
          <a:xfrm>
            <a:off x="7132320" y="4050792"/>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広告宣伝費 15%</a:t>
            </a:r>
            <a:endParaRPr lang="en-US" sz="1200" dirty="0"/>
          </a:p>
        </p:txBody>
      </p:sp>
      <p:sp>
        <p:nvSpPr>
          <p:cNvPr id="20" name="Text 13"/>
          <p:cNvSpPr/>
          <p:nvPr/>
        </p:nvSpPr>
        <p:spPr>
          <a:xfrm>
            <a:off x="7132320" y="4306824"/>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Webマーケティング、展示会等の販路開拓活動</a:t>
            </a:r>
            <a:endParaRPr lang="en-US" sz="1000" dirty="0"/>
          </a:p>
        </p:txBody>
      </p:sp>
      <p:sp>
        <p:nvSpPr>
          <p:cNvPr id="21" name="Shape 14"/>
          <p:cNvSpPr/>
          <p:nvPr/>
        </p:nvSpPr>
        <p:spPr>
          <a:xfrm>
            <a:off x="6446520" y="4892040"/>
            <a:ext cx="502920" cy="502920"/>
          </a:xfrm>
          <a:prstGeom prst="ellipse">
            <a:avLst/>
          </a:prstGeom>
          <a:solidFill>
            <a:srgbClr val="F3F6FA"/>
          </a:solidFill>
          <a:ln/>
        </p:spPr>
      </p:sp>
      <p:pic>
        <p:nvPicPr>
          <p:cNvPr id="22" name="Image 4" descr="C:\Users\user\AppData\Local\Temp\claude\C--Users-user-Desktop-TOEIC---\46f2443e-6c5b-45fc-8f6e-79718ae21477\scratchpad\business-plan\icons\wallet.png">    </p:cNvPr>
          <p:cNvPicPr>
            <a:picLocks noChangeAspect="1"/>
          </p:cNvPicPr>
          <p:nvPr/>
        </p:nvPicPr>
        <p:blipFill>
          <a:blip r:embed="rId6"/>
          <a:stretch>
            <a:fillRect/>
          </a:stretch>
        </p:blipFill>
        <p:spPr>
          <a:xfrm>
            <a:off x="6572250" y="5017770"/>
            <a:ext cx="251460" cy="251460"/>
          </a:xfrm>
          <a:prstGeom prst="rect">
            <a:avLst/>
          </a:prstGeom>
        </p:spPr>
      </p:pic>
      <p:sp>
        <p:nvSpPr>
          <p:cNvPr id="23" name="Text 15"/>
          <p:cNvSpPr/>
          <p:nvPr/>
        </p:nvSpPr>
        <p:spPr>
          <a:xfrm>
            <a:off x="7132320" y="4837176"/>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運転資金 15%</a:t>
            </a:r>
            <a:endParaRPr lang="en-US" sz="1200" dirty="0"/>
          </a:p>
        </p:txBody>
      </p:sp>
      <p:sp>
        <p:nvSpPr>
          <p:cNvPr id="24" name="Text 16"/>
          <p:cNvSpPr/>
          <p:nvPr/>
        </p:nvSpPr>
        <p:spPr>
          <a:xfrm>
            <a:off x="7132320" y="5093208"/>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事業拡大に伴う運転資金、予備費</a:t>
            </a:r>
            <a:endParaRPr lang="en-US" sz="1000" dirty="0"/>
          </a:p>
        </p:txBody>
      </p:sp>
      <p:sp>
        <p:nvSpPr>
          <p:cNvPr id="25" name="Text 17"/>
          <p:cNvSpPr/>
          <p:nvPr/>
        </p:nvSpPr>
        <p:spPr>
          <a:xfrm>
            <a:off x="502920" y="6080760"/>
            <a:ext cx="11185855"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具体的な調達希望額は、事業進捗・資金計画の精査を踏まえて別途ご相談させていただきます。上記は使途の配分比率を示すものです。</a:t>
            </a:r>
            <a:endParaRPr lang="en-US" sz="950" dirty="0"/>
          </a:p>
        </p:txBody>
      </p:sp>
      <p:sp>
        <p:nvSpPr>
          <p:cNvPr id="26"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27"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PRODUCT ROADMAP</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開発ロードマップ</a:t>
            </a:r>
            <a:endParaRPr lang="en-US" sz="3000" dirty="0"/>
          </a:p>
        </p:txBody>
      </p:sp>
      <p:sp>
        <p:nvSpPr>
          <p:cNvPr id="4" name="Shape 2"/>
          <p:cNvSpPr/>
          <p:nvPr/>
        </p:nvSpPr>
        <p:spPr>
          <a:xfrm>
            <a:off x="1051560" y="3017520"/>
            <a:ext cx="10088575" cy="0"/>
          </a:xfrm>
          <a:prstGeom prst="line">
            <a:avLst/>
          </a:prstGeom>
          <a:noFill/>
          <a:ln w="38100">
            <a:solidFill>
              <a:srgbClr val="F3F6FA"/>
            </a:solidFill>
            <a:prstDash val="solid"/>
          </a:ln>
        </p:spPr>
      </p:sp>
      <p:sp>
        <p:nvSpPr>
          <p:cNvPr id="5" name="Shape 3"/>
          <p:cNvSpPr/>
          <p:nvPr/>
        </p:nvSpPr>
        <p:spPr>
          <a:xfrm>
            <a:off x="1493490" y="2889504"/>
            <a:ext cx="256032" cy="256032"/>
          </a:xfrm>
          <a:prstGeom prst="ellipse">
            <a:avLst/>
          </a:prstGeom>
          <a:solidFill>
            <a:srgbClr val="2563EB"/>
          </a:solidFill>
          <a:ln w="25400">
            <a:solidFill>
              <a:srgbClr val="FFFFFF"/>
            </a:solidFill>
            <a:prstDash val="solid"/>
          </a:ln>
        </p:spPr>
      </p:sp>
      <p:sp>
        <p:nvSpPr>
          <p:cNvPr id="6" name="Text 4"/>
          <p:cNvSpPr/>
          <p:nvPr/>
        </p:nvSpPr>
        <p:spPr>
          <a:xfrm>
            <a:off x="594360"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a:t>
            </a:r>
            <a:endParaRPr lang="en-US" sz="1200" dirty="0"/>
          </a:p>
        </p:txBody>
      </p:sp>
      <p:sp>
        <p:nvSpPr>
          <p:cNvPr id="7" name="Shape 5"/>
          <p:cNvSpPr/>
          <p:nvPr/>
        </p:nvSpPr>
        <p:spPr>
          <a:xfrm>
            <a:off x="594360"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8" name="Text 6"/>
          <p:cNvSpPr/>
          <p:nvPr/>
        </p:nvSpPr>
        <p:spPr>
          <a:xfrm>
            <a:off x="731520"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ホームページ公開</a:t>
            </a:r>
            <a:endParaRPr lang="en-US" sz="1200" dirty="0"/>
          </a:p>
        </p:txBody>
      </p:sp>
      <p:sp>
        <p:nvSpPr>
          <p:cNvPr id="9" name="Text 7"/>
          <p:cNvSpPr/>
          <p:nvPr/>
        </p:nvSpPr>
        <p:spPr>
          <a:xfrm>
            <a:off x="704088"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コーポレートサイト・問い合わせ基盤の整備</a:t>
            </a:r>
            <a:endParaRPr lang="en-US" sz="950" dirty="0"/>
          </a:p>
        </p:txBody>
      </p:sp>
      <p:sp>
        <p:nvSpPr>
          <p:cNvPr id="10" name="Shape 8"/>
          <p:cNvSpPr/>
          <p:nvPr/>
        </p:nvSpPr>
        <p:spPr>
          <a:xfrm>
            <a:off x="3730661" y="2889504"/>
            <a:ext cx="256032" cy="256032"/>
          </a:xfrm>
          <a:prstGeom prst="ellipse">
            <a:avLst/>
          </a:prstGeom>
          <a:solidFill>
            <a:srgbClr val="0A1B3D"/>
          </a:solidFill>
          <a:ln w="25400">
            <a:solidFill>
              <a:srgbClr val="FFFFFF"/>
            </a:solidFill>
            <a:prstDash val="solid"/>
          </a:ln>
        </p:spPr>
      </p:sp>
      <p:sp>
        <p:nvSpPr>
          <p:cNvPr id="11" name="Text 9"/>
          <p:cNvSpPr/>
          <p:nvPr/>
        </p:nvSpPr>
        <p:spPr>
          <a:xfrm>
            <a:off x="2831531"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2026-2027</a:t>
            </a:r>
            <a:endParaRPr lang="en-US" sz="1200" dirty="0"/>
          </a:p>
        </p:txBody>
      </p:sp>
      <p:sp>
        <p:nvSpPr>
          <p:cNvPr id="12" name="Shape 10"/>
          <p:cNvSpPr/>
          <p:nvPr/>
        </p:nvSpPr>
        <p:spPr>
          <a:xfrm>
            <a:off x="2831531"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3" name="Text 11"/>
          <p:cNvSpPr/>
          <p:nvPr/>
        </p:nvSpPr>
        <p:spPr>
          <a:xfrm>
            <a:off x="2968691"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正式販売開始</a:t>
            </a:r>
            <a:endParaRPr lang="en-US" sz="1200" dirty="0"/>
          </a:p>
        </p:txBody>
      </p:sp>
      <p:sp>
        <p:nvSpPr>
          <p:cNvPr id="14" name="Text 12"/>
          <p:cNvSpPr/>
          <p:nvPr/>
        </p:nvSpPr>
        <p:spPr>
          <a:xfrm>
            <a:off x="2941259"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不動産会社を起点にSmart Labo Worksの提供を開始</a:t>
            </a:r>
            <a:endParaRPr lang="en-US" sz="950" dirty="0"/>
          </a:p>
        </p:txBody>
      </p:sp>
      <p:sp>
        <p:nvSpPr>
          <p:cNvPr id="15" name="Shape 13"/>
          <p:cNvSpPr/>
          <p:nvPr/>
        </p:nvSpPr>
        <p:spPr>
          <a:xfrm>
            <a:off x="5967832" y="2889504"/>
            <a:ext cx="256032" cy="256032"/>
          </a:xfrm>
          <a:prstGeom prst="ellipse">
            <a:avLst/>
          </a:prstGeom>
          <a:solidFill>
            <a:srgbClr val="0A1B3D"/>
          </a:solidFill>
          <a:ln w="25400">
            <a:solidFill>
              <a:srgbClr val="FFFFFF"/>
            </a:solidFill>
            <a:prstDash val="solid"/>
          </a:ln>
        </p:spPr>
      </p:sp>
      <p:sp>
        <p:nvSpPr>
          <p:cNvPr id="16" name="Text 14"/>
          <p:cNvSpPr/>
          <p:nvPr/>
        </p:nvSpPr>
        <p:spPr>
          <a:xfrm>
            <a:off x="5068702"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a:t>
            </a:r>
            <a:endParaRPr lang="en-US" sz="1200" dirty="0"/>
          </a:p>
        </p:txBody>
      </p:sp>
      <p:sp>
        <p:nvSpPr>
          <p:cNvPr id="17" name="Shape 15"/>
          <p:cNvSpPr/>
          <p:nvPr/>
        </p:nvSpPr>
        <p:spPr>
          <a:xfrm>
            <a:off x="5068702"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8" name="Text 16"/>
          <p:cNvSpPr/>
          <p:nvPr/>
        </p:nvSpPr>
        <p:spPr>
          <a:xfrm>
            <a:off x="5205862"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AIチャット機能の実装</a:t>
            </a:r>
            <a:endParaRPr lang="en-US" sz="1200" dirty="0"/>
          </a:p>
        </p:txBody>
      </p:sp>
      <p:sp>
        <p:nvSpPr>
          <p:cNvPr id="19" name="Text 17"/>
          <p:cNvSpPr/>
          <p:nvPr/>
        </p:nvSpPr>
        <p:spPr>
          <a:xfrm>
            <a:off x="5178430"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Smart AI Routerを本番接続し、実際のAI応答を提供</a:t>
            </a:r>
            <a:endParaRPr lang="en-US" sz="950" dirty="0"/>
          </a:p>
        </p:txBody>
      </p:sp>
      <p:sp>
        <p:nvSpPr>
          <p:cNvPr id="20" name="Shape 18"/>
          <p:cNvSpPr/>
          <p:nvPr/>
        </p:nvSpPr>
        <p:spPr>
          <a:xfrm>
            <a:off x="8205003" y="2889504"/>
            <a:ext cx="256032" cy="256032"/>
          </a:xfrm>
          <a:prstGeom prst="ellipse">
            <a:avLst/>
          </a:prstGeom>
          <a:solidFill>
            <a:srgbClr val="0A1B3D"/>
          </a:solidFill>
          <a:ln w="25400">
            <a:solidFill>
              <a:srgbClr val="FFFFFF"/>
            </a:solidFill>
            <a:prstDash val="solid"/>
          </a:ln>
        </p:spPr>
      </p:sp>
      <p:sp>
        <p:nvSpPr>
          <p:cNvPr id="21" name="Text 19"/>
          <p:cNvSpPr/>
          <p:nvPr/>
        </p:nvSpPr>
        <p:spPr>
          <a:xfrm>
            <a:off x="7305873"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2027-2028</a:t>
            </a:r>
            <a:endParaRPr lang="en-US" sz="1200" dirty="0"/>
          </a:p>
        </p:txBody>
      </p:sp>
      <p:sp>
        <p:nvSpPr>
          <p:cNvPr id="22" name="Shape 20"/>
          <p:cNvSpPr/>
          <p:nvPr/>
        </p:nvSpPr>
        <p:spPr>
          <a:xfrm>
            <a:off x="7305873"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3" name="Text 21"/>
          <p:cNvSpPr/>
          <p:nvPr/>
        </p:nvSpPr>
        <p:spPr>
          <a:xfrm>
            <a:off x="7443033"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app.smartlaboworks.com</a:t>
            </a:r>
            <a:endParaRPr lang="en-US" sz="1200" dirty="0"/>
          </a:p>
        </p:txBody>
      </p:sp>
      <p:sp>
        <p:nvSpPr>
          <p:cNvPr id="24" name="Text 22"/>
          <p:cNvSpPr/>
          <p:nvPr/>
        </p:nvSpPr>
        <p:spPr>
          <a:xfrm>
            <a:off x="7415601"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プラットフォーム本体の一般提供を開始</a:t>
            </a:r>
            <a:endParaRPr lang="en-US" sz="950" dirty="0"/>
          </a:p>
        </p:txBody>
      </p:sp>
      <p:sp>
        <p:nvSpPr>
          <p:cNvPr id="25" name="Shape 23"/>
          <p:cNvSpPr/>
          <p:nvPr/>
        </p:nvSpPr>
        <p:spPr>
          <a:xfrm>
            <a:off x="10442174" y="2889504"/>
            <a:ext cx="256032" cy="256032"/>
          </a:xfrm>
          <a:prstGeom prst="ellipse">
            <a:avLst/>
          </a:prstGeom>
          <a:solidFill>
            <a:srgbClr val="0A1B3D"/>
          </a:solidFill>
          <a:ln w="25400">
            <a:solidFill>
              <a:srgbClr val="FFFFFF"/>
            </a:solidFill>
            <a:prstDash val="solid"/>
          </a:ln>
        </p:spPr>
      </p:sp>
      <p:sp>
        <p:nvSpPr>
          <p:cNvPr id="26" name="Text 24"/>
          <p:cNvSpPr/>
          <p:nvPr/>
        </p:nvSpPr>
        <p:spPr>
          <a:xfrm>
            <a:off x="9543044"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2028以降</a:t>
            </a:r>
            <a:endParaRPr lang="en-US" sz="1200" dirty="0"/>
          </a:p>
        </p:txBody>
      </p:sp>
      <p:sp>
        <p:nvSpPr>
          <p:cNvPr id="27" name="Shape 25"/>
          <p:cNvSpPr/>
          <p:nvPr/>
        </p:nvSpPr>
        <p:spPr>
          <a:xfrm>
            <a:off x="9543044"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8" name="Text 26"/>
          <p:cNvSpPr/>
          <p:nvPr/>
        </p:nvSpPr>
        <p:spPr>
          <a:xfrm>
            <a:off x="9680204"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 Company Platformへ</a:t>
            </a:r>
            <a:endParaRPr lang="en-US" sz="1200" dirty="0"/>
          </a:p>
        </p:txBody>
      </p:sp>
      <p:sp>
        <p:nvSpPr>
          <p:cNvPr id="29" name="Text 27"/>
          <p:cNvSpPr/>
          <p:nvPr/>
        </p:nvSpPr>
        <p:spPr>
          <a:xfrm>
            <a:off x="9652772"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業種を横断する経営プラットフォームとして展開</a:t>
            </a:r>
            <a:endParaRPr lang="en-US" sz="95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31"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FOUNDER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代表者プロフィール</a:t>
            </a:r>
            <a:endParaRPr lang="en-US" sz="2900" dirty="0"/>
          </a:p>
        </p:txBody>
      </p:sp>
      <p:sp>
        <p:nvSpPr>
          <p:cNvPr id="4" name="Shape 2"/>
          <p:cNvSpPr/>
          <p:nvPr/>
        </p:nvSpPr>
        <p:spPr>
          <a:xfrm>
            <a:off x="502920" y="1783080"/>
            <a:ext cx="3108960" cy="4160520"/>
          </a:xfrm>
          <a:prstGeom prst="roundRect">
            <a:avLst>
              <a:gd name="adj" fmla="val 2353"/>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463040" y="2286000"/>
            <a:ext cx="1188720" cy="1188720"/>
          </a:xfrm>
          <a:prstGeom prst="ellipse">
            <a:avLst/>
          </a:prstGeom>
          <a:solidFill>
            <a:srgbClr val="FFFFFF"/>
          </a:solidFill>
          <a:ln/>
        </p:spPr>
      </p:sp>
      <p:pic>
        <p:nvPicPr>
          <p:cNvPr id="6" name="Image 0" descr="C:\Users\user\AppData\Local\Temp\claude\C--Users-user-Desktop-TOEIC---\46f2443e-6c5b-45fc-8f6e-79718ae21477\scratchpad\business-plan\icons\usertie.png">    </p:cNvPr>
          <p:cNvPicPr>
            <a:picLocks noChangeAspect="1"/>
          </p:cNvPicPr>
          <p:nvPr/>
        </p:nvPicPr>
        <p:blipFill>
          <a:blip r:embed="rId1"/>
          <a:stretch>
            <a:fillRect/>
          </a:stretch>
        </p:blipFill>
        <p:spPr>
          <a:xfrm>
            <a:off x="1730502" y="2553462"/>
            <a:ext cx="653796" cy="653796"/>
          </a:xfrm>
          <a:prstGeom prst="rect">
            <a:avLst/>
          </a:prstGeom>
        </p:spPr>
      </p:pic>
      <p:sp>
        <p:nvSpPr>
          <p:cNvPr id="7" name="Text 4"/>
          <p:cNvSpPr/>
          <p:nvPr/>
        </p:nvSpPr>
        <p:spPr>
          <a:xfrm>
            <a:off x="502920" y="3657600"/>
            <a:ext cx="310896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[代表者写真]</a:t>
            </a:r>
            <a:endParaRPr lang="en-US" sz="1050" dirty="0"/>
          </a:p>
        </p:txBody>
      </p:sp>
      <p:sp>
        <p:nvSpPr>
          <p:cNvPr id="8" name="Shape 5"/>
          <p:cNvSpPr/>
          <p:nvPr/>
        </p:nvSpPr>
        <p:spPr>
          <a:xfrm>
            <a:off x="777240" y="4114800"/>
            <a:ext cx="2560320" cy="868680"/>
          </a:xfrm>
          <a:prstGeom prst="roundRect">
            <a:avLst>
              <a:gd name="adj" fmla="val 6316"/>
            </a:avLst>
          </a:prstGeom>
          <a:solidFill>
            <a:srgbClr val="FDEDEC"/>
          </a:solidFill>
          <a:ln/>
        </p:spPr>
      </p:sp>
      <p:sp>
        <p:nvSpPr>
          <p:cNvPr id="9" name="Text 6"/>
          <p:cNvSpPr/>
          <p:nvPr/>
        </p:nvSpPr>
        <p:spPr>
          <a:xfrm>
            <a:off x="868680" y="4206240"/>
            <a:ext cx="2377440" cy="3200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[代表者名：CEO記入]</a:t>
            </a:r>
            <a:endParaRPr lang="en-US" sz="1300" dirty="0"/>
          </a:p>
        </p:txBody>
      </p:sp>
      <p:sp>
        <p:nvSpPr>
          <p:cNvPr id="10" name="Text 7"/>
          <p:cNvSpPr/>
          <p:nvPr/>
        </p:nvSpPr>
        <p:spPr>
          <a:xfrm>
            <a:off x="868680" y="4572000"/>
            <a:ext cx="23774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代表取締役</a:t>
            </a:r>
            <a:endParaRPr lang="en-US" sz="1100" dirty="0"/>
          </a:p>
        </p:txBody>
      </p:sp>
      <p:sp>
        <p:nvSpPr>
          <p:cNvPr id="11" name="Shape 8"/>
          <p:cNvSpPr/>
          <p:nvPr/>
        </p:nvSpPr>
        <p:spPr>
          <a:xfrm>
            <a:off x="4023360" y="1783080"/>
            <a:ext cx="7665415" cy="1188720"/>
          </a:xfrm>
          <a:prstGeom prst="roundRect">
            <a:avLst>
              <a:gd name="adj" fmla="val 6154"/>
            </a:avLst>
          </a:prstGeom>
          <a:solidFill>
            <a:srgbClr val="0A1B3D"/>
          </a:solidFill>
          <a:ln/>
        </p:spPr>
      </p:sp>
      <p:sp>
        <p:nvSpPr>
          <p:cNvPr id="12" name="Shape 9"/>
          <p:cNvSpPr/>
          <p:nvPr/>
        </p:nvSpPr>
        <p:spPr>
          <a:xfrm>
            <a:off x="4251960" y="2002536"/>
            <a:ext cx="457200" cy="457200"/>
          </a:xfrm>
          <a:prstGeom prst="ellipse">
            <a:avLst/>
          </a:prstGeom>
          <a:solidFill>
            <a:srgbClr val="2563EB"/>
          </a:solidFill>
          <a:ln/>
        </p:spPr>
      </p:sp>
      <p:pic>
        <p:nvPicPr>
          <p:cNvPr id="13" name="Image 1" descr="C:\Users\user\AppData\Local\Temp\claude\C--Users-user-Desktop-TOEIC---\46f2443e-6c5b-45fc-8f6e-79718ae21477\scratchpad\business-plan\icons\quote.png">    </p:cNvPr>
          <p:cNvPicPr>
            <a:picLocks noChangeAspect="1"/>
          </p:cNvPicPr>
          <p:nvPr/>
        </p:nvPicPr>
        <p:blipFill>
          <a:blip r:embed="rId2"/>
          <a:stretch>
            <a:fillRect/>
          </a:stretch>
        </p:blipFill>
        <p:spPr>
          <a:xfrm>
            <a:off x="4366260" y="2116836"/>
            <a:ext cx="228600" cy="228600"/>
          </a:xfrm>
          <a:prstGeom prst="rect">
            <a:avLst/>
          </a:prstGeom>
        </p:spPr>
      </p:pic>
      <p:sp>
        <p:nvSpPr>
          <p:cNvPr id="14" name="Text 10"/>
          <p:cNvSpPr/>
          <p:nvPr/>
        </p:nvSpPr>
        <p:spPr>
          <a:xfrm>
            <a:off x="4892040" y="1911096"/>
            <a:ext cx="6568135" cy="960120"/>
          </a:xfrm>
          <a:prstGeom prst="rect">
            <a:avLst/>
          </a:prstGeom>
          <a:noFill/>
          <a:ln/>
        </p:spPr>
        <p:txBody>
          <a:bodyPr wrap="square" lIns="0" tIns="0" rIns="0" bIns="0"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「Smart Laboは AI を売る会社ではない。社長が本来の仕事に集中できる時間をつくる会社である。デザインも、システムも、営業も、すべてこの考え方を軸に判断する。」</a:t>
            </a:r>
            <a:endParaRPr lang="en-US" sz="1150" dirty="0"/>
          </a:p>
        </p:txBody>
      </p:sp>
      <p:sp>
        <p:nvSpPr>
          <p:cNvPr id="15" name="Text 11"/>
          <p:cNvSpPr/>
          <p:nvPr/>
        </p:nvSpPr>
        <p:spPr>
          <a:xfrm>
            <a:off x="4023360" y="3200400"/>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経歴</a:t>
            </a:r>
            <a:endParaRPr lang="en-US" sz="1200" dirty="0"/>
          </a:p>
        </p:txBody>
      </p:sp>
      <p:sp>
        <p:nvSpPr>
          <p:cNvPr id="16" name="Shape 12"/>
          <p:cNvSpPr/>
          <p:nvPr/>
        </p:nvSpPr>
        <p:spPr>
          <a:xfrm>
            <a:off x="4023360" y="3493008"/>
            <a:ext cx="7665415" cy="566928"/>
          </a:xfrm>
          <a:prstGeom prst="roundRect">
            <a:avLst>
              <a:gd name="adj" fmla="val 9677"/>
            </a:avLst>
          </a:prstGeom>
          <a:solidFill>
            <a:srgbClr val="FDEDEC"/>
          </a:solidFill>
          <a:ln/>
        </p:spPr>
      </p:sp>
      <p:sp>
        <p:nvSpPr>
          <p:cNvPr id="17" name="Text 13"/>
          <p:cNvSpPr/>
          <p:nvPr/>
        </p:nvSpPr>
        <p:spPr>
          <a:xfrm>
            <a:off x="4206240" y="3493008"/>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[これまでのご経歴をご記入ください]</a:t>
            </a:r>
            <a:endParaRPr lang="en-US" sz="1050" dirty="0"/>
          </a:p>
        </p:txBody>
      </p:sp>
      <p:sp>
        <p:nvSpPr>
          <p:cNvPr id="18" name="Text 14"/>
          <p:cNvSpPr/>
          <p:nvPr/>
        </p:nvSpPr>
        <p:spPr>
          <a:xfrm>
            <a:off x="4023360" y="4142232"/>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なぜこの事業か</a:t>
            </a:r>
            <a:endParaRPr lang="en-US" sz="1200" dirty="0"/>
          </a:p>
        </p:txBody>
      </p:sp>
      <p:sp>
        <p:nvSpPr>
          <p:cNvPr id="19" name="Shape 15"/>
          <p:cNvSpPr/>
          <p:nvPr/>
        </p:nvSpPr>
        <p:spPr>
          <a:xfrm>
            <a:off x="4023360" y="4434840"/>
            <a:ext cx="7665415" cy="566928"/>
          </a:xfrm>
          <a:prstGeom prst="roundRect">
            <a:avLst>
              <a:gd name="adj" fmla="val 9677"/>
            </a:avLst>
          </a:prstGeom>
          <a:solidFill>
            <a:srgbClr val="FDEDEC"/>
          </a:solidFill>
          <a:ln/>
        </p:spPr>
      </p:sp>
      <p:sp>
        <p:nvSpPr>
          <p:cNvPr id="20" name="Text 16"/>
          <p:cNvSpPr/>
          <p:nvPr/>
        </p:nvSpPr>
        <p:spPr>
          <a:xfrm>
            <a:off x="4206240" y="4434840"/>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[現場で感じた課題・原体験をご記入ください]</a:t>
            </a:r>
            <a:endParaRPr lang="en-US" sz="1050" dirty="0"/>
          </a:p>
        </p:txBody>
      </p:sp>
      <p:sp>
        <p:nvSpPr>
          <p:cNvPr id="21" name="Text 17"/>
          <p:cNvSpPr/>
          <p:nvPr/>
        </p:nvSpPr>
        <p:spPr>
          <a:xfrm>
            <a:off x="4023360" y="5084064"/>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会社設立への想い</a:t>
            </a:r>
            <a:endParaRPr lang="en-US" sz="1200" dirty="0"/>
          </a:p>
        </p:txBody>
      </p:sp>
      <p:sp>
        <p:nvSpPr>
          <p:cNvPr id="22" name="Shape 18"/>
          <p:cNvSpPr/>
          <p:nvPr/>
        </p:nvSpPr>
        <p:spPr>
          <a:xfrm>
            <a:off x="4023360" y="5376672"/>
            <a:ext cx="7665415" cy="566928"/>
          </a:xfrm>
          <a:prstGeom prst="roundRect">
            <a:avLst>
              <a:gd name="adj" fmla="val 9677"/>
            </a:avLst>
          </a:prstGeom>
          <a:solidFill>
            <a:srgbClr val="FDEDEC"/>
          </a:solidFill>
          <a:ln/>
        </p:spPr>
      </p:sp>
      <p:sp>
        <p:nvSpPr>
          <p:cNvPr id="23" name="Text 19"/>
          <p:cNvSpPr/>
          <p:nvPr/>
        </p:nvSpPr>
        <p:spPr>
          <a:xfrm>
            <a:off x="4206240" y="5376672"/>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[会社設立に込めた想いをご記入ください]</a:t>
            </a:r>
            <a:endParaRPr lang="en-US" sz="1050" dirty="0"/>
          </a:p>
        </p:txBody>
      </p:sp>
      <p:sp>
        <p:nvSpPr>
          <p:cNvPr id="24"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1.0</a:t>
            </a:r>
            <a:endParaRPr lang="en-US" sz="900" dirty="0"/>
          </a:p>
        </p:txBody>
      </p:sp>
      <p:sp>
        <p:nvSpPr>
          <p:cNvPr id="25"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2560320" y="-2011680"/>
            <a:ext cx="5486400" cy="5486400"/>
          </a:xfrm>
          <a:prstGeom prst="ellipse">
            <a:avLst/>
          </a:prstGeom>
          <a:solidFill>
            <a:srgbClr val="2563EB">
              <a:alpha val="10000"/>
            </a:srgbClr>
          </a:solidFill>
          <a:ln/>
        </p:spPr>
      </p:sp>
      <p:sp>
        <p:nvSpPr>
          <p:cNvPr id="3" name="Shape 1"/>
          <p:cNvSpPr/>
          <p:nvPr/>
        </p:nvSpPr>
        <p:spPr>
          <a:xfrm>
            <a:off x="8961120" y="3840480"/>
            <a:ext cx="5029200" cy="5029200"/>
          </a:xfrm>
          <a:prstGeom prst="ellipse">
            <a:avLst/>
          </a:prstGeom>
          <a:solidFill>
            <a:srgbClr val="00D4FF">
              <a:alpha val="7000"/>
            </a:srgbClr>
          </a:solidFill>
          <a:ln/>
        </p:spPr>
      </p:sp>
      <p:pic>
        <p:nvPicPr>
          <p:cNvPr id="4" name="Image 0" descr="C:\Users\user\Desktop\SmartLabo\DESIGN_ASSETS\01_LOGO\Icon\smartlabo_icon_white.png">    </p:cNvPr>
          <p:cNvPicPr>
            <a:picLocks noChangeAspect="1"/>
          </p:cNvPicPr>
          <p:nvPr/>
        </p:nvPicPr>
        <p:blipFill>
          <a:blip r:embed="rId1"/>
          <a:stretch>
            <a:fillRect/>
          </a:stretch>
        </p:blipFill>
        <p:spPr>
          <a:xfrm>
            <a:off x="5684368" y="777240"/>
            <a:ext cx="822960" cy="908685"/>
          </a:xfrm>
          <a:prstGeom prst="rect">
            <a:avLst/>
          </a:prstGeom>
        </p:spPr>
      </p:pic>
      <p:sp>
        <p:nvSpPr>
          <p:cNvPr id="5" name="Text 2"/>
          <p:cNvSpPr/>
          <p:nvPr/>
        </p:nvSpPr>
        <p:spPr>
          <a:xfrm>
            <a:off x="1371600" y="2148840"/>
            <a:ext cx="9448495" cy="1097280"/>
          </a:xfrm>
          <a:prstGeom prst="rect">
            <a:avLst/>
          </a:prstGeom>
          <a:noFill/>
          <a:ln/>
        </p:spPr>
        <p:txBody>
          <a:bodyPr wrap="square" lIns="0" tIns="0" rIns="0" bIns="0" rtlCol="0" anchor="ctr"/>
          <a:lstStyle/>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株式会社スマートラボは、AIを活用し中小企業の生産性向上を支援し、</a:t>
            </a:r>
            <a:endParaRPr lang="en-US" sz="1600" dirty="0"/>
          </a:p>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地域企業から全国へ展開することを目指します。</a:t>
            </a:r>
            <a:endParaRPr lang="en-US" sz="1600" dirty="0"/>
          </a:p>
        </p:txBody>
      </p:sp>
      <p:sp>
        <p:nvSpPr>
          <p:cNvPr id="6" name="Text 3"/>
          <p:cNvSpPr/>
          <p:nvPr/>
        </p:nvSpPr>
        <p:spPr>
          <a:xfrm>
            <a:off x="0" y="3429000"/>
            <a:ext cx="1219169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会社を動かすAI。</a:t>
            </a:r>
            <a:endParaRPr lang="en-US" sz="4000" dirty="0"/>
          </a:p>
        </p:txBody>
      </p:sp>
      <p:sp>
        <p:nvSpPr>
          <p:cNvPr id="7" name="Text 4"/>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60A5FA"/>
                </a:solidFill>
                <a:latin typeface="Calibri" pitchFamily="34" charset="0"/>
                <a:ea typeface="Calibri" pitchFamily="34" charset="-122"/>
                <a:cs typeface="Calibri" pitchFamily="34" charset="-120"/>
              </a:rPr>
              <a:t>https://smartlaboworks.com/　|　info@smartlaboworks.com</a:t>
            </a:r>
            <a:endParaRPr lang="en-US" sz="1300" dirty="0"/>
          </a:p>
        </p:txBody>
      </p:sp>
      <p:sp>
        <p:nvSpPr>
          <p:cNvPr id="8" name="Text 5"/>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6E85AC"/>
                </a:solidFill>
                <a:latin typeface="Calibri" pitchFamily="34" charset="0"/>
                <a:ea typeface="Calibri" pitchFamily="34" charset="-122"/>
                <a:cs typeface="Calibri" pitchFamily="34" charset="-120"/>
              </a:rPr>
              <a:t>Smart Labo Works ― 銀行提出用事業計画書 Version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2026-07-15T00:27:28Z</dcterms:created>
  <dcterms:modified xsi:type="dcterms:W3CDTF">2026-07-15T00:27:28Z</dcterms:modified>
</cp:coreProperties>
</file>