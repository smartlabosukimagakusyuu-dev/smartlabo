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B3D"/>
                </a:solidFill>
                <a:latin typeface="Arial"/>
              </a:rPr>
              <a:t>売上高比較：経営計画版 vs 銀行提出版（参考）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経営計画版（万円）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D9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</c:v>
                </c:pt>
                <c:pt idx="1">
                  <c:v>2900</c:v>
                </c:pt>
                <c:pt idx="2">
                  <c:v>7200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銀行提出版（参考・万円）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D9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</c:v>
                </c:pt>
                <c:pt idx="1">
                  <c:v>1700</c:v>
                </c:pt>
                <c:pt idx="2">
                  <c:v>4500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6F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売上高（万円）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B3D"/>
                </a:solidFill>
                <a:latin typeface="Arial"/>
              </a:rPr>
              <a:t>変動費の内訳推移（万円）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サーバー費</c:v>
                </c:pt>
              </c:strCache>
            </c:strRef>
          </c:tx>
          <c:spPr>
            <a:solidFill>
              <a:srgbClr val="0A1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1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190</c:v>
                </c:pt>
                <c:pt idx="2">
                  <c:v>480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barChart>
        <c:barDir val="col"/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AI API費</c:v>
                </c:pt>
              </c:strCache>
            </c:strRef>
          </c:tx>
          <c:spPr>
            <a:solidFill>
              <a:srgbClr val="0A1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1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280</c:v>
                </c:pt>
                <c:pt idx="2">
                  <c:v>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Partner Program報酬</c:v>
                </c:pt>
              </c:strCache>
            </c:strRef>
          </c:tx>
          <c:spPr>
            <a:solidFill>
              <a:srgbClr val="0A1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1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180</c:v>
                </c:pt>
                <c:pt idx="2">
                  <c:v>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barChart>
        <c:barDir val="col"/>
        <c:grouping val="stacke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その他変動費</c:v>
                </c:pt>
              </c:strCache>
            </c:strRef>
          </c:tx>
          <c:spPr>
            <a:solidFill>
              <a:srgbClr val="0A1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1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30</c:v>
                </c:pt>
                <c:pt idx="1">
                  <c:v>90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3F6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B3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1B3D"/>
                </a:solidFill>
                <a:latin typeface="Arial"/>
              </a:rPr>
              <a:t>営業利益と営業利益率の推移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営業利益（万円）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-250</c:v>
                </c:pt>
                <c:pt idx="1">
                  <c:v>1060</c:v>
                </c:pt>
                <c:pt idx="2">
                  <c:v>3330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営業利益率（%）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D4FF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-45.5</c:v>
                </c:pt>
                <c:pt idx="1">
                  <c:v>36.6</c:v>
                </c:pt>
                <c:pt idx="2">
                  <c:v>46.3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-1000"/>
        </c:scaling>
        <c:delete val="0"/>
        <c:axPos val="l"/>
        <c:majorGridlines>
          <c:spPr>
            <a:ln w="12700" cap="flat">
              <a:solidFill>
                <a:srgbClr val="F3F6F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営業利益（万円）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00"/>
          <c:min val="-50"/>
        </c:scaling>
        <c:delete val="0"/>
        <c:axPos val="r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営業利益率（%）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389120"/>
            <a:ext cx="5029200" cy="50292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31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―  社内検討用（社外非公開）</a:t>
            </a:r>
            <a:endParaRPr lang="en-US" sz="1200" dirty="0"/>
          </a:p>
        </p:txBody>
      </p:sp>
      <p:pic>
        <p:nvPicPr>
          <p:cNvPr id="5" name="Image 0" descr="C:\Users\user\Desktop\SmartLabo\DESIGN_ASSETS\01_LOGO\White\smartlabo_logo_white_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048" y="1280160"/>
            <a:ext cx="3657600" cy="1239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経営計画書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163928" y="461772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112455"/>
          </a:solidFill>
          <a:ln w="12700">
            <a:solidFill>
              <a:srgbClr val="2440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63928" y="4617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銀行提出用事業計画書とは別の、Partner Program・紹介ネットワークを織り込んだ社内の実目標です。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　|　2026年7月　|　社外非公開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本書の位置づけ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361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銀行提出用事業計画書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36192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0A1B3D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53619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経営計画書（本書）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507492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942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金融機関への説明・返済可能性の提示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249424"/>
            <a:ext cx="5074920" cy="566928"/>
          </a:xfrm>
          <a:prstGeom prst="rect">
            <a:avLst/>
          </a:prstGeom>
          <a:solidFill>
            <a:srgbClr val="EFF4FE"/>
          </a:solidFill>
          <a:ln w="12700">
            <a:solidFill>
              <a:srgbClr val="D6E4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224942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社内の意思決定・予実管理・実際の経営目標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89864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数値の性質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118104"/>
            <a:ext cx="507492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1810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保守的（プルーデントな前提）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3118104"/>
            <a:ext cx="5074920" cy="566928"/>
          </a:xfrm>
          <a:prstGeom prst="rect">
            <a:avLst/>
          </a:prstGeom>
          <a:solidFill>
            <a:srgbClr val="EFF4FE"/>
          </a:solidFill>
          <a:ln w="12700">
            <a:solidFill>
              <a:srgbClr val="D6E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11810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Program・9プラン・継続課金・紹介ネットワークを織り込んだ実力値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6732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新規導入目標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86784"/>
            <a:ext cx="507492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86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6社 → 20社 → 50社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3986784"/>
            <a:ext cx="5074920" cy="566928"/>
          </a:xfrm>
          <a:prstGeom prst="rect">
            <a:avLst/>
          </a:prstGeom>
          <a:solidFill>
            <a:srgbClr val="EFF4FE"/>
          </a:solidFill>
          <a:ln w="12700">
            <a:solidFill>
              <a:srgbClr val="D6E4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9867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6社 → 20社 → 50社（共通）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63600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公開範囲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855464"/>
            <a:ext cx="5074920" cy="566928"/>
          </a:xfrm>
          <a:prstGeom prst="rect">
            <a:avLst/>
          </a:prstGeom>
          <a:solidFill>
            <a:srgbClr val="FAFBFC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5546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金融機関へ提出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4855464"/>
            <a:ext cx="5074920" cy="566928"/>
          </a:xfrm>
          <a:prstGeom prst="rect">
            <a:avLst/>
          </a:prstGeom>
          <a:solidFill>
            <a:srgbClr val="EFF4FE"/>
          </a:solidFill>
          <a:ln w="12700">
            <a:solidFill>
              <a:srgbClr val="D6E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485546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社外非公開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導入プラン前提（9プラン価格グリッド）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①利用規模（Small／Medium／Enterprise）×②基本プラン（Lite／Standard／Premium）の組み合わせによる、経営計画試算用の想定価格です（正式価格は個別見積り）。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423160" y="2011680"/>
            <a:ext cx="3088538" cy="457200"/>
          </a:xfrm>
          <a:prstGeom prst="rect">
            <a:avLst/>
          </a:prstGeom>
          <a:solidFill>
            <a:srgbClr val="0A1B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201168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11698" y="2011680"/>
            <a:ext cx="3088538" cy="457200"/>
          </a:xfrm>
          <a:prstGeom prst="rect">
            <a:avLst/>
          </a:prstGeom>
          <a:solidFill>
            <a:srgbClr val="0A1B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11698" y="201168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00237" y="2011680"/>
            <a:ext cx="3088538" cy="457200"/>
          </a:xfrm>
          <a:prstGeom prst="rect">
            <a:avLst/>
          </a:prstGeom>
          <a:solidFill>
            <a:srgbClr val="0A1B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0237" y="201168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1920240" cy="1051560"/>
          </a:xfrm>
          <a:prstGeom prst="rect">
            <a:avLst/>
          </a:prstGeom>
          <a:solidFill>
            <a:srgbClr val="F3F6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Small（〜10名）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246888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46888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32278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11698" y="246888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1698" y="246888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11698" y="32278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600237" y="246888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0237" y="246888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¥80,000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00237" y="322783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520440"/>
            <a:ext cx="1920240" cy="1051560"/>
          </a:xfrm>
          <a:prstGeom prst="rect">
            <a:avLst/>
          </a:prstGeom>
          <a:solidFill>
            <a:srgbClr val="F3F6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044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Medium（11〜50名）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23160" y="352044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52044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¥50,000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423160" y="42793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11698" y="3520440"/>
            <a:ext cx="3088538" cy="1051560"/>
          </a:xfrm>
          <a:prstGeom prst="rect">
            <a:avLst/>
          </a:prstGeom>
          <a:solidFill>
            <a:srgbClr val="EFF4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11698" y="352044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¥90,000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11698" y="42793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00237" y="352044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00237" y="352044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¥150,000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00237" y="427939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4572000"/>
            <a:ext cx="1920240" cy="1051560"/>
          </a:xfrm>
          <a:prstGeom prst="rect">
            <a:avLst/>
          </a:prstGeom>
          <a:solidFill>
            <a:srgbClr val="F3F6F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5720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Enterprise（51名〜）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23160" y="457200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57200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¥90,000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23160" y="533095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11698" y="457200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1698" y="457200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¥180,000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11698" y="533095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00237" y="4572000"/>
            <a:ext cx="3088538" cy="1051560"/>
          </a:xfrm>
          <a:prstGeom prst="rect">
            <a:avLst/>
          </a:prstGeom>
          <a:solidFill>
            <a:srgbClr val="FAFB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0237" y="4572000"/>
            <a:ext cx="308853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¥300,000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00237" y="5330952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中核機能（Company Brain・CRM・AI Assistant等）はプランに標準搭載（[12_Pricing_Philosophy.md]の思想を踏襲）。Partner Program経由の紹介・アップセルにより、実際の契約プラン構成は年々上位へシフトする想定です。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MIX &amp; ARPU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顧客ミックスと想定ARPU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0A1B3D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1（2026年度）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20240" y="24231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C:\Users\user\AppData\Local\Temp\claude\C--Users-user-Desktop-TOEIC---\46f2443e-6c5b-45fc-8f6e-79718ae21477\scratchpad\business-plan\icon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545" y="25774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想定ARPU（月額）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3511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¥50,000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40965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不動産業界の小規模事業者中心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（Small × Lite / Standard）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0A1B3D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8056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2（2027年度）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0" y="24231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C:\Users\user\AppData\Local\Temp\claude\C--Users-user-Desktop-TOEIC---\46f2443e-6c5b-45fc-8f6e-79718ae21477\scratchpad\business-plan\icons\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305" y="2577465"/>
            <a:ext cx="377190" cy="3771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想定ARPU（月額）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80560" y="3511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¥68,000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526280" y="40965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Program開始により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中規模・上位プランの比率が上昇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92440" y="17373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0A1B3D"/>
          </a:solidFill>
          <a:ln/>
        </p:spPr>
      </p:sp>
      <p:sp>
        <p:nvSpPr>
          <p:cNvPr id="19" name="Text 15"/>
          <p:cNvSpPr/>
          <p:nvPr/>
        </p:nvSpPr>
        <p:spPr>
          <a:xfrm>
            <a:off x="8275320" y="1965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3（2028年度）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9509760" y="242316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2" descr="C:\Users\user\AppData\Local\Temp\claude\C--Users-user-Desktop-TOEIC---\46f2443e-6c5b-45fc-8f6e-79718ae21477\scratchpad\business-plan\icons\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065" y="2577465"/>
            <a:ext cx="377190" cy="3771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75320" y="3273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想定ARPU（月額）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275320" y="35112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¥85,000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321040" y="40965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Enterprise層への浸透により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ミックスがさらに向上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02920" y="48463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ARPU = Average Revenue Per User（顧客あたりの平均月額単価）。新規獲得顧客の構成比が上位プラン・大規模企業へシフトすることに加え、既存顧客の契約継続に伴うアップセル（プラン変更）も織り込んでいます。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売上計画（経営目標）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6858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91640"/>
            <a:ext cx="1600200" cy="365760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6916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692640" y="1691640"/>
            <a:ext cx="664464" cy="365760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738360" y="1691640"/>
            <a:ext cx="57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357104" y="1691640"/>
            <a:ext cx="664464" cy="365760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02824" y="1691640"/>
            <a:ext cx="57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021568" y="1691640"/>
            <a:ext cx="664464" cy="365760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067288" y="1691640"/>
            <a:ext cx="57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057400"/>
            <a:ext cx="16002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2057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導入社数(累計)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692640" y="205740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38360" y="205740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6社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357104" y="205740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402824" y="205740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021568" y="205740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067288" y="205740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50社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92440" y="2560320"/>
            <a:ext cx="16002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2560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経営計画版 売上高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9692640" y="2560320"/>
            <a:ext cx="664464" cy="50292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38360" y="256032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550万円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357104" y="2560320"/>
            <a:ext cx="664464" cy="50292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02824" y="256032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2,900万円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1021568" y="2560320"/>
            <a:ext cx="664464" cy="502920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67288" y="256032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92440" y="3063240"/>
            <a:ext cx="1600200" cy="502920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160" y="3063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銀行提出版 売上高(参考)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692640" y="306324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738360" y="306324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380万円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357104" y="306324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402824" y="306324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1,700万円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1021568" y="3063240"/>
            <a:ext cx="66446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067288" y="3063240"/>
            <a:ext cx="573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4,500万円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92440" y="3566160"/>
            <a:ext cx="1600200" cy="777240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38160" y="356616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差分の主因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692640" y="3566160"/>
            <a:ext cx="664464" cy="777240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38360" y="3566160"/>
            <a:ext cx="57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上位プラン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比率の織込み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10357104" y="3566160"/>
            <a:ext cx="664464" cy="777240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402824" y="3566160"/>
            <a:ext cx="57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稼働・アップセル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11021568" y="3566160"/>
            <a:ext cx="664464" cy="777240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067288" y="3566160"/>
            <a:ext cx="57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Enterprise層</a:t>
            </a:r>
            <a:endParaRPr lang="en-US" sz="7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浸透・紹介複利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092440" y="4453128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月次経常収益（MRR）の期中積み上げ、既存顧客の継続率・アップセル、Partner Program経由の新規顧客比率上昇を反映した試算です。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コスト構造：固定費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顧客数・売上高の増減にかかわらず一定額発生する費用です。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0A1B3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C:\Users\user\AppData\Local\Temp\claude\C--Users-user-Desktop-TOEIC---\46f2443e-6c5b-45fc-8f6e-79718ae21477\scratchpad\business-plan\icons\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" y="258203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487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325880" y="2724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550万円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C:\Users\user\AppData\Local\Temp\claude\C--Users-user-Desktop-TOEIC---\46f2443e-6c5b-45fc-8f6e-79718ae21477\scratchpad\business-plan\icons\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57" y="345071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3355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基本管理費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325880" y="3593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100万円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85800" y="4069080"/>
            <a:ext cx="3154680" cy="9144"/>
          </a:xfrm>
          <a:prstGeom prst="rect">
            <a:avLst/>
          </a:prstGeom>
          <a:solidFill>
            <a:srgbClr val="D6E4FB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4187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固定費合計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68880" y="4187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650万円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29768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0A1B3D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480560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80560" y="2468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C:\Users\user\AppData\Local\Temp\claude\C--Users-user-Desktop-TOEIC---\46f2443e-6c5b-45fc-8f6e-79718ae21477\scratchpad\business-plan\icons\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717" y="2582037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487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120640" y="2724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950万円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448056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C:\Users\user\AppData\Local\Temp\claude\C--Users-user-Desktop-TOEIC---\46f2443e-6c5b-45fc-8f6e-79718ae21477\scratchpad\business-plan\icons\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717" y="3450717"/>
            <a:ext cx="276606" cy="27660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20640" y="3355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基本管理費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20640" y="3593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150万円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4480560" y="4069080"/>
            <a:ext cx="3154680" cy="9144"/>
          </a:xfrm>
          <a:prstGeom prst="rect">
            <a:avLst/>
          </a:prstGeom>
          <a:solidFill>
            <a:srgbClr val="D6E4FB"/>
          </a:solidFill>
          <a:ln/>
        </p:spPr>
      </p:sp>
      <p:sp>
        <p:nvSpPr>
          <p:cNvPr id="29" name="Text 23"/>
          <p:cNvSpPr/>
          <p:nvPr/>
        </p:nvSpPr>
        <p:spPr>
          <a:xfrm>
            <a:off x="4480560" y="4187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固定費合計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263640" y="4187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1,100万円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8092440" y="1920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76200" dist="25400" dir="5400000">
              <a:srgbClr val="0A1B3D">
                <a:alpha val="1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8275320" y="2103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8275320" y="2468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C:\Users\user\AppData\Local\Temp\claude\C--Users-user-Desktop-TOEIC---\46f2443e-6c5b-45fc-8f6e-79718ae21477\scratchpad\business-plan\icons\usert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477" y="2582037"/>
            <a:ext cx="276606" cy="27660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915400" y="248716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915400" y="2724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1,600万円</a:t>
            </a:r>
            <a:endParaRPr lang="en-US" sz="1700" dirty="0"/>
          </a:p>
        </p:txBody>
      </p:sp>
      <p:sp>
        <p:nvSpPr>
          <p:cNvPr id="37" name="Shape 30"/>
          <p:cNvSpPr/>
          <p:nvPr/>
        </p:nvSpPr>
        <p:spPr>
          <a:xfrm>
            <a:off x="8275320" y="3337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5" descr="C:\Users\user\AppData\Local\Temp\claude\C--Users-user-Desktop-TOEIC---\46f2443e-6c5b-45fc-8f6e-79718ae21477\scratchpad\business-plan\icons\build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477" y="3450717"/>
            <a:ext cx="276606" cy="27660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15400" y="33558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基本管理費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8915400" y="3593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220万円</a:t>
            </a:r>
            <a:endParaRPr lang="en-US" sz="1700" dirty="0"/>
          </a:p>
        </p:txBody>
      </p:sp>
      <p:sp>
        <p:nvSpPr>
          <p:cNvPr id="41" name="Shape 33"/>
          <p:cNvSpPr/>
          <p:nvPr/>
        </p:nvSpPr>
        <p:spPr>
          <a:xfrm>
            <a:off x="8275320" y="4069080"/>
            <a:ext cx="3154680" cy="9144"/>
          </a:xfrm>
          <a:prstGeom prst="rect">
            <a:avLst/>
          </a:prstGeom>
          <a:solidFill>
            <a:srgbClr val="D6E4FB"/>
          </a:solidFill>
          <a:ln/>
        </p:spPr>
      </p:sp>
      <p:sp>
        <p:nvSpPr>
          <p:cNvPr id="42" name="Text 34"/>
          <p:cNvSpPr/>
          <p:nvPr/>
        </p:nvSpPr>
        <p:spPr>
          <a:xfrm>
            <a:off x="8275320" y="4187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固定費合計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0058400" y="41879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1,820万円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502920" y="4846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人件費の内訳目安：Year1 代表+社員1名、Year2 3〜4名体制、Year3 5〜6名体制。基本管理費はオフィス・会計・法務等の運営コストです。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コスト構造：変動費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顧客数・売上高の増加に応じて変動する費用です。サーバー費・AI API費・Partner Program報酬を分離して試算しています。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92024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20240"/>
            <a:ext cx="1737360" cy="384048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66176" y="192024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966960" y="1920240"/>
            <a:ext cx="573024" cy="384048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03536" y="192024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539984" y="1920240"/>
            <a:ext cx="573024" cy="384048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76560" y="192024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113008" y="1920240"/>
            <a:ext cx="573024" cy="384048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149584" y="192024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2304288"/>
            <a:ext cx="173736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6176" y="230428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サーバー費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966960" y="2304288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03536" y="2304288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539984" y="2304288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76560" y="2304288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1113008" y="2304288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49584" y="2304288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29600" y="2688336"/>
            <a:ext cx="173736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66176" y="268833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API費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966960" y="2688336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03536" y="2688336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539984" y="2688336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76560" y="2688336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1113008" y="2688336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149584" y="2688336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229600" y="3072384"/>
            <a:ext cx="173736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66176" y="307238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Program報酬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966960" y="3072384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03536" y="3072384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0539984" y="3072384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76560" y="3072384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1113008" y="3072384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149584" y="3072384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229600" y="3456432"/>
            <a:ext cx="1737360" cy="384048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66176" y="345643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その他変動費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966960" y="3456432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03536" y="3456432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0539984" y="3456432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576560" y="3456432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1113008" y="3456432"/>
            <a:ext cx="57302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149584" y="3456432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8229600" y="3840480"/>
            <a:ext cx="1737360" cy="384048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66176" y="38404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変動費合計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9966960" y="3840480"/>
            <a:ext cx="573024" cy="384048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003536" y="384048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10539984" y="3840480"/>
            <a:ext cx="573024" cy="384048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576560" y="384048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1113008" y="3840480"/>
            <a:ext cx="573024" cy="384048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1149584" y="3840480"/>
            <a:ext cx="499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2,050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8229600" y="4361688"/>
            <a:ext cx="3456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サーバー費・AI API費は顧客数・利用量に比例。Partner Program報酬はY1は制度開始前のため0、Y2以降は紹介経由の新規契約額×15%（初年度）＋更新契約額×10%を計上。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利益計画・利益率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91640"/>
            <a:ext cx="1371600" cy="329184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464040" y="1691640"/>
            <a:ext cx="740664" cy="329184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0" y="1691640"/>
            <a:ext cx="64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204704" y="1691640"/>
            <a:ext cx="740664" cy="329184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50424" y="1691640"/>
            <a:ext cx="64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945368" y="1691640"/>
            <a:ext cx="740664" cy="329184"/>
          </a:xfrm>
          <a:prstGeom prst="rect">
            <a:avLst/>
          </a:prstGeom>
          <a:solidFill>
            <a:srgbClr val="0A1B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91088" y="1691640"/>
            <a:ext cx="64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92440" y="2020824"/>
            <a:ext cx="1371600" cy="420624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20208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464040" y="2020824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0" y="202082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550万円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204704" y="2020824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50424" y="202082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2,900万円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945368" y="2020824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91088" y="202082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7,200万円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92440" y="2441448"/>
            <a:ext cx="1371600" cy="420624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0" y="24414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固定費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464040" y="2441448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9760" y="2441448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650万円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204704" y="2441448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250424" y="2441448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1,100万円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945368" y="2441448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91088" y="2441448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1,820万円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092440" y="2862072"/>
            <a:ext cx="1371600" cy="420624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160" y="2862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変動費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464040" y="2862072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509760" y="286207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150万円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0204704" y="2862072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250424" y="286207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740万円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945368" y="2862072"/>
            <a:ext cx="74066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0991088" y="286207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2,050万円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92440" y="3282696"/>
            <a:ext cx="1371600" cy="420624"/>
          </a:xfrm>
          <a:prstGeom prst="rect">
            <a:avLst/>
          </a:prstGeom>
          <a:solidFill>
            <a:srgbClr val="F3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38160" y="32826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費用合計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9464040" y="3282696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09760" y="32826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800万円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204704" y="3282696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50424" y="32826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1,840万円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10945368" y="3282696"/>
            <a:ext cx="740664" cy="420624"/>
          </a:xfrm>
          <a:prstGeom prst="rect">
            <a:avLst/>
          </a:prstGeom>
          <a:solidFill>
            <a:srgbClr val="FAFB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991088" y="3282696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3,870万円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092440" y="3703320"/>
            <a:ext cx="1371600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138160" y="37033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9464040" y="3703320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509760" y="3703320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△250万円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204704" y="3703320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50424" y="3703320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1,060万円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945368" y="3703320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991088" y="3703320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3,330万円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092440" y="4123944"/>
            <a:ext cx="1371600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138160" y="41239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営業利益率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9464040" y="4123944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509760" y="412394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△45.5%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10204704" y="4123944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250424" y="412394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945368" y="4123944"/>
            <a:ext cx="740664" cy="420624"/>
          </a:xfrm>
          <a:prstGeom prst="rect">
            <a:avLst/>
          </a:prstGeom>
          <a:solidFill>
            <a:srgbClr val="EFF4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991088" y="4123944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092440" y="4681728"/>
            <a:ext cx="3593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営業利益率＝営業利益÷売上高。Year1は先行投資期のため赤字だが、銀行提出版(△750万円)より小さい損失を実目標とする。Year2でPartner Program稼働により黒字化。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572000"/>
            <a:ext cx="5029200" cy="50292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64008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960120"/>
            <a:ext cx="12191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C:\Users\user\AppData\Local\Temp\claude\C--Users-user-Desktop-TOEIC---\46f2443e-6c5b-45fc-8f6e-79718ae21477\scratchpad\business-plan\icons\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0002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2880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Year1は先行投資期だが、銀行提出版(△750万円)より小さい損失(△250万円)を実目標とする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C:\Users\user\AppData\Local\Temp\claude\C--Users-user-Desktop-TOEIC---\46f2443e-6c5b-45fc-8f6e-79718ae21477\scratchpad\business-plan\icons\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30518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88036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Year2よりPartner Program・上位プランへのアップセルが本格稼働し、営業利益率36.6%で黒字化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C:\Users\user\AppData\Local\Temp\claude\C--Users-user-Desktop-TOEIC---\46f2443e-6c5b-45fc-8f6e-79718ae21477\scratchpad\business-plan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1033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93192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Year3は紹介ネットワークの複利効果とEnterprise層浸透により、営業利益率46.3%まで改善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77240" y="50292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C:\Users\user\AppData\Local\Temp\claude\C--Users-user-Desktop-TOEIC---\46f2443e-6c5b-45fc-8f6e-79718ae21477\scratchpad\business-plan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515493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983480"/>
            <a:ext cx="9997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本書は社内の意思決定・予実管理に用いる実目標であり、対外的には銀行提出用事業計画書(保守的)を使用する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株式会社スマートラボ　|　経営計画書（社内検討用）Version 1.0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2026-07-15T01:26:23Z</dcterms:created>
  <dcterms:modified xsi:type="dcterms:W3CDTF">2026-07-15T01:26:23Z</dcterms:modified>
</cp:coreProperties>
</file>