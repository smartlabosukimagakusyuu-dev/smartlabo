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1B3D"/>
                </a:solidFill>
                <a:latin typeface="Arial"/>
              </a:defRPr>
            </a:pPr>
            <a:r>
              <a:rPr sz="1150" b="0" i="0" u="none" strike="noStrike">
                <a:solidFill>
                  <a:srgbClr val="0A1B3D"/>
                </a:solidFill>
                <a:latin typeface="Arial"/>
              </a:rPr>
              <a:t>累計契約数と年間売上高の推移</a:t>
            </a:r>
          </a:p>
        </c:rich>
      </c:tx>
      <c:layout/>
      <c:overlay val="0"/>
    </c:title>
    <c:autoTitleDeleted val="0"/>
    <c:plotArea>
      <c:layout/>
      <c:barChart>
        <c:barDir val="col"/>
        <c:grouping val="clustered"/>
        <c:varyColors val="0"/>
        <c:ser>
          <c:idx val="0"/>
          <c:order val="0"/>
          <c:tx>
            <c:strRef>
              <c:f>Sheet1!$B$1</c:f>
              <c:strCache>
                <c:ptCount val="1"/>
                <c:pt idx="0">
                  <c:v>累計契約数（社）</c:v>
                </c:pt>
              </c:strCache>
            </c:strRef>
          </c:tx>
          <c:spPr>
            <a:solidFill>
              <a:srgbClr val="2563EB"/>
            </a:solidFill>
            <a:effectLst/>
          </c:spPr>
          <c:invertIfNegative val="0"/>
          <c:dLbls>
            <c:numFmt formatCode="#,##0" sourceLinked="0"/>
            <c:txPr>
              <a:bodyPr/>
              <a:lstStyle/>
              <a:p>
                <a:pPr>
                  <a:defRPr b="0" i="0" strike="noStrike" sz="900" u="none">
                    <a:solidFill>
                      <a:srgbClr val="1E293B"/>
                    </a:solidFill>
                    <a:latin typeface="Arial"/>
                  </a:defRPr>
                </a:pPr>
              </a:p>
            </c:txPr>
            <c:dLblPos val="outEnd"/>
            <c:showLegendKey val="0"/>
            <c:showVal val="1"/>
            <c:showCatName val="0"/>
            <c:showSerName val="0"/>
            <c:showPercent val="0"/>
            <c:showBubbleSize val="0"/>
            <c:showLeaderLines val="0"/>
          </c:dLbls>
          <c:dPt>
            <c:idx val="0"/>
            <c:invertIfNegative val="0"/>
            <c:bubble3D val="0"/>
            <c:spPr>
              <a:solidFill>
                <a:srgbClr val="2563EB"/>
              </a:solidFill>
              <a:effectLst/>
            </c:spPr>
          </c:dPt>
          <c:dPt>
            <c:idx val="1"/>
            <c:invertIfNegative val="0"/>
            <c:bubble3D val="0"/>
            <c:spPr>
              <a:solidFill>
                <a:srgbClr val="0A1B3D"/>
              </a:solidFill>
              <a:effectLst/>
            </c:spPr>
          </c:dPt>
          <c:dPt>
            <c:idx val="2"/>
            <c:invertIfNegative val="0"/>
            <c:bubble3D val="0"/>
            <c:spPr>
              <a:solidFill>
                <a:srgbClr val="2563EB"/>
              </a:solidFill>
              <a:effectLst/>
            </c:spPr>
          </c:dPt>
          <c:cat>
            <c:multiLvlStrRef>
              <c:f>Sheet1!$A$2:$A$4</c:f>
              <c:multiLvlStrCache>
                <c:ptCount val="3"/>
                <c:lvl>
                  <c:pt idx="0">
                    <c:v>Year 1（2026年度）</c:v>
                  </c:pt>
                  <c:pt idx="1">
                    <c:v>Year 2（2027年度）</c:v>
                  </c:pt>
                  <c:pt idx="2">
                    <c:v>Year 3（2028年度）</c:v>
                  </c:pt>
                </c:lvl>
              </c:multiLvlStrCache>
            </c:multiLvlStrRef>
          </c:cat>
          <c:val>
            <c:numRef>
              <c:f>Sheet1!$B$2:$B$4</c:f>
              <c:numCache>
                <c:formatCode>General</c:formatCode>
                <c:ptCount val="3"/>
                <c:pt idx="0">
                  <c:v>6</c:v>
                </c:pt>
                <c:pt idx="1">
                  <c:v>25</c:v>
                </c:pt>
                <c:pt idx="2">
                  <c:v>73</c:v>
                </c:pt>
              </c:numCache>
            </c:numRef>
          </c:val>
        </c:ser>
        <c:dLbls>
          <c:numFmt formatCode="#,##0" sourceLinked="0"/>
          <c:txPr>
            <a:bodyPr/>
            <a:lstStyle/>
            <a:p>
              <a:pPr>
                <a:defRPr b="0" i="0" strike="noStrike" sz="900" u="none">
                  <a:solidFill>
                    <a:srgbClr val="1E293B"/>
                  </a:solidFill>
                  <a:latin typeface="Arial"/>
                </a:defRPr>
              </a:pPr>
            </a:p>
          </c:txPr>
          <c:dLblPos val="outEnd"/>
          <c:showLegendKey val="0"/>
          <c:showVal val="1"/>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年間売上高（万円）</c:v>
                </c:pt>
              </c:strCache>
            </c:strRef>
          </c:tx>
          <c:spPr>
            <a:solidFill>
              <a:srgbClr val="2563EB"/>
            </a:solidFill>
            <a:ln w="38100" cap="flat">
              <a:solidFill>
                <a:srgbClr val="2563EB"/>
              </a:solidFill>
              <a:prstDash val="solid"/>
              <a:round/>
            </a:ln>
            <a:effectLst/>
          </c:spPr>
          <c:invertIfNegative val="0"/>
          <c:dLbls>
            <c:numFmt formatCode="#,##0" sourceLinked="0"/>
            <c:txPr>
              <a:bodyPr/>
              <a:lstStyle/>
              <a:p>
                <a:pPr>
                  <a:defRPr b="0" i="0" strike="noStrike" sz="900" u="none">
                    <a:solidFill>
                      <a:srgbClr val="1E293B"/>
                    </a:solidFill>
                    <a:latin typeface="Arial"/>
                  </a:defRPr>
                </a:pPr>
              </a:p>
            </c:txPr>
            <c:dLblPos val="outEnd"/>
            <c:showLegendKey val="0"/>
            <c:showVal val="1"/>
            <c:showCatName val="0"/>
            <c:showSerName val="0"/>
            <c:showPercent val="0"/>
            <c:showBubbleSize val="0"/>
            <c:showLeaderLines val="0"/>
          </c:dLbls>
          <c:marker>
            <c:symbol val="circle"/>
            <c:size val="8"/>
            <c:spPr>
              <a:solidFill>
                <a:srgbClr val="0A1B3D"/>
              </a:solidFill>
              <a:ln w="9525" cap="flat">
                <a:solidFill>
                  <a:srgbClr val="2563EB"/>
                </a:solidFill>
                <a:prstDash val="solid"/>
                <a:round/>
              </a:ln>
              <a:effectLst/>
            </c:spPr>
          </c:marker>
          <c:cat>
            <c:multiLvlStrRef>
              <c:f>Sheet1!$A$2:$A$4</c:f>
              <c:multiLvlStrCache>
                <c:ptCount val="3"/>
                <c:lvl>
                  <c:pt idx="0">
                    <c:v>Year 1（2026年度）</c:v>
                  </c:pt>
                  <c:pt idx="1">
                    <c:v>Year 2（2027年度）</c:v>
                  </c:pt>
                  <c:pt idx="2">
                    <c:v>Year 3（2028年度）</c:v>
                  </c:pt>
                </c:lvl>
              </c:multiLvlStrCache>
            </c:multiLvlStrRef>
          </c:cat>
          <c:val>
            <c:numRef>
              <c:f>Sheet1!$C$2:$C$4</c:f>
              <c:numCache>
                <c:formatCode>General</c:formatCode>
                <c:ptCount val="3"/>
                <c:pt idx="0">
                  <c:v>510</c:v>
                </c:pt>
                <c:pt idx="1">
                  <c:v>3050</c:v>
                </c:pt>
                <c:pt idx="2">
                  <c:v>9900</c:v>
                </c:pt>
              </c:numCache>
            </c:numRef>
          </c:val>
          <c:smooth val="0"/>
        </c:ser>
        <c:dLbls>
          <c:numFmt formatCode="#,##0" sourceLinked="0"/>
          <c:txPr>
            <a:bodyPr/>
            <a:lstStyle/>
            <a:p>
              <a:pPr>
                <a:defRPr b="0" i="0" strike="noStrike" sz="900" u="none">
                  <a:solidFill>
                    <a:srgbClr val="1E293B"/>
                  </a:solidFill>
                  <a:latin typeface="Arial"/>
                </a:defRPr>
              </a:pPr>
            </a:p>
          </c:txPr>
          <c:dLblPos val="outEnd"/>
          <c:showLegendKey val="0"/>
          <c:showVal val="1"/>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90"/>
        </c:scaling>
        <c:delete val="0"/>
        <c:axPos val="l"/>
        <c:majorGridlines>
          <c:spPr>
            <a:ln w="12700" cap="flat">
              <a:solidFill>
                <a:srgbClr val="F3F6FA"/>
              </a:solidFill>
              <a:prstDash val="solid"/>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累計契約数（社）</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4"/>
        <c:crosses val="autoZero"/>
        <c:crossBetween val="between"/>
      </c:valAx>
      <c:valAx>
        <c:axId val="2094734553"/>
        <c:scaling>
          <c:orientation val="minMax"/>
          <c:max val="20000"/>
        </c:scaling>
        <c:delete val="0"/>
        <c:axPos val="r"/>
        <c:title>
          <c:tx>
            <c:rich>
              <a:bodyPr/>
              <a:lstStyle/>
              <a:p>
                <a:pPr>
                  <a:defRPr sz="900" b="0" i="0" u="none" strike="noStrike">
                    <a:solidFill>
                      <a:srgbClr val="000000"/>
                    </a:solidFill>
                    <a:latin typeface="Arial"/>
                  </a:defRPr>
                </a:pPr>
                <a:r>
                  <a:rPr sz="900" b="0" i="0" u="none" strike="noStrike">
                    <a:solidFill>
                      <a:srgbClr val="000000"/>
                    </a:solidFill>
                    <a:latin typeface="Arial"/>
                  </a:rPr>
                  <a:t>売上高（万円）</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1B3D"/>
                </a:solidFill>
                <a:latin typeface="Arial"/>
              </a:defRPr>
            </a:pPr>
            <a:r>
              <a:rPr sz="1150" b="0" i="0" u="none" strike="noStrike">
                <a:solidFill>
                  <a:srgbClr val="0A1B3D"/>
                </a:solidFill>
                <a:latin typeface="Arial"/>
              </a:rPr>
              <a:t>費用構成の推移（万円）</a:t>
            </a:r>
          </a:p>
        </c:rich>
      </c:tx>
      <c:layout/>
      <c:overlay val="0"/>
    </c:title>
    <c:autoTitleDeleted val="0"/>
    <c:plotArea>
      <c:layout/>
      <c:barChart>
        <c:barDir val="col"/>
        <c:grouping val="stacked"/>
        <c:varyColors val="0"/>
        <c:ser>
          <c:idx val="0"/>
          <c:order val="0"/>
          <c:tx>
            <c:strRef>
              <c:f>Sheet1!$B$1</c:f>
              <c:strCache>
                <c:ptCount val="1"/>
                <c:pt idx="0">
                  <c:v>①固定費</c:v>
                </c:pt>
              </c:strCache>
            </c:strRef>
          </c:tx>
          <c:spPr>
            <a:solidFill>
              <a:srgbClr val="0A1B3D"/>
            </a:solidFill>
            <a:effectLst/>
          </c:spPr>
          <c:invertIfNegative val="0"/>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dPt>
            <c:idx val="0"/>
            <c:invertIfNegative val="0"/>
            <c:bubble3D val="0"/>
            <c:spPr>
              <a:solidFill>
                <a:srgbClr val="0A1B3D"/>
              </a:solidFill>
              <a:effectLst/>
            </c:spPr>
          </c:dPt>
          <c:dPt>
            <c:idx val="1"/>
            <c:invertIfNegative val="0"/>
            <c:bubble3D val="0"/>
            <c:spPr>
              <a:solidFill>
                <a:srgbClr val="2563EB"/>
              </a:solidFill>
              <a:effectLst/>
            </c:spPr>
          </c:dPt>
          <c:dPt>
            <c:idx val="2"/>
            <c:invertIfNegative val="0"/>
            <c:bubble3D val="0"/>
            <c:spPr>
              <a:solidFill>
                <a:srgbClr val="60A5FA"/>
              </a:solidFill>
              <a:effectLst/>
            </c:spPr>
          </c:dPt>
          <c:cat>
            <c:multiLvlStrRef>
              <c:f>Sheet1!$A$2:$A$4</c:f>
              <c:multiLvlStrCache>
                <c:ptCount val="3"/>
                <c:lvl>
                  <c:pt idx="0">
                    <c:v>Year 1</c:v>
                  </c:pt>
                  <c:pt idx="1">
                    <c:v>Year 2</c:v>
                  </c:pt>
                  <c:pt idx="2">
                    <c:v>Year 3</c:v>
                  </c:pt>
                </c:lvl>
              </c:multiLvlStrCache>
            </c:multiLvlStrRef>
          </c:cat>
          <c:val>
            <c:numRef>
              <c:f>Sheet1!$B$2:$B$4</c:f>
              <c:numCache>
                <c:formatCode>General</c:formatCode>
                <c:ptCount val="3"/>
                <c:pt idx="0">
                  <c:v>730</c:v>
                </c:pt>
                <c:pt idx="1">
                  <c:v>1560</c:v>
                </c:pt>
                <c:pt idx="2">
                  <c:v>3055</c:v>
                </c:pt>
              </c:numCache>
            </c:numRef>
          </c:val>
        </c:ser>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barChart>
        <c:barDir val="col"/>
        <c:grouping val="stacked"/>
        <c:varyColors val="0"/>
        <c:ser>
          <c:idx val="1"/>
          <c:order val="1"/>
          <c:tx>
            <c:strRef>
              <c:f>Sheet1!$C$1</c:f>
              <c:strCache>
                <c:ptCount val="1"/>
                <c:pt idx="0">
                  <c:v>②変動費</c:v>
                </c:pt>
              </c:strCache>
            </c:strRef>
          </c:tx>
          <c:spPr>
            <a:solidFill>
              <a:srgbClr val="0A1B3D"/>
            </a:solidFill>
            <a:effectLst/>
          </c:spPr>
          <c:invertIfNegative val="0"/>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dPt>
            <c:idx val="0"/>
            <c:invertIfNegative val="0"/>
            <c:bubble3D val="0"/>
            <c:spPr>
              <a:solidFill>
                <a:srgbClr val="0A1B3D"/>
              </a:solidFill>
              <a:effectLst/>
            </c:spPr>
          </c:dPt>
          <c:dPt>
            <c:idx val="1"/>
            <c:invertIfNegative val="0"/>
            <c:bubble3D val="0"/>
            <c:spPr>
              <a:solidFill>
                <a:srgbClr val="2563EB"/>
              </a:solidFill>
              <a:effectLst/>
            </c:spPr>
          </c:dPt>
          <c:dPt>
            <c:idx val="2"/>
            <c:invertIfNegative val="0"/>
            <c:bubble3D val="0"/>
            <c:spPr>
              <a:solidFill>
                <a:srgbClr val="60A5FA"/>
              </a:solidFill>
              <a:effectLst/>
            </c:spPr>
          </c:dPt>
          <c:cat>
            <c:multiLvlStrRef>
              <c:f>Sheet1!$A$2:$A$4</c:f>
              <c:multiLvlStrCache>
                <c:ptCount val="3"/>
                <c:lvl>
                  <c:pt idx="0">
                    <c:v>Year 1</c:v>
                  </c:pt>
                  <c:pt idx="1">
                    <c:v>Year 2</c:v>
                  </c:pt>
                  <c:pt idx="2">
                    <c:v>Year 3</c:v>
                  </c:pt>
                </c:lvl>
              </c:multiLvlStrCache>
            </c:multiLvlStrRef>
          </c:cat>
          <c:val>
            <c:numRef>
              <c:f>Sheet1!$C$2:$C$4</c:f>
              <c:numCache>
                <c:formatCode>General</c:formatCode>
                <c:ptCount val="3"/>
                <c:pt idx="0">
                  <c:v>129</c:v>
                </c:pt>
                <c:pt idx="1">
                  <c:v>503</c:v>
                </c:pt>
                <c:pt idx="2">
                  <c:v>1513</c:v>
                </c:pt>
              </c:numCache>
            </c:numRef>
          </c:val>
        </c:ser>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barChart>
        <c:barDir val="col"/>
        <c:grouping val="stacked"/>
        <c:varyColors val="0"/>
        <c:ser>
          <c:idx val="2"/>
          <c:order val="2"/>
          <c:tx>
            <c:strRef>
              <c:f>Sheet1!$D$1</c:f>
              <c:strCache>
                <c:ptCount val="1"/>
                <c:pt idx="0">
                  <c:v>③開発費</c:v>
                </c:pt>
              </c:strCache>
            </c:strRef>
          </c:tx>
          <c:spPr>
            <a:solidFill>
              <a:srgbClr val="0A1B3D"/>
            </a:solidFill>
            <a:effectLst/>
          </c:spPr>
          <c:invertIfNegative val="0"/>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dPt>
            <c:idx val="0"/>
            <c:invertIfNegative val="0"/>
            <c:bubble3D val="0"/>
            <c:spPr>
              <a:solidFill>
                <a:srgbClr val="0A1B3D"/>
              </a:solidFill>
              <a:effectLst/>
            </c:spPr>
          </c:dPt>
          <c:dPt>
            <c:idx val="1"/>
            <c:invertIfNegative val="0"/>
            <c:bubble3D val="0"/>
            <c:spPr>
              <a:solidFill>
                <a:srgbClr val="2563EB"/>
              </a:solidFill>
              <a:effectLst/>
            </c:spPr>
          </c:dPt>
          <c:dPt>
            <c:idx val="2"/>
            <c:invertIfNegative val="0"/>
            <c:bubble3D val="0"/>
            <c:spPr>
              <a:solidFill>
                <a:srgbClr val="60A5FA"/>
              </a:solidFill>
              <a:effectLst/>
            </c:spPr>
          </c:dPt>
          <c:cat>
            <c:multiLvlStrRef>
              <c:f>Sheet1!$A$2:$A$4</c:f>
              <c:multiLvlStrCache>
                <c:ptCount val="3"/>
                <c:lvl>
                  <c:pt idx="0">
                    <c:v>Year 1</c:v>
                  </c:pt>
                  <c:pt idx="1">
                    <c:v>Year 2</c:v>
                  </c:pt>
                  <c:pt idx="2">
                    <c:v>Year 3</c:v>
                  </c:pt>
                </c:lvl>
              </c:multiLvlStrCache>
            </c:multiLvlStrRef>
          </c:cat>
          <c:val>
            <c:numRef>
              <c:f>Sheet1!$D$2:$D$4</c:f>
              <c:numCache>
                <c:formatCode>General</c:formatCode>
                <c:ptCount val="3"/>
                <c:pt idx="0">
                  <c:v>550</c:v>
                </c:pt>
                <c:pt idx="1">
                  <c:v>500</c:v>
                </c:pt>
                <c:pt idx="2">
                  <c:v>700</c:v>
                </c:pt>
              </c:numCache>
            </c:numRef>
          </c:val>
        </c:ser>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F3F6F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1B3D"/>
                </a:solidFill>
                <a:latin typeface="Arial"/>
              </a:defRPr>
            </a:pPr>
            <a:r>
              <a:rPr sz="1150" b="0" i="0" u="none" strike="noStrike">
                <a:solidFill>
                  <a:srgbClr val="0A1B3D"/>
                </a:solidFill>
                <a:latin typeface="Arial"/>
              </a:rPr>
              <a:t>営業利益と営業利益率の推移</a:t>
            </a:r>
          </a:p>
        </c:rich>
      </c:tx>
      <c:layout/>
      <c:overlay val="0"/>
    </c:title>
    <c:autoTitleDeleted val="0"/>
    <c:plotArea>
      <c:layout/>
      <c:barChart>
        <c:barDir val="col"/>
        <c:grouping val="clustered"/>
        <c:varyColors val="0"/>
        <c:ser>
          <c:idx val="0"/>
          <c:order val="0"/>
          <c:tx>
            <c:strRef>
              <c:f>Sheet1!$B$1</c:f>
              <c:strCache>
                <c:ptCount val="1"/>
                <c:pt idx="0">
                  <c:v>営業利益（万円）</c:v>
                </c:pt>
              </c:strCache>
            </c:strRef>
          </c:tx>
          <c:spPr>
            <a:solidFill>
              <a:srgbClr val="2563EB"/>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2563EB"/>
              </a:solidFill>
              <a:effectLst/>
            </c:spPr>
          </c:dPt>
          <c:dPt>
            <c:idx val="1"/>
            <c:invertIfNegative val="0"/>
            <c:bubble3D val="0"/>
            <c:spPr>
              <a:solidFill>
                <a:srgbClr val="00D4FF"/>
              </a:solidFill>
              <a:effectLst/>
            </c:spPr>
          </c:dPt>
          <c:dPt>
            <c:idx val="2"/>
            <c:invertIfNegative val="0"/>
            <c:bubble3D val="0"/>
            <c:spPr>
              <a:solidFill>
                <a:srgbClr val="2563EB"/>
              </a:solidFill>
              <a:effectLst/>
            </c:spPr>
          </c:dPt>
          <c:cat>
            <c:multiLvlStrRef>
              <c:f>Sheet1!$A$2:$A$4</c:f>
              <c:multiLvlStrCache>
                <c:ptCount val="3"/>
                <c:lvl>
                  <c:pt idx="0">
                    <c:v>Year 1</c:v>
                  </c:pt>
                  <c:pt idx="1">
                    <c:v>Year 2</c:v>
                  </c:pt>
                  <c:pt idx="2">
                    <c:v>Year 3</c:v>
                  </c:pt>
                </c:lvl>
              </c:multiLvlStrCache>
            </c:multiLvlStrRef>
          </c:cat>
          <c:val>
            <c:numRef>
              <c:f>Sheet1!$B$2:$B$4</c:f>
              <c:numCache>
                <c:formatCode>General</c:formatCode>
                <c:ptCount val="3"/>
                <c:pt idx="0">
                  <c:v>-899</c:v>
                </c:pt>
                <c:pt idx="1">
                  <c:v>487</c:v>
                </c:pt>
                <c:pt idx="2">
                  <c:v>4632</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営業利益率（%）</c:v>
                </c:pt>
              </c:strCache>
            </c:strRef>
          </c:tx>
          <c:spPr>
            <a:solidFill>
              <a:srgbClr val="2563EB"/>
            </a:solidFill>
            <a:ln w="38100" cap="flat">
              <a:solidFill>
                <a:srgbClr val="2563EB"/>
              </a:solidFill>
              <a:prstDash val="solid"/>
              <a:round/>
            </a:ln>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marker>
            <c:symbol val="circle"/>
            <c:size val="8"/>
            <c:spPr>
              <a:solidFill>
                <a:srgbClr val="00D4FF"/>
              </a:solidFill>
              <a:ln w="9525" cap="flat">
                <a:solidFill>
                  <a:srgbClr val="2563EB"/>
                </a:solidFill>
                <a:prstDash val="solid"/>
                <a:round/>
              </a:ln>
              <a:effectLst/>
            </c:spPr>
          </c:marker>
          <c:cat>
            <c:multiLvlStrRef>
              <c:f>Sheet1!$A$2:$A$4</c:f>
              <c:multiLvlStrCache>
                <c:ptCount val="3"/>
                <c:lvl>
                  <c:pt idx="0">
                    <c:v>Year 1</c:v>
                  </c:pt>
                  <c:pt idx="1">
                    <c:v>Year 2</c:v>
                  </c:pt>
                  <c:pt idx="2">
                    <c:v>Year 3</c:v>
                  </c:pt>
                </c:lvl>
              </c:multiLvlStrCache>
            </c:multiLvlStrRef>
          </c:cat>
          <c:val>
            <c:numRef>
              <c:f>Sheet1!$C$2:$C$4</c:f>
              <c:numCache>
                <c:formatCode>General</c:formatCode>
                <c:ptCount val="3"/>
                <c:pt idx="0">
                  <c:v>-176</c:v>
                </c:pt>
                <c:pt idx="1">
                  <c:v>16</c:v>
                </c:pt>
                <c:pt idx="2">
                  <c:v>46.8</c:v>
                </c:pt>
              </c:numCache>
            </c:numRef>
          </c:val>
          <c:smooth val="0"/>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6000"/>
          <c:min val="-2000"/>
        </c:scaling>
        <c:delete val="0"/>
        <c:axPos val="l"/>
        <c:majorGridlines>
          <c:spPr>
            <a:ln w="12700" cap="flat">
              <a:solidFill>
                <a:srgbClr val="F3F6FA"/>
              </a:solidFill>
              <a:prstDash val="solid"/>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営業利益（万円）</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4"/>
        <c:crosses val="autoZero"/>
        <c:crossBetween val="between"/>
      </c:valAx>
      <c:valAx>
        <c:axId val="2094734553"/>
        <c:scaling>
          <c:orientation val="minMax"/>
          <c:max val="200"/>
          <c:min val="-400"/>
        </c:scaling>
        <c:delete val="0"/>
        <c:axPos val="r"/>
        <c:title>
          <c:tx>
            <c:rich>
              <a:bodyPr/>
              <a:lstStyle/>
              <a:p>
                <a:pPr>
                  <a:defRPr sz="900" b="0" i="0" u="none" strike="noStrike">
                    <a:solidFill>
                      <a:srgbClr val="000000"/>
                    </a:solidFill>
                    <a:latin typeface="Arial"/>
                  </a:defRPr>
                </a:pPr>
                <a:r>
                  <a:rPr sz="900" b="0" i="0" u="none" strike="noStrike">
                    <a:solidFill>
                      <a:srgbClr val="000000"/>
                    </a:solidFill>
                    <a:latin typeface="Arial"/>
                  </a:rPr>
                  <a:t>営業利益率（%）</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93B"/>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
                </c:pt>
              </c:strCache>
            </c:strRef>
          </c:tx>
          <c:spPr>
            <a:solidFill>
              <a:schemeClr val="accent1"/>
            </a:solidFill>
            <a:ln w="9525" cap="flat">
              <a:solidFill>
                <a:srgbClr val="F9F9F9"/>
              </a:solidFill>
              <a:prstDash val="solid"/>
              <a:round/>
            </a:ln>
            <a:effectLst/>
          </c:spPr>
          <c:dPt>
            <c:idx val="0"/>
            <c:bubble3D val="0"/>
            <c:spPr>
              <a:solidFill>
                <a:srgbClr val="0A1B3D"/>
              </a:solidFill>
              <a:ln w="25400" cap="flat">
                <a:solidFill>
                  <a:srgbClr val="FFFFFF"/>
                </a:solidFill>
                <a:prstDash val="solid"/>
                <a:round/>
              </a:ln>
              <a:effectLst/>
            </c:spPr>
          </c:dPt>
          <c:dPt>
            <c:idx val="1"/>
            <c:bubble3D val="0"/>
            <c:spPr>
              <a:solidFill>
                <a:srgbClr val="2563EB"/>
              </a:solidFill>
              <a:ln w="25400" cap="flat">
                <a:solidFill>
                  <a:srgbClr val="FFFFFF"/>
                </a:solidFill>
                <a:prstDash val="solid"/>
                <a:round/>
              </a:ln>
              <a:effectLst/>
            </c:spPr>
          </c:dPt>
          <c:dPt>
            <c:idx val="2"/>
            <c:bubble3D val="0"/>
            <c:spPr>
              <a:solidFill>
                <a:srgbClr val="60A5FA"/>
              </a:solidFill>
              <a:ln w="25400" cap="flat">
                <a:solidFill>
                  <a:srgbClr val="FFFFFF"/>
                </a:solidFill>
                <a:prstDash val="solid"/>
                <a:round/>
              </a:ln>
              <a:effectLst/>
            </c:spPr>
          </c:dPt>
          <c:dPt>
            <c:idx val="3"/>
            <c:bubble3D val="0"/>
            <c:spPr>
              <a:solidFill>
                <a:srgbClr val="8AB4F8"/>
              </a:solidFill>
              <a:ln w="25400" cap="flat">
                <a:solidFill>
                  <a:srgbClr val="FFFFFF"/>
                </a:solidFill>
                <a:prstDash val="solid"/>
                <a:round/>
              </a:ln>
              <a:effectLst/>
            </c:spPr>
          </c:dPt>
          <c:dPt>
            <c:idx val="4"/>
            <c:bubble3D val="0"/>
            <c:spPr>
              <a:solidFill>
                <a:srgbClr val="C9D9F8"/>
              </a:solidFill>
              <a:ln w="25400" cap="flat">
                <a:solidFill>
                  <a:srgbClr val="FFFFFF"/>
                </a:solidFill>
                <a:prstDash val="solid"/>
                <a:round/>
              </a:ln>
              <a:effectLst/>
            </c:spPr>
          </c:dPt>
          <c:dLbls>
            <c:dLbl>
              <c:idx val="0"/>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1"/>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2"/>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3"/>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4"/>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開発費</c:v>
                </c:pt>
                <c:pt idx="1">
                  <c:v>サーバー・インフラ費</c:v>
                </c:pt>
                <c:pt idx="2">
                  <c:v>営業費</c:v>
                </c:pt>
                <c:pt idx="3">
                  <c:v>広告宣伝費</c:v>
                </c:pt>
                <c:pt idx="4">
                  <c:v>運転資金</c:v>
                </c:pt>
              </c:strCache>
            </c:strRef>
          </c:cat>
          <c:val>
            <c:numRef>
              <c:f>Sheet1!$B$2:$B$6</c:f>
              <c:numCache>
                <c:ptCount val="5"/>
                <c:pt idx="0">
                  <c:v>35</c:v>
                </c:pt>
                <c:pt idx="1">
                  <c:v>15</c:v>
                </c:pt>
                <c:pt idx="2">
                  <c:v>20</c:v>
                </c:pt>
                <c:pt idx="3">
                  <c:v>15</c:v>
                </c:pt>
                <c:pt idx="4">
                  <c:v>15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B3D"/>
        </a:solidFill>
      </p:bgPr>
    </p:bg>
    <p:spTree>
      <p:nvGrpSpPr>
        <p:cNvPr id="1" name=""/>
        <p:cNvGrpSpPr/>
        <p:nvPr/>
      </p:nvGrpSpPr>
      <p:grpSpPr>
        <a:xfrm>
          <a:off x="0" y="0"/>
          <a:ext cx="0" cy="0"/>
          <a:chOff x="0" y="0"/>
          <a:chExt cx="0" cy="0"/>
        </a:xfrm>
      </p:grpSpPr>
      <p:sp>
        <p:nvSpPr>
          <p:cNvPr id="2" name="Shape 0"/>
          <p:cNvSpPr/>
          <p:nvPr/>
        </p:nvSpPr>
        <p:spPr>
          <a:xfrm>
            <a:off x="8778240" y="-2377440"/>
            <a:ext cx="5943600" cy="5943600"/>
          </a:xfrm>
          <a:prstGeom prst="ellipse">
            <a:avLst/>
          </a:prstGeom>
          <a:solidFill>
            <a:srgbClr val="2563EB">
              <a:alpha val="12000"/>
            </a:srgbClr>
          </a:solidFill>
          <a:ln/>
        </p:spPr>
      </p:sp>
      <p:sp>
        <p:nvSpPr>
          <p:cNvPr id="3" name="Shape 1"/>
          <p:cNvSpPr/>
          <p:nvPr/>
        </p:nvSpPr>
        <p:spPr>
          <a:xfrm>
            <a:off x="-2743200" y="4389120"/>
            <a:ext cx="5029200" cy="5029200"/>
          </a:xfrm>
          <a:prstGeom prst="ellipse">
            <a:avLst/>
          </a:prstGeom>
          <a:solidFill>
            <a:srgbClr val="00D4FF">
              <a:alpha val="7000"/>
            </a:srgbClr>
          </a:solidFill>
          <a:ln/>
        </p:spPr>
      </p:sp>
      <p:sp>
        <p:nvSpPr>
          <p:cNvPr id="4" name="Text 2"/>
          <p:cNvSpPr/>
          <p:nvPr/>
        </p:nvSpPr>
        <p:spPr>
          <a:xfrm>
            <a:off x="0" y="777240"/>
            <a:ext cx="12191695" cy="365760"/>
          </a:xfrm>
          <a:prstGeom prst="rect">
            <a:avLst/>
          </a:prstGeom>
          <a:noFill/>
          <a:ln/>
        </p:spPr>
        <p:txBody>
          <a:bodyPr wrap="square" lIns="0" tIns="0" rIns="0" bIns="0" rtlCol="0" anchor="ctr"/>
          <a:lstStyle/>
          <a:p>
            <a:pPr algn="ctr" indent="0" marL="0">
              <a:buNone/>
            </a:pPr>
            <a:r>
              <a:rPr lang="en-US" sz="1200" b="1" spc="300" kern="0" dirty="0">
                <a:solidFill>
                  <a:srgbClr val="60A5FA"/>
                </a:solidFill>
                <a:latin typeface="Calibri" pitchFamily="34" charset="0"/>
                <a:ea typeface="Calibri" pitchFamily="34" charset="-122"/>
                <a:cs typeface="Calibri" pitchFamily="34" charset="-120"/>
              </a:rPr>
              <a:t>CONFIDENTIAL  ―  銀行提出用資料</a:t>
            </a:r>
            <a:endParaRPr lang="en-US" sz="1200" dirty="0"/>
          </a:p>
        </p:txBody>
      </p:sp>
      <p:pic>
        <p:nvPicPr>
          <p:cNvPr id="5" name="Image 0" descr="C:\Users\user\Desktop\SmartLabo\DESIGN_ASSETS\01_LOGO\White\smartlabo_logo_white_lockup.png">    </p:cNvPr>
          <p:cNvPicPr>
            <a:picLocks noChangeAspect="1"/>
          </p:cNvPicPr>
          <p:nvPr/>
        </p:nvPicPr>
        <p:blipFill>
          <a:blip r:embed="rId1"/>
          <a:stretch>
            <a:fillRect/>
          </a:stretch>
        </p:blipFill>
        <p:spPr>
          <a:xfrm>
            <a:off x="3992728" y="1417320"/>
            <a:ext cx="4206240" cy="1425844"/>
          </a:xfrm>
          <a:prstGeom prst="rect">
            <a:avLst/>
          </a:prstGeom>
        </p:spPr>
      </p:pic>
      <p:sp>
        <p:nvSpPr>
          <p:cNvPr id="6" name="Text 3"/>
          <p:cNvSpPr/>
          <p:nvPr/>
        </p:nvSpPr>
        <p:spPr>
          <a:xfrm>
            <a:off x="0" y="3063240"/>
            <a:ext cx="12191695" cy="105156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事業計画書</a:t>
            </a:r>
            <a:endParaRPr lang="en-US" sz="5400" dirty="0"/>
          </a:p>
        </p:txBody>
      </p:sp>
      <p:sp>
        <p:nvSpPr>
          <p:cNvPr id="7" name="Text 4"/>
          <p:cNvSpPr/>
          <p:nvPr/>
        </p:nvSpPr>
        <p:spPr>
          <a:xfrm>
            <a:off x="0" y="4160520"/>
            <a:ext cx="12191695" cy="502920"/>
          </a:xfrm>
          <a:prstGeom prst="rect">
            <a:avLst/>
          </a:prstGeom>
          <a:noFill/>
          <a:ln/>
        </p:spPr>
        <p:txBody>
          <a:bodyPr wrap="square" lIns="0" tIns="0" rIns="0" bIns="0" rtlCol="0" anchor="ctr"/>
          <a:lstStyle/>
          <a:p>
            <a:pPr algn="ctr" indent="0" marL="0">
              <a:buNone/>
            </a:pPr>
            <a:r>
              <a:rPr lang="en-US" sz="2200" dirty="0">
                <a:solidFill>
                  <a:srgbClr val="60A5FA"/>
                </a:solidFill>
                <a:latin typeface="Calibri" pitchFamily="34" charset="0"/>
                <a:ea typeface="Calibri" pitchFamily="34" charset="-122"/>
                <a:cs typeface="Calibri" pitchFamily="34" charset="-120"/>
              </a:rPr>
              <a:t>株式会社スマートラボ</a:t>
            </a:r>
            <a:endParaRPr lang="en-US" sz="2200" dirty="0"/>
          </a:p>
        </p:txBody>
      </p:sp>
      <p:sp>
        <p:nvSpPr>
          <p:cNvPr id="8" name="Text 5"/>
          <p:cNvSpPr/>
          <p:nvPr/>
        </p:nvSpPr>
        <p:spPr>
          <a:xfrm>
            <a:off x="0" y="5989320"/>
            <a:ext cx="12191695" cy="365760"/>
          </a:xfrm>
          <a:prstGeom prst="rect">
            <a:avLst/>
          </a:prstGeom>
          <a:noFill/>
          <a:ln/>
        </p:spPr>
        <p:txBody>
          <a:bodyPr wrap="square" lIns="0" tIns="0" rIns="0" bIns="0" rtlCol="0" anchor="ctr"/>
          <a:lstStyle/>
          <a:p>
            <a:pPr algn="ctr" indent="0" marL="0">
              <a:buNone/>
            </a:pPr>
            <a:r>
              <a:rPr lang="en-US" sz="1100" dirty="0">
                <a:solidFill>
                  <a:srgbClr val="8CA3C7"/>
                </a:solidFill>
                <a:latin typeface="Calibri" pitchFamily="34" charset="0"/>
                <a:ea typeface="Calibri" pitchFamily="34" charset="-122"/>
                <a:cs typeface="Calibri" pitchFamily="34" charset="-120"/>
              </a:rPr>
              <a:t>Version 1.2　|　2026年7月　|　smartlaboworks.com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OUR VISION</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700" b="1" dirty="0">
                <a:solidFill>
                  <a:srgbClr val="0A1B3D"/>
                </a:solidFill>
                <a:latin typeface="Cambria" pitchFamily="34" charset="0"/>
                <a:ea typeface="Cambria" pitchFamily="34" charset="-122"/>
                <a:cs typeface="Cambria" pitchFamily="34" charset="-120"/>
              </a:rPr>
              <a:t>AIで、中小企業の可能性を最大化する。</a:t>
            </a:r>
            <a:endParaRPr lang="en-US" sz="2700" dirty="0"/>
          </a:p>
        </p:txBody>
      </p:sp>
      <p:sp>
        <p:nvSpPr>
          <p:cNvPr id="4" name="Text 2"/>
          <p:cNvSpPr/>
          <p:nvPr/>
        </p:nvSpPr>
        <p:spPr>
          <a:xfrm>
            <a:off x="502920" y="1691640"/>
            <a:ext cx="5212080" cy="365760"/>
          </a:xfrm>
          <a:prstGeom prst="rect">
            <a:avLst/>
          </a:prstGeom>
          <a:noFill/>
          <a:ln/>
        </p:spPr>
        <p:txBody>
          <a:bodyPr wrap="square" lIns="0" tIns="0" rIns="0" bIns="0" rtlCol="0" anchor="ctr"/>
          <a:lstStyle/>
          <a:p>
            <a:pPr indent="0" marL="0">
              <a:buNone/>
            </a:pPr>
            <a:r>
              <a:rPr lang="en-US" sz="1600" b="1" dirty="0">
                <a:solidFill>
                  <a:srgbClr val="0A1B3D"/>
                </a:solidFill>
                <a:latin typeface="Calibri" pitchFamily="34" charset="0"/>
                <a:ea typeface="Calibri" pitchFamily="34" charset="-122"/>
                <a:cs typeface="Calibri" pitchFamily="34" charset="-120"/>
              </a:rPr>
              <a:t>私たちが見ている社会課題</a:t>
            </a:r>
            <a:endParaRPr lang="en-US" sz="1600" dirty="0"/>
          </a:p>
        </p:txBody>
      </p:sp>
      <p:sp>
        <p:nvSpPr>
          <p:cNvPr id="5" name="Shape 3"/>
          <p:cNvSpPr/>
          <p:nvPr/>
        </p:nvSpPr>
        <p:spPr>
          <a:xfrm>
            <a:off x="502920" y="2194560"/>
            <a:ext cx="5212080" cy="960120"/>
          </a:xfrm>
          <a:prstGeom prst="roundRect">
            <a:avLst>
              <a:gd name="adj" fmla="val 7619"/>
            </a:avLst>
          </a:prstGeom>
          <a:solidFill>
            <a:srgbClr val="F3F6FA"/>
          </a:solidFill>
          <a:ln/>
          <a:effectLst>
            <a:outerShdw sx="100000" sy="100000" kx="0" ky="0" algn="bl" rotWithShape="0" blurRad="76200" dist="25400" dir="5400000">
              <a:srgbClr val="0A1B3D">
                <a:alpha val="12000"/>
              </a:srgbClr>
            </a:outerShdw>
          </a:effectLst>
        </p:spPr>
      </p:sp>
      <p:sp>
        <p:nvSpPr>
          <p:cNvPr id="6" name="Shape 4"/>
          <p:cNvSpPr/>
          <p:nvPr/>
        </p:nvSpPr>
        <p:spPr>
          <a:xfrm>
            <a:off x="685800" y="2414016"/>
            <a:ext cx="512064" cy="512064"/>
          </a:xfrm>
          <a:prstGeom prst="ellipse">
            <a:avLst/>
          </a:prstGeom>
          <a:solidFill>
            <a:srgbClr val="0A1B3D"/>
          </a:solidFill>
          <a:ln/>
        </p:spPr>
      </p:sp>
      <p:pic>
        <p:nvPicPr>
          <p:cNvPr id="7" name="Image 0" descr="C:\Users\user\AppData\Local\Temp\claude\C--Users-user-Desktop-TOEIC---\46f2443e-6c5b-45fc-8f6e-79718ae21477\scratchpad\business-plan\icons\warning.png">    </p:cNvPr>
          <p:cNvPicPr>
            <a:picLocks noChangeAspect="1"/>
          </p:cNvPicPr>
          <p:nvPr/>
        </p:nvPicPr>
        <p:blipFill>
          <a:blip r:embed="rId1"/>
          <a:stretch>
            <a:fillRect/>
          </a:stretch>
        </p:blipFill>
        <p:spPr>
          <a:xfrm>
            <a:off x="813816" y="2542032"/>
            <a:ext cx="256032" cy="256032"/>
          </a:xfrm>
          <a:prstGeom prst="rect">
            <a:avLst/>
          </a:prstGeom>
        </p:spPr>
      </p:pic>
      <p:sp>
        <p:nvSpPr>
          <p:cNvPr id="8" name="Text 5"/>
          <p:cNvSpPr/>
          <p:nvPr/>
        </p:nvSpPr>
        <p:spPr>
          <a:xfrm>
            <a:off x="1371600" y="2267712"/>
            <a:ext cx="4206240" cy="822960"/>
          </a:xfrm>
          <a:prstGeom prst="rect">
            <a:avLst/>
          </a:prstGeom>
          <a:noFill/>
          <a:ln/>
        </p:spPr>
        <p:txBody>
          <a:bodyPr wrap="square" lIns="0" tIns="0" rIns="0" bIns="0" rtlCol="0" anchor="ctr"/>
          <a:lstStyle/>
          <a:p>
            <a:pPr indent="0" marL="0">
              <a:lnSpc>
                <a:spcPct val="105000"/>
              </a:lnSpc>
              <a:buNone/>
            </a:pPr>
            <a:r>
              <a:rPr lang="en-US" sz="1150" dirty="0">
                <a:solidFill>
                  <a:srgbClr val="1E293B"/>
                </a:solidFill>
                <a:latin typeface="Calibri" pitchFamily="34" charset="0"/>
                <a:ea typeface="Calibri" pitchFamily="34" charset="-122"/>
                <a:cs typeface="Calibri" pitchFamily="34" charset="-120"/>
              </a:rPr>
              <a:t>人手不足と高齢化により、中小企業の社長は経営者であると同時に現場の実務者を兼務している</a:t>
            </a:r>
            <a:endParaRPr lang="en-US" sz="1150" dirty="0"/>
          </a:p>
        </p:txBody>
      </p:sp>
      <p:sp>
        <p:nvSpPr>
          <p:cNvPr id="9" name="Shape 6"/>
          <p:cNvSpPr/>
          <p:nvPr/>
        </p:nvSpPr>
        <p:spPr>
          <a:xfrm>
            <a:off x="502920" y="3310128"/>
            <a:ext cx="5212080" cy="960120"/>
          </a:xfrm>
          <a:prstGeom prst="roundRect">
            <a:avLst>
              <a:gd name="adj" fmla="val 7619"/>
            </a:avLst>
          </a:prstGeom>
          <a:solidFill>
            <a:srgbClr val="F3F6FA"/>
          </a:solidFill>
          <a:ln/>
          <a:effectLst>
            <a:outerShdw sx="100000" sy="100000" kx="0" ky="0" algn="bl" rotWithShape="0" blurRad="76200" dist="25400" dir="5400000">
              <a:srgbClr val="0A1B3D">
                <a:alpha val="12000"/>
              </a:srgbClr>
            </a:outerShdw>
          </a:effectLst>
        </p:spPr>
      </p:sp>
      <p:sp>
        <p:nvSpPr>
          <p:cNvPr id="10" name="Shape 7"/>
          <p:cNvSpPr/>
          <p:nvPr/>
        </p:nvSpPr>
        <p:spPr>
          <a:xfrm>
            <a:off x="685800" y="3529584"/>
            <a:ext cx="512064" cy="512064"/>
          </a:xfrm>
          <a:prstGeom prst="ellipse">
            <a:avLst/>
          </a:prstGeom>
          <a:solidFill>
            <a:srgbClr val="0A1B3D"/>
          </a:solidFill>
          <a:ln/>
        </p:spPr>
      </p:sp>
      <p:pic>
        <p:nvPicPr>
          <p:cNvPr id="11" name="Image 1" descr="C:\Users\user\AppData\Local\Temp\claude\C--Users-user-Desktop-TOEIC---\46f2443e-6c5b-45fc-8f6e-79718ae21477\scratchpad\business-plan\icons\warning.png">    </p:cNvPr>
          <p:cNvPicPr>
            <a:picLocks noChangeAspect="1"/>
          </p:cNvPicPr>
          <p:nvPr/>
        </p:nvPicPr>
        <p:blipFill>
          <a:blip r:embed="rId2"/>
          <a:stretch>
            <a:fillRect/>
          </a:stretch>
        </p:blipFill>
        <p:spPr>
          <a:xfrm>
            <a:off x="813816" y="3657600"/>
            <a:ext cx="256032" cy="256032"/>
          </a:xfrm>
          <a:prstGeom prst="rect">
            <a:avLst/>
          </a:prstGeom>
        </p:spPr>
      </p:pic>
      <p:sp>
        <p:nvSpPr>
          <p:cNvPr id="12" name="Text 8"/>
          <p:cNvSpPr/>
          <p:nvPr/>
        </p:nvSpPr>
        <p:spPr>
          <a:xfrm>
            <a:off x="1371600" y="3383280"/>
            <a:ext cx="4206240" cy="822960"/>
          </a:xfrm>
          <a:prstGeom prst="rect">
            <a:avLst/>
          </a:prstGeom>
          <a:noFill/>
          <a:ln/>
        </p:spPr>
        <p:txBody>
          <a:bodyPr wrap="square" lIns="0" tIns="0" rIns="0" bIns="0" rtlCol="0" anchor="ctr"/>
          <a:lstStyle/>
          <a:p>
            <a:pPr indent="0" marL="0">
              <a:lnSpc>
                <a:spcPct val="105000"/>
              </a:lnSpc>
              <a:buNone/>
            </a:pPr>
            <a:r>
              <a:rPr lang="en-US" sz="1150" dirty="0">
                <a:solidFill>
                  <a:srgbClr val="1E293B"/>
                </a:solidFill>
                <a:latin typeface="Calibri" pitchFamily="34" charset="0"/>
                <a:ea typeface="Calibri" pitchFamily="34" charset="-122"/>
                <a:cs typeface="Calibri" pitchFamily="34" charset="-120"/>
              </a:rPr>
              <a:t>経理・契約書確認・見積作成・問い合わせ対応など、本来仕組み化できるはずの業務に日々の時間の多くを奪われている</a:t>
            </a:r>
            <a:endParaRPr lang="en-US" sz="1150" dirty="0"/>
          </a:p>
        </p:txBody>
      </p:sp>
      <p:sp>
        <p:nvSpPr>
          <p:cNvPr id="13" name="Shape 9"/>
          <p:cNvSpPr/>
          <p:nvPr/>
        </p:nvSpPr>
        <p:spPr>
          <a:xfrm>
            <a:off x="502920" y="4425696"/>
            <a:ext cx="5212080" cy="960120"/>
          </a:xfrm>
          <a:prstGeom prst="roundRect">
            <a:avLst>
              <a:gd name="adj" fmla="val 7619"/>
            </a:avLst>
          </a:prstGeom>
          <a:solidFill>
            <a:srgbClr val="F3F6FA"/>
          </a:solidFill>
          <a:ln/>
          <a:effectLst>
            <a:outerShdw sx="100000" sy="100000" kx="0" ky="0" algn="bl" rotWithShape="0" blurRad="76200" dist="25400" dir="5400000">
              <a:srgbClr val="0A1B3D">
                <a:alpha val="12000"/>
              </a:srgbClr>
            </a:outerShdw>
          </a:effectLst>
        </p:spPr>
      </p:sp>
      <p:sp>
        <p:nvSpPr>
          <p:cNvPr id="14" name="Shape 10"/>
          <p:cNvSpPr/>
          <p:nvPr/>
        </p:nvSpPr>
        <p:spPr>
          <a:xfrm>
            <a:off x="685800" y="4645152"/>
            <a:ext cx="512064" cy="512064"/>
          </a:xfrm>
          <a:prstGeom prst="ellipse">
            <a:avLst/>
          </a:prstGeom>
          <a:solidFill>
            <a:srgbClr val="0A1B3D"/>
          </a:solidFill>
          <a:ln/>
        </p:spPr>
      </p:sp>
      <p:pic>
        <p:nvPicPr>
          <p:cNvPr id="15" name="Image 2" descr="C:\Users\user\AppData\Local\Temp\claude\C--Users-user-Desktop-TOEIC---\46f2443e-6c5b-45fc-8f6e-79718ae21477\scratchpad\business-plan\icons\warning.png">    </p:cNvPr>
          <p:cNvPicPr>
            <a:picLocks noChangeAspect="1"/>
          </p:cNvPicPr>
          <p:nvPr/>
        </p:nvPicPr>
        <p:blipFill>
          <a:blip r:embed="rId3"/>
          <a:stretch>
            <a:fillRect/>
          </a:stretch>
        </p:blipFill>
        <p:spPr>
          <a:xfrm>
            <a:off x="813816" y="4773168"/>
            <a:ext cx="256032" cy="256032"/>
          </a:xfrm>
          <a:prstGeom prst="rect">
            <a:avLst/>
          </a:prstGeom>
        </p:spPr>
      </p:pic>
      <p:sp>
        <p:nvSpPr>
          <p:cNvPr id="16" name="Text 11"/>
          <p:cNvSpPr/>
          <p:nvPr/>
        </p:nvSpPr>
        <p:spPr>
          <a:xfrm>
            <a:off x="1371600" y="4498848"/>
            <a:ext cx="4206240" cy="822960"/>
          </a:xfrm>
          <a:prstGeom prst="rect">
            <a:avLst/>
          </a:prstGeom>
          <a:noFill/>
          <a:ln/>
        </p:spPr>
        <p:txBody>
          <a:bodyPr wrap="square" lIns="0" tIns="0" rIns="0" bIns="0" rtlCol="0" anchor="ctr"/>
          <a:lstStyle/>
          <a:p>
            <a:pPr indent="0" marL="0">
              <a:lnSpc>
                <a:spcPct val="105000"/>
              </a:lnSpc>
              <a:buNone/>
            </a:pPr>
            <a:r>
              <a:rPr lang="en-US" sz="1150" dirty="0">
                <a:solidFill>
                  <a:srgbClr val="1E293B"/>
                </a:solidFill>
                <a:latin typeface="Calibri" pitchFamily="34" charset="0"/>
                <a:ea typeface="Calibri" pitchFamily="34" charset="-122"/>
                <a:cs typeface="Calibri" pitchFamily="34" charset="-120"/>
              </a:rPr>
              <a:t>その結果、最も重要であるはずの「事業を前に進める判断」に、十分な時間を割けていない</a:t>
            </a:r>
            <a:endParaRPr lang="en-US" sz="1150" dirty="0"/>
          </a:p>
        </p:txBody>
      </p:sp>
      <p:sp>
        <p:nvSpPr>
          <p:cNvPr id="17" name="Text 12"/>
          <p:cNvSpPr/>
          <p:nvPr/>
        </p:nvSpPr>
        <p:spPr>
          <a:xfrm>
            <a:off x="6309360" y="1691640"/>
            <a:ext cx="5394960" cy="365760"/>
          </a:xfrm>
          <a:prstGeom prst="rect">
            <a:avLst/>
          </a:prstGeom>
          <a:noFill/>
          <a:ln/>
        </p:spPr>
        <p:txBody>
          <a:bodyPr wrap="square" lIns="0" tIns="0" rIns="0" bIns="0" rtlCol="0" anchor="ctr"/>
          <a:lstStyle/>
          <a:p>
            <a:pPr indent="0" marL="0">
              <a:buNone/>
            </a:pPr>
            <a:r>
              <a:rPr lang="en-US" sz="1600" b="1" dirty="0">
                <a:solidFill>
                  <a:srgbClr val="0A1B3D"/>
                </a:solidFill>
                <a:latin typeface="Calibri" pitchFamily="34" charset="0"/>
                <a:ea typeface="Calibri" pitchFamily="34" charset="-122"/>
                <a:cs typeface="Calibri" pitchFamily="34" charset="-120"/>
              </a:rPr>
              <a:t>私たちの理念</a:t>
            </a:r>
            <a:endParaRPr lang="en-US" sz="1600" dirty="0"/>
          </a:p>
        </p:txBody>
      </p:sp>
      <p:sp>
        <p:nvSpPr>
          <p:cNvPr id="18" name="Shape 13"/>
          <p:cNvSpPr/>
          <p:nvPr/>
        </p:nvSpPr>
        <p:spPr>
          <a:xfrm>
            <a:off x="6309360" y="2194560"/>
            <a:ext cx="5394960" cy="960120"/>
          </a:xfrm>
          <a:prstGeom prst="roundRect">
            <a:avLst>
              <a:gd name="adj" fmla="val 7619"/>
            </a:avLst>
          </a:prstGeom>
          <a:solidFill>
            <a:srgbClr val="0A1B3D"/>
          </a:solidFill>
          <a:ln/>
        </p:spPr>
      </p:sp>
      <p:sp>
        <p:nvSpPr>
          <p:cNvPr id="19" name="Shape 14"/>
          <p:cNvSpPr/>
          <p:nvPr/>
        </p:nvSpPr>
        <p:spPr>
          <a:xfrm>
            <a:off x="6492240" y="2414016"/>
            <a:ext cx="512064" cy="512064"/>
          </a:xfrm>
          <a:prstGeom prst="ellipse">
            <a:avLst/>
          </a:prstGeom>
          <a:solidFill>
            <a:srgbClr val="2563EB"/>
          </a:solidFill>
          <a:ln/>
        </p:spPr>
      </p:sp>
      <p:pic>
        <p:nvPicPr>
          <p:cNvPr id="20" name="Image 3" descr="C:\Users\user\AppData\Local\Temp\claude\C--Users-user-Desktop-TOEIC---\46f2443e-6c5b-45fc-8f6e-79718ae21477\scratchpad\business-plan\icons\bullseye.png">    </p:cNvPr>
          <p:cNvPicPr>
            <a:picLocks noChangeAspect="1"/>
          </p:cNvPicPr>
          <p:nvPr/>
        </p:nvPicPr>
        <p:blipFill>
          <a:blip r:embed="rId4"/>
          <a:stretch>
            <a:fillRect/>
          </a:stretch>
        </p:blipFill>
        <p:spPr>
          <a:xfrm>
            <a:off x="6620256" y="2542032"/>
            <a:ext cx="256032" cy="256032"/>
          </a:xfrm>
          <a:prstGeom prst="rect">
            <a:avLst/>
          </a:prstGeom>
        </p:spPr>
      </p:pic>
      <p:sp>
        <p:nvSpPr>
          <p:cNvPr id="21" name="Text 15"/>
          <p:cNvSpPr/>
          <p:nvPr/>
        </p:nvSpPr>
        <p:spPr>
          <a:xfrm>
            <a:off x="7178040" y="2286000"/>
            <a:ext cx="4389120" cy="256032"/>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Mission</a:t>
            </a:r>
            <a:endParaRPr lang="en-US" sz="1050" dirty="0"/>
          </a:p>
        </p:txBody>
      </p:sp>
      <p:sp>
        <p:nvSpPr>
          <p:cNvPr id="22" name="Text 16"/>
          <p:cNvSpPr/>
          <p:nvPr/>
        </p:nvSpPr>
        <p:spPr>
          <a:xfrm>
            <a:off x="7178040" y="2542032"/>
            <a:ext cx="4389120" cy="548640"/>
          </a:xfrm>
          <a:prstGeom prst="rect">
            <a:avLst/>
          </a:prstGeom>
          <a:noFill/>
          <a:ln/>
        </p:spPr>
        <p:txBody>
          <a:bodyPr wrap="square" lIns="0" tIns="0" rIns="0" bIns="0" rtlCol="0" anchor="ctr"/>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AIで、社長が本来の仕事に集中できる世界をつくる。</a:t>
            </a:r>
            <a:endParaRPr lang="en-US" sz="1150" dirty="0"/>
          </a:p>
        </p:txBody>
      </p:sp>
      <p:sp>
        <p:nvSpPr>
          <p:cNvPr id="23" name="Shape 17"/>
          <p:cNvSpPr/>
          <p:nvPr/>
        </p:nvSpPr>
        <p:spPr>
          <a:xfrm>
            <a:off x="6309360" y="3310128"/>
            <a:ext cx="5394960" cy="960120"/>
          </a:xfrm>
          <a:prstGeom prst="roundRect">
            <a:avLst>
              <a:gd name="adj" fmla="val 7619"/>
            </a:avLst>
          </a:prstGeom>
          <a:solidFill>
            <a:srgbClr val="0A1B3D"/>
          </a:solidFill>
          <a:ln/>
        </p:spPr>
      </p:sp>
      <p:sp>
        <p:nvSpPr>
          <p:cNvPr id="24" name="Shape 18"/>
          <p:cNvSpPr/>
          <p:nvPr/>
        </p:nvSpPr>
        <p:spPr>
          <a:xfrm>
            <a:off x="6492240" y="3529584"/>
            <a:ext cx="512064" cy="512064"/>
          </a:xfrm>
          <a:prstGeom prst="ellipse">
            <a:avLst/>
          </a:prstGeom>
          <a:solidFill>
            <a:srgbClr val="2563EB"/>
          </a:solidFill>
          <a:ln/>
        </p:spPr>
      </p:sp>
      <p:pic>
        <p:nvPicPr>
          <p:cNvPr id="25" name="Image 4" descr="C:\Users\user\AppData\Local\Temp\claude\C--Users-user-Desktop-TOEIC---\46f2443e-6c5b-45fc-8f6e-79718ae21477\scratchpad\business-plan\icons\network.png">    </p:cNvPr>
          <p:cNvPicPr>
            <a:picLocks noChangeAspect="1"/>
          </p:cNvPicPr>
          <p:nvPr/>
        </p:nvPicPr>
        <p:blipFill>
          <a:blip r:embed="rId5"/>
          <a:stretch>
            <a:fillRect/>
          </a:stretch>
        </p:blipFill>
        <p:spPr>
          <a:xfrm>
            <a:off x="6620256" y="3657600"/>
            <a:ext cx="256032" cy="256032"/>
          </a:xfrm>
          <a:prstGeom prst="rect">
            <a:avLst/>
          </a:prstGeom>
        </p:spPr>
      </p:pic>
      <p:sp>
        <p:nvSpPr>
          <p:cNvPr id="26" name="Text 19"/>
          <p:cNvSpPr/>
          <p:nvPr/>
        </p:nvSpPr>
        <p:spPr>
          <a:xfrm>
            <a:off x="7178040" y="3401568"/>
            <a:ext cx="4389120" cy="256032"/>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Vision</a:t>
            </a:r>
            <a:endParaRPr lang="en-US" sz="1050" dirty="0"/>
          </a:p>
        </p:txBody>
      </p:sp>
      <p:sp>
        <p:nvSpPr>
          <p:cNvPr id="27" name="Text 20"/>
          <p:cNvSpPr/>
          <p:nvPr/>
        </p:nvSpPr>
        <p:spPr>
          <a:xfrm>
            <a:off x="7178040" y="3657600"/>
            <a:ext cx="4389120" cy="548640"/>
          </a:xfrm>
          <a:prstGeom prst="rect">
            <a:avLst/>
          </a:prstGeom>
          <a:noFill/>
          <a:ln/>
        </p:spPr>
        <p:txBody>
          <a:bodyPr wrap="square" lIns="0" tIns="0" rIns="0" bIns="0" rtlCol="0" anchor="ctr"/>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日本で最も信頼される、中小企業向けAI経営プラットフォームになる。</a:t>
            </a:r>
            <a:endParaRPr lang="en-US" sz="1150" dirty="0"/>
          </a:p>
        </p:txBody>
      </p:sp>
      <p:sp>
        <p:nvSpPr>
          <p:cNvPr id="28" name="Shape 21"/>
          <p:cNvSpPr/>
          <p:nvPr/>
        </p:nvSpPr>
        <p:spPr>
          <a:xfrm>
            <a:off x="6309360" y="4425696"/>
            <a:ext cx="5394960" cy="960120"/>
          </a:xfrm>
          <a:prstGeom prst="roundRect">
            <a:avLst>
              <a:gd name="adj" fmla="val 7619"/>
            </a:avLst>
          </a:prstGeom>
          <a:solidFill>
            <a:srgbClr val="0A1B3D"/>
          </a:solidFill>
          <a:ln/>
        </p:spPr>
      </p:sp>
      <p:sp>
        <p:nvSpPr>
          <p:cNvPr id="29" name="Shape 22"/>
          <p:cNvSpPr/>
          <p:nvPr/>
        </p:nvSpPr>
        <p:spPr>
          <a:xfrm>
            <a:off x="6492240" y="4645152"/>
            <a:ext cx="512064" cy="512064"/>
          </a:xfrm>
          <a:prstGeom prst="ellipse">
            <a:avLst/>
          </a:prstGeom>
          <a:solidFill>
            <a:srgbClr val="2563EB"/>
          </a:solidFill>
          <a:ln/>
        </p:spPr>
      </p:sp>
      <p:pic>
        <p:nvPicPr>
          <p:cNvPr id="30" name="Image 5" descr="C:\Users\user\AppData\Local\Temp\claude\C--Users-user-Desktop-TOEIC---\46f2443e-6c5b-45fc-8f6e-79718ae21477\scratchpad\business-plan\icons\shield.png">    </p:cNvPr>
          <p:cNvPicPr>
            <a:picLocks noChangeAspect="1"/>
          </p:cNvPicPr>
          <p:nvPr/>
        </p:nvPicPr>
        <p:blipFill>
          <a:blip r:embed="rId6"/>
          <a:stretch>
            <a:fillRect/>
          </a:stretch>
        </p:blipFill>
        <p:spPr>
          <a:xfrm>
            <a:off x="6620256" y="4773168"/>
            <a:ext cx="256032" cy="256032"/>
          </a:xfrm>
          <a:prstGeom prst="rect">
            <a:avLst/>
          </a:prstGeom>
        </p:spPr>
      </p:pic>
      <p:sp>
        <p:nvSpPr>
          <p:cNvPr id="31" name="Text 23"/>
          <p:cNvSpPr/>
          <p:nvPr/>
        </p:nvSpPr>
        <p:spPr>
          <a:xfrm>
            <a:off x="7178040" y="4517136"/>
            <a:ext cx="4389120" cy="256032"/>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Value</a:t>
            </a:r>
            <a:endParaRPr lang="en-US" sz="1050" dirty="0"/>
          </a:p>
        </p:txBody>
      </p:sp>
      <p:sp>
        <p:nvSpPr>
          <p:cNvPr id="32" name="Text 24"/>
          <p:cNvSpPr/>
          <p:nvPr/>
        </p:nvSpPr>
        <p:spPr>
          <a:xfrm>
            <a:off x="7178040" y="4773168"/>
            <a:ext cx="4389120" cy="548640"/>
          </a:xfrm>
          <a:prstGeom prst="rect">
            <a:avLst/>
          </a:prstGeom>
          <a:noFill/>
          <a:ln/>
        </p:spPr>
        <p:txBody>
          <a:bodyPr wrap="square" lIns="0" tIns="0" rIns="0" bIns="0" rtlCol="0" anchor="ctr"/>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シンプルさ・誠実さ・スピード・当事者意識・余白を大切にする ―― 5つの価値観を判断基準とする。</a:t>
            </a:r>
            <a:endParaRPr lang="en-US" sz="1150" dirty="0"/>
          </a:p>
        </p:txBody>
      </p:sp>
      <p:sp>
        <p:nvSpPr>
          <p:cNvPr id="33" name="Text 25"/>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1.2</a:t>
            </a:r>
            <a:endParaRPr lang="en-US" sz="900" dirty="0"/>
          </a:p>
        </p:txBody>
      </p:sp>
      <p:sp>
        <p:nvSpPr>
          <p:cNvPr id="34" name="Text 2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COMPANY PROFILE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会社概要</a:t>
            </a:r>
            <a:endParaRPr lang="en-US" sz="3000" dirty="0"/>
          </a:p>
        </p:txBody>
      </p:sp>
      <p:sp>
        <p:nvSpPr>
          <p:cNvPr id="4" name="Shape 2"/>
          <p:cNvSpPr/>
          <p:nvPr/>
        </p:nvSpPr>
        <p:spPr>
          <a:xfrm>
            <a:off x="502920" y="1783080"/>
            <a:ext cx="3749040" cy="3977640"/>
          </a:xfrm>
          <a:prstGeom prst="roundRect">
            <a:avLst>
              <a:gd name="adj" fmla="val 1951"/>
            </a:avLst>
          </a:prstGeom>
          <a:solidFill>
            <a:srgbClr val="F3F6FA"/>
          </a:solidFill>
          <a:ln/>
          <a:effectLst>
            <a:outerShdw sx="100000" sy="100000" kx="0" ky="0" algn="bl" rotWithShape="0" blurRad="76200" dist="25400" dir="5400000">
              <a:srgbClr val="0A1B3D">
                <a:alpha val="12000"/>
              </a:srgbClr>
            </a:outerShdw>
          </a:effectLst>
        </p:spPr>
      </p:sp>
      <p:pic>
        <p:nvPicPr>
          <p:cNvPr id="5" name="Image 0" descr="C:\Users\user\Desktop\SmartLabo\DESIGN_ASSETS\01_LOGO\Primary\smartlabo_logo_primary.png">    </p:cNvPr>
          <p:cNvPicPr>
            <a:picLocks noChangeAspect="1"/>
          </p:cNvPicPr>
          <p:nvPr/>
        </p:nvPicPr>
        <p:blipFill>
          <a:blip r:embed="rId1"/>
          <a:stretch>
            <a:fillRect/>
          </a:stretch>
        </p:blipFill>
        <p:spPr>
          <a:xfrm>
            <a:off x="1005840" y="2286000"/>
            <a:ext cx="2743200" cy="2027583"/>
          </a:xfrm>
          <a:prstGeom prst="rect">
            <a:avLst/>
          </a:prstGeom>
        </p:spPr>
      </p:pic>
      <p:sp>
        <p:nvSpPr>
          <p:cNvPr id="6" name="Text 3"/>
          <p:cNvSpPr/>
          <p:nvPr/>
        </p:nvSpPr>
        <p:spPr>
          <a:xfrm>
            <a:off x="777240" y="4663440"/>
            <a:ext cx="3200400" cy="822960"/>
          </a:xfrm>
          <a:prstGeom prst="rect">
            <a:avLst/>
          </a:prstGeom>
          <a:noFill/>
          <a:ln/>
        </p:spPr>
        <p:txBody>
          <a:bodyPr wrap="square" lIns="0" tIns="0" rIns="0" bIns="0" rtlCol="0" anchor="ctr"/>
          <a:lstStyle/>
          <a:p>
            <a:pPr algn="ctr" indent="0" marL="0">
              <a:lnSpc>
                <a:spcPct val="115000"/>
              </a:lnSpc>
              <a:buNone/>
            </a:pPr>
            <a:r>
              <a:rPr lang="en-US" sz="1150" dirty="0">
                <a:solidFill>
                  <a:srgbClr val="64748B"/>
                </a:solidFill>
                <a:latin typeface="Calibri" pitchFamily="34" charset="0"/>
                <a:ea typeface="Calibri" pitchFamily="34" charset="-122"/>
                <a:cs typeface="Calibri" pitchFamily="34" charset="-120"/>
              </a:rPr>
              <a:t>Smart Labo Works</a:t>
            </a:r>
            <a:endParaRPr lang="en-US" sz="1150" dirty="0"/>
          </a:p>
          <a:p>
            <a:pPr algn="ctr" indent="0" marL="0">
              <a:lnSpc>
                <a:spcPct val="115000"/>
              </a:lnSpc>
              <a:buNone/>
            </a:pPr>
            <a:r>
              <a:rPr lang="en-US" sz="1150" dirty="0">
                <a:solidFill>
                  <a:srgbClr val="64748B"/>
                </a:solidFill>
                <a:latin typeface="Calibri" pitchFamily="34" charset="0"/>
                <a:ea typeface="Calibri" pitchFamily="34" charset="-122"/>
                <a:cs typeface="Calibri" pitchFamily="34" charset="-120"/>
              </a:rPr>
              <a:t>「会社を動かすAI。」</a:t>
            </a:r>
            <a:endParaRPr lang="en-US" sz="1150" dirty="0"/>
          </a:p>
        </p:txBody>
      </p:sp>
      <p:sp>
        <p:nvSpPr>
          <p:cNvPr id="7" name="Shape 4"/>
          <p:cNvSpPr/>
          <p:nvPr/>
        </p:nvSpPr>
        <p:spPr>
          <a:xfrm>
            <a:off x="4572000" y="1783080"/>
            <a:ext cx="1737360" cy="498348"/>
          </a:xfrm>
          <a:prstGeom prst="rect">
            <a:avLst/>
          </a:prstGeom>
          <a:solidFill>
            <a:srgbClr val="F3F6FA"/>
          </a:solidFill>
          <a:ln w="19050">
            <a:solidFill>
              <a:srgbClr val="FFFFFF"/>
            </a:solidFill>
            <a:prstDash val="solid"/>
          </a:ln>
        </p:spPr>
      </p:sp>
      <p:sp>
        <p:nvSpPr>
          <p:cNvPr id="8" name="Text 5"/>
          <p:cNvSpPr/>
          <p:nvPr/>
        </p:nvSpPr>
        <p:spPr>
          <a:xfrm>
            <a:off x="4709160" y="1783080"/>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会社名</a:t>
            </a:r>
            <a:endParaRPr lang="en-US" sz="1150" dirty="0"/>
          </a:p>
        </p:txBody>
      </p:sp>
      <p:sp>
        <p:nvSpPr>
          <p:cNvPr id="9" name="Shape 6"/>
          <p:cNvSpPr/>
          <p:nvPr/>
        </p:nvSpPr>
        <p:spPr>
          <a:xfrm>
            <a:off x="6309360" y="1783080"/>
            <a:ext cx="5376672" cy="498348"/>
          </a:xfrm>
          <a:prstGeom prst="rect">
            <a:avLst/>
          </a:prstGeom>
          <a:solidFill>
            <a:srgbClr val="FFFFFF"/>
          </a:solidFill>
          <a:ln w="19050">
            <a:solidFill>
              <a:srgbClr val="F3F6FA"/>
            </a:solidFill>
            <a:prstDash val="solid"/>
          </a:ln>
        </p:spPr>
      </p:sp>
      <p:sp>
        <p:nvSpPr>
          <p:cNvPr id="10" name="Text 7"/>
          <p:cNvSpPr/>
          <p:nvPr/>
        </p:nvSpPr>
        <p:spPr>
          <a:xfrm>
            <a:off x="6473952" y="1783080"/>
            <a:ext cx="5102352" cy="4983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株式会社スマートラボ</a:t>
            </a:r>
            <a:endParaRPr lang="en-US" sz="1150" dirty="0"/>
          </a:p>
        </p:txBody>
      </p:sp>
      <p:sp>
        <p:nvSpPr>
          <p:cNvPr id="11" name="Shape 8"/>
          <p:cNvSpPr/>
          <p:nvPr/>
        </p:nvSpPr>
        <p:spPr>
          <a:xfrm>
            <a:off x="4572000" y="2281428"/>
            <a:ext cx="1737360" cy="498348"/>
          </a:xfrm>
          <a:prstGeom prst="rect">
            <a:avLst/>
          </a:prstGeom>
          <a:solidFill>
            <a:srgbClr val="F3F6FA"/>
          </a:solidFill>
          <a:ln w="19050">
            <a:solidFill>
              <a:srgbClr val="FFFFFF"/>
            </a:solidFill>
            <a:prstDash val="solid"/>
          </a:ln>
        </p:spPr>
      </p:sp>
      <p:sp>
        <p:nvSpPr>
          <p:cNvPr id="12" name="Text 9"/>
          <p:cNvSpPr/>
          <p:nvPr/>
        </p:nvSpPr>
        <p:spPr>
          <a:xfrm>
            <a:off x="4709160" y="2281428"/>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代表者</a:t>
            </a:r>
            <a:endParaRPr lang="en-US" sz="1150" dirty="0"/>
          </a:p>
        </p:txBody>
      </p:sp>
      <p:sp>
        <p:nvSpPr>
          <p:cNvPr id="13" name="Shape 10"/>
          <p:cNvSpPr/>
          <p:nvPr/>
        </p:nvSpPr>
        <p:spPr>
          <a:xfrm>
            <a:off x="6309360" y="2281428"/>
            <a:ext cx="5376672" cy="498348"/>
          </a:xfrm>
          <a:prstGeom prst="rect">
            <a:avLst/>
          </a:prstGeom>
          <a:solidFill>
            <a:srgbClr val="FDEDEC"/>
          </a:solidFill>
          <a:ln w="19050">
            <a:solidFill>
              <a:srgbClr val="F3F6FA"/>
            </a:solidFill>
            <a:prstDash val="solid"/>
          </a:ln>
        </p:spPr>
      </p:sp>
      <p:sp>
        <p:nvSpPr>
          <p:cNvPr id="14" name="Text 11"/>
          <p:cNvSpPr/>
          <p:nvPr/>
        </p:nvSpPr>
        <p:spPr>
          <a:xfrm>
            <a:off x="6473952" y="2281428"/>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15" name="Shape 12"/>
          <p:cNvSpPr/>
          <p:nvPr/>
        </p:nvSpPr>
        <p:spPr>
          <a:xfrm>
            <a:off x="4572000" y="2779776"/>
            <a:ext cx="1737360" cy="498348"/>
          </a:xfrm>
          <a:prstGeom prst="rect">
            <a:avLst/>
          </a:prstGeom>
          <a:solidFill>
            <a:srgbClr val="F3F6FA"/>
          </a:solidFill>
          <a:ln w="19050">
            <a:solidFill>
              <a:srgbClr val="FFFFFF"/>
            </a:solidFill>
            <a:prstDash val="solid"/>
          </a:ln>
        </p:spPr>
      </p:sp>
      <p:sp>
        <p:nvSpPr>
          <p:cNvPr id="16" name="Text 13"/>
          <p:cNvSpPr/>
          <p:nvPr/>
        </p:nvSpPr>
        <p:spPr>
          <a:xfrm>
            <a:off x="4709160" y="2779776"/>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設立</a:t>
            </a:r>
            <a:endParaRPr lang="en-US" sz="1150" dirty="0"/>
          </a:p>
        </p:txBody>
      </p:sp>
      <p:sp>
        <p:nvSpPr>
          <p:cNvPr id="17" name="Shape 14"/>
          <p:cNvSpPr/>
          <p:nvPr/>
        </p:nvSpPr>
        <p:spPr>
          <a:xfrm>
            <a:off x="6309360" y="2779776"/>
            <a:ext cx="5376672" cy="498348"/>
          </a:xfrm>
          <a:prstGeom prst="rect">
            <a:avLst/>
          </a:prstGeom>
          <a:solidFill>
            <a:srgbClr val="FDEDEC"/>
          </a:solidFill>
          <a:ln w="19050">
            <a:solidFill>
              <a:srgbClr val="F3F6FA"/>
            </a:solidFill>
            <a:prstDash val="solid"/>
          </a:ln>
        </p:spPr>
      </p:sp>
      <p:sp>
        <p:nvSpPr>
          <p:cNvPr id="18" name="Text 15"/>
          <p:cNvSpPr/>
          <p:nvPr/>
        </p:nvSpPr>
        <p:spPr>
          <a:xfrm>
            <a:off x="6473952" y="2779776"/>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19" name="Shape 16"/>
          <p:cNvSpPr/>
          <p:nvPr/>
        </p:nvSpPr>
        <p:spPr>
          <a:xfrm>
            <a:off x="4572000" y="3278124"/>
            <a:ext cx="1737360" cy="498348"/>
          </a:xfrm>
          <a:prstGeom prst="rect">
            <a:avLst/>
          </a:prstGeom>
          <a:solidFill>
            <a:srgbClr val="F3F6FA"/>
          </a:solidFill>
          <a:ln w="19050">
            <a:solidFill>
              <a:srgbClr val="FFFFFF"/>
            </a:solidFill>
            <a:prstDash val="solid"/>
          </a:ln>
        </p:spPr>
      </p:sp>
      <p:sp>
        <p:nvSpPr>
          <p:cNvPr id="20" name="Text 17"/>
          <p:cNvSpPr/>
          <p:nvPr/>
        </p:nvSpPr>
        <p:spPr>
          <a:xfrm>
            <a:off x="4709160" y="3278124"/>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所在地</a:t>
            </a:r>
            <a:endParaRPr lang="en-US" sz="1150" dirty="0"/>
          </a:p>
        </p:txBody>
      </p:sp>
      <p:sp>
        <p:nvSpPr>
          <p:cNvPr id="21" name="Shape 18"/>
          <p:cNvSpPr/>
          <p:nvPr/>
        </p:nvSpPr>
        <p:spPr>
          <a:xfrm>
            <a:off x="6309360" y="3278124"/>
            <a:ext cx="5376672" cy="498348"/>
          </a:xfrm>
          <a:prstGeom prst="rect">
            <a:avLst/>
          </a:prstGeom>
          <a:solidFill>
            <a:srgbClr val="FDEDEC"/>
          </a:solidFill>
          <a:ln w="19050">
            <a:solidFill>
              <a:srgbClr val="F3F6FA"/>
            </a:solidFill>
            <a:prstDash val="solid"/>
          </a:ln>
        </p:spPr>
      </p:sp>
      <p:sp>
        <p:nvSpPr>
          <p:cNvPr id="22" name="Text 19"/>
          <p:cNvSpPr/>
          <p:nvPr/>
        </p:nvSpPr>
        <p:spPr>
          <a:xfrm>
            <a:off x="6473952" y="3278124"/>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23" name="Shape 20"/>
          <p:cNvSpPr/>
          <p:nvPr/>
        </p:nvSpPr>
        <p:spPr>
          <a:xfrm>
            <a:off x="4572000" y="3776472"/>
            <a:ext cx="1737360" cy="498348"/>
          </a:xfrm>
          <a:prstGeom prst="rect">
            <a:avLst/>
          </a:prstGeom>
          <a:solidFill>
            <a:srgbClr val="F3F6FA"/>
          </a:solidFill>
          <a:ln w="19050">
            <a:solidFill>
              <a:srgbClr val="FFFFFF"/>
            </a:solidFill>
            <a:prstDash val="solid"/>
          </a:ln>
        </p:spPr>
      </p:sp>
      <p:sp>
        <p:nvSpPr>
          <p:cNvPr id="24" name="Text 21"/>
          <p:cNvSpPr/>
          <p:nvPr/>
        </p:nvSpPr>
        <p:spPr>
          <a:xfrm>
            <a:off x="4709160" y="3776472"/>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資本金</a:t>
            </a:r>
            <a:endParaRPr lang="en-US" sz="1150" dirty="0"/>
          </a:p>
        </p:txBody>
      </p:sp>
      <p:sp>
        <p:nvSpPr>
          <p:cNvPr id="25" name="Shape 22"/>
          <p:cNvSpPr/>
          <p:nvPr/>
        </p:nvSpPr>
        <p:spPr>
          <a:xfrm>
            <a:off x="6309360" y="3776472"/>
            <a:ext cx="5376672" cy="498348"/>
          </a:xfrm>
          <a:prstGeom prst="rect">
            <a:avLst/>
          </a:prstGeom>
          <a:solidFill>
            <a:srgbClr val="FDEDEC"/>
          </a:solidFill>
          <a:ln w="19050">
            <a:solidFill>
              <a:srgbClr val="F3F6FA"/>
            </a:solidFill>
            <a:prstDash val="solid"/>
          </a:ln>
        </p:spPr>
      </p:sp>
      <p:sp>
        <p:nvSpPr>
          <p:cNvPr id="26" name="Text 23"/>
          <p:cNvSpPr/>
          <p:nvPr/>
        </p:nvSpPr>
        <p:spPr>
          <a:xfrm>
            <a:off x="6473952" y="3776472"/>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27" name="Shape 24"/>
          <p:cNvSpPr/>
          <p:nvPr/>
        </p:nvSpPr>
        <p:spPr>
          <a:xfrm>
            <a:off x="4572000" y="4274820"/>
            <a:ext cx="1737360" cy="498348"/>
          </a:xfrm>
          <a:prstGeom prst="rect">
            <a:avLst/>
          </a:prstGeom>
          <a:solidFill>
            <a:srgbClr val="F3F6FA"/>
          </a:solidFill>
          <a:ln w="19050">
            <a:solidFill>
              <a:srgbClr val="FFFFFF"/>
            </a:solidFill>
            <a:prstDash val="solid"/>
          </a:ln>
        </p:spPr>
      </p:sp>
      <p:sp>
        <p:nvSpPr>
          <p:cNvPr id="28" name="Text 25"/>
          <p:cNvSpPr/>
          <p:nvPr/>
        </p:nvSpPr>
        <p:spPr>
          <a:xfrm>
            <a:off x="4709160" y="4274820"/>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事業内容</a:t>
            </a:r>
            <a:endParaRPr lang="en-US" sz="1150" dirty="0"/>
          </a:p>
        </p:txBody>
      </p:sp>
      <p:sp>
        <p:nvSpPr>
          <p:cNvPr id="29" name="Shape 26"/>
          <p:cNvSpPr/>
          <p:nvPr/>
        </p:nvSpPr>
        <p:spPr>
          <a:xfrm>
            <a:off x="6309360" y="4274820"/>
            <a:ext cx="5376672" cy="498348"/>
          </a:xfrm>
          <a:prstGeom prst="rect">
            <a:avLst/>
          </a:prstGeom>
          <a:solidFill>
            <a:srgbClr val="FFFFFF"/>
          </a:solidFill>
          <a:ln w="19050">
            <a:solidFill>
              <a:srgbClr val="F3F6FA"/>
            </a:solidFill>
            <a:prstDash val="solid"/>
          </a:ln>
        </p:spPr>
      </p:sp>
      <p:sp>
        <p:nvSpPr>
          <p:cNvPr id="30" name="Text 27"/>
          <p:cNvSpPr/>
          <p:nvPr/>
        </p:nvSpPr>
        <p:spPr>
          <a:xfrm>
            <a:off x="6473952" y="4274820"/>
            <a:ext cx="5102352" cy="4983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AI業務支援プラットフォーム「Smart Labo Works」の企画・開発・提供</a:t>
            </a:r>
            <a:endParaRPr lang="en-US" sz="1150" dirty="0"/>
          </a:p>
        </p:txBody>
      </p:sp>
      <p:sp>
        <p:nvSpPr>
          <p:cNvPr id="31" name="Shape 28"/>
          <p:cNvSpPr/>
          <p:nvPr/>
        </p:nvSpPr>
        <p:spPr>
          <a:xfrm>
            <a:off x="4572000" y="4773168"/>
            <a:ext cx="1737360" cy="498348"/>
          </a:xfrm>
          <a:prstGeom prst="rect">
            <a:avLst/>
          </a:prstGeom>
          <a:solidFill>
            <a:srgbClr val="F3F6FA"/>
          </a:solidFill>
          <a:ln w="19050">
            <a:solidFill>
              <a:srgbClr val="FFFFFF"/>
            </a:solidFill>
            <a:prstDash val="solid"/>
          </a:ln>
        </p:spPr>
      </p:sp>
      <p:sp>
        <p:nvSpPr>
          <p:cNvPr id="32" name="Text 29"/>
          <p:cNvSpPr/>
          <p:nvPr/>
        </p:nvSpPr>
        <p:spPr>
          <a:xfrm>
            <a:off x="4709160" y="4773168"/>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ホームページ</a:t>
            </a:r>
            <a:endParaRPr lang="en-US" sz="1150" dirty="0"/>
          </a:p>
        </p:txBody>
      </p:sp>
      <p:sp>
        <p:nvSpPr>
          <p:cNvPr id="33" name="Shape 30"/>
          <p:cNvSpPr/>
          <p:nvPr/>
        </p:nvSpPr>
        <p:spPr>
          <a:xfrm>
            <a:off x="6309360" y="4773168"/>
            <a:ext cx="5376672" cy="498348"/>
          </a:xfrm>
          <a:prstGeom prst="rect">
            <a:avLst/>
          </a:prstGeom>
          <a:solidFill>
            <a:srgbClr val="FFFFFF"/>
          </a:solidFill>
          <a:ln w="19050">
            <a:solidFill>
              <a:srgbClr val="F3F6FA"/>
            </a:solidFill>
            <a:prstDash val="solid"/>
          </a:ln>
        </p:spPr>
      </p:sp>
      <p:sp>
        <p:nvSpPr>
          <p:cNvPr id="34" name="Text 31"/>
          <p:cNvSpPr/>
          <p:nvPr/>
        </p:nvSpPr>
        <p:spPr>
          <a:xfrm>
            <a:off x="6473952" y="4773168"/>
            <a:ext cx="5102352" cy="4983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https://smartlaboworks.com/</a:t>
            </a:r>
            <a:endParaRPr lang="en-US" sz="1150" dirty="0"/>
          </a:p>
        </p:txBody>
      </p:sp>
      <p:sp>
        <p:nvSpPr>
          <p:cNvPr id="35" name="Text 32"/>
          <p:cNvSpPr/>
          <p:nvPr/>
        </p:nvSpPr>
        <p:spPr>
          <a:xfrm>
            <a:off x="4572000" y="5381244"/>
            <a:ext cx="7114032" cy="320040"/>
          </a:xfrm>
          <a:prstGeom prst="rect">
            <a:avLst/>
          </a:prstGeom>
          <a:noFill/>
          <a:ln/>
        </p:spPr>
        <p:txBody>
          <a:bodyPr wrap="square" lIns="0" tIns="0" rIns="0" bIns="0" rtlCol="0" anchor="ctr"/>
          <a:lstStyle/>
          <a:p>
            <a:pPr indent="0" marL="0">
              <a:buNone/>
            </a:pPr>
            <a:r>
              <a:rPr lang="en-US" sz="1000" i="1" dirty="0">
                <a:solidFill>
                  <a:srgbClr val="B91C1C"/>
                </a:solidFill>
                <a:latin typeface="Calibri" pitchFamily="34" charset="0"/>
                <a:ea typeface="Calibri" pitchFamily="34" charset="-122"/>
                <a:cs typeface="Calibri" pitchFamily="34" charset="-120"/>
              </a:rPr>
              <a:t>※ 網掛けの項目は、登記情報等の確定後に代表者様のご確認・ご記入をお願いいたします。</a:t>
            </a:r>
            <a:endParaRPr lang="en-US" sz="1000" dirty="0"/>
          </a:p>
        </p:txBody>
      </p:sp>
      <p:sp>
        <p:nvSpPr>
          <p:cNvPr id="36" name="Text 33"/>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1.2</a:t>
            </a:r>
            <a:endParaRPr lang="en-US" sz="900" dirty="0"/>
          </a:p>
        </p:txBody>
      </p:sp>
      <p:sp>
        <p:nvSpPr>
          <p:cNvPr id="37" name="Text 3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MARKET CHALLENGE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700" b="1" dirty="0">
                <a:solidFill>
                  <a:srgbClr val="0A1B3D"/>
                </a:solidFill>
                <a:latin typeface="Cambria" pitchFamily="34" charset="0"/>
                <a:ea typeface="Cambria" pitchFamily="34" charset="-122"/>
                <a:cs typeface="Cambria" pitchFamily="34" charset="-120"/>
              </a:rPr>
              <a:t>中小企業が抱える構造的な課題</a:t>
            </a:r>
            <a:endParaRPr lang="en-US" sz="2700" dirty="0"/>
          </a:p>
        </p:txBody>
      </p:sp>
      <p:sp>
        <p:nvSpPr>
          <p:cNvPr id="4" name="Shape 2"/>
          <p:cNvSpPr/>
          <p:nvPr/>
        </p:nvSpPr>
        <p:spPr>
          <a:xfrm>
            <a:off x="502920" y="1783080"/>
            <a:ext cx="2670048" cy="2331720"/>
          </a:xfrm>
          <a:prstGeom prst="roundRect">
            <a:avLst>
              <a:gd name="adj" fmla="val 3137"/>
            </a:avLst>
          </a:prstGeom>
          <a:solidFill>
            <a:srgbClr val="0A1B3D"/>
          </a:solidFill>
          <a:ln/>
        </p:spPr>
      </p:sp>
      <p:sp>
        <p:nvSpPr>
          <p:cNvPr id="5" name="Shape 3"/>
          <p:cNvSpPr/>
          <p:nvPr/>
        </p:nvSpPr>
        <p:spPr>
          <a:xfrm>
            <a:off x="1449324" y="2057400"/>
            <a:ext cx="777240" cy="777240"/>
          </a:xfrm>
          <a:prstGeom prst="ellipse">
            <a:avLst/>
          </a:prstGeom>
          <a:solidFill>
            <a:srgbClr val="2563EB"/>
          </a:solidFill>
          <a:ln/>
        </p:spPr>
      </p:sp>
      <p:pic>
        <p:nvPicPr>
          <p:cNvPr id="6" name="Image 0" descr="C:\Users\user\AppData\Local\Temp\claude\C--Users-user-Desktop-TOEIC---\46f2443e-6c5b-45fc-8f6e-79718ae21477\scratchpad\business-plan\icons\users.png">    </p:cNvPr>
          <p:cNvPicPr>
            <a:picLocks noChangeAspect="1"/>
          </p:cNvPicPr>
          <p:nvPr/>
        </p:nvPicPr>
        <p:blipFill>
          <a:blip r:embed="rId1"/>
          <a:stretch>
            <a:fillRect/>
          </a:stretch>
        </p:blipFill>
        <p:spPr>
          <a:xfrm>
            <a:off x="1624203" y="2232279"/>
            <a:ext cx="427482" cy="427482"/>
          </a:xfrm>
          <a:prstGeom prst="rect">
            <a:avLst/>
          </a:prstGeom>
        </p:spPr>
      </p:pic>
      <p:sp>
        <p:nvSpPr>
          <p:cNvPr id="7" name="Text 4"/>
          <p:cNvSpPr/>
          <p:nvPr/>
        </p:nvSpPr>
        <p:spPr>
          <a:xfrm>
            <a:off x="640080"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人手不足</a:t>
            </a:r>
            <a:endParaRPr lang="en-US" sz="1400" dirty="0"/>
          </a:p>
        </p:txBody>
      </p:sp>
      <p:sp>
        <p:nvSpPr>
          <p:cNvPr id="8" name="Text 5"/>
          <p:cNvSpPr/>
          <p:nvPr/>
        </p:nvSpPr>
        <p:spPr>
          <a:xfrm>
            <a:off x="685800"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採用難と高齢化により、少人数で従来以上の業務をこなす必要に迫られている</a:t>
            </a:r>
            <a:endParaRPr lang="en-US" sz="1050" dirty="0"/>
          </a:p>
        </p:txBody>
      </p:sp>
      <p:sp>
        <p:nvSpPr>
          <p:cNvPr id="9" name="Shape 6"/>
          <p:cNvSpPr/>
          <p:nvPr/>
        </p:nvSpPr>
        <p:spPr>
          <a:xfrm>
            <a:off x="3374136" y="1783080"/>
            <a:ext cx="2670048" cy="2331720"/>
          </a:xfrm>
          <a:prstGeom prst="roundRect">
            <a:avLst>
              <a:gd name="adj" fmla="val 3137"/>
            </a:avLst>
          </a:prstGeom>
          <a:solidFill>
            <a:srgbClr val="0A1B3D"/>
          </a:solidFill>
          <a:ln/>
        </p:spPr>
      </p:sp>
      <p:sp>
        <p:nvSpPr>
          <p:cNvPr id="10" name="Shape 7"/>
          <p:cNvSpPr/>
          <p:nvPr/>
        </p:nvSpPr>
        <p:spPr>
          <a:xfrm>
            <a:off x="4320540" y="2057400"/>
            <a:ext cx="777240" cy="777240"/>
          </a:xfrm>
          <a:prstGeom prst="ellipse">
            <a:avLst/>
          </a:prstGeom>
          <a:solidFill>
            <a:srgbClr val="2563EB"/>
          </a:solidFill>
          <a:ln/>
        </p:spPr>
      </p:sp>
      <p:pic>
        <p:nvPicPr>
          <p:cNvPr id="11" name="Image 1" descr="C:\Users\user\AppData\Local\Temp\claude\C--Users-user-Desktop-TOEIC---\46f2443e-6c5b-45fc-8f6e-79718ae21477\scratchpad\business-plan\icons\network.png">    </p:cNvPr>
          <p:cNvPicPr>
            <a:picLocks noChangeAspect="1"/>
          </p:cNvPicPr>
          <p:nvPr/>
        </p:nvPicPr>
        <p:blipFill>
          <a:blip r:embed="rId2"/>
          <a:stretch>
            <a:fillRect/>
          </a:stretch>
        </p:blipFill>
        <p:spPr>
          <a:xfrm>
            <a:off x="4495419" y="2232279"/>
            <a:ext cx="427482" cy="427482"/>
          </a:xfrm>
          <a:prstGeom prst="rect">
            <a:avLst/>
          </a:prstGeom>
        </p:spPr>
      </p:pic>
      <p:sp>
        <p:nvSpPr>
          <p:cNvPr id="12" name="Text 8"/>
          <p:cNvSpPr/>
          <p:nvPr/>
        </p:nvSpPr>
        <p:spPr>
          <a:xfrm>
            <a:off x="3511296"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DX推進の遅れ</a:t>
            </a:r>
            <a:endParaRPr lang="en-US" sz="1400" dirty="0"/>
          </a:p>
        </p:txBody>
      </p:sp>
      <p:sp>
        <p:nvSpPr>
          <p:cNvPr id="13" name="Text 9"/>
          <p:cNvSpPr/>
          <p:nvPr/>
        </p:nvSpPr>
        <p:spPr>
          <a:xfrm>
            <a:off x="3557016"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ITツールを導入しても定着せず、紙・Excel・個人管理が根強く残っている</a:t>
            </a:r>
            <a:endParaRPr lang="en-US" sz="1050" dirty="0"/>
          </a:p>
        </p:txBody>
      </p:sp>
      <p:sp>
        <p:nvSpPr>
          <p:cNvPr id="14" name="Shape 10"/>
          <p:cNvSpPr/>
          <p:nvPr/>
        </p:nvSpPr>
        <p:spPr>
          <a:xfrm>
            <a:off x="6245352" y="1783080"/>
            <a:ext cx="2670048" cy="2331720"/>
          </a:xfrm>
          <a:prstGeom prst="roundRect">
            <a:avLst>
              <a:gd name="adj" fmla="val 3137"/>
            </a:avLst>
          </a:prstGeom>
          <a:solidFill>
            <a:srgbClr val="0A1B3D"/>
          </a:solidFill>
          <a:ln/>
        </p:spPr>
      </p:sp>
      <p:sp>
        <p:nvSpPr>
          <p:cNvPr id="15" name="Shape 11"/>
          <p:cNvSpPr/>
          <p:nvPr/>
        </p:nvSpPr>
        <p:spPr>
          <a:xfrm>
            <a:off x="7191756" y="2057400"/>
            <a:ext cx="777240" cy="777240"/>
          </a:xfrm>
          <a:prstGeom prst="ellipse">
            <a:avLst/>
          </a:prstGeom>
          <a:solidFill>
            <a:srgbClr val="2563EB"/>
          </a:solidFill>
          <a:ln/>
        </p:spPr>
      </p:sp>
      <p:pic>
        <p:nvPicPr>
          <p:cNvPr id="16" name="Image 2" descr="C:\Users\user\AppData\Local\Temp\claude\C--Users-user-Desktop-TOEIC---\46f2443e-6c5b-45fc-8f6e-79718ae21477\scratchpad\business-plan\icons\scatter.png">    </p:cNvPr>
          <p:cNvPicPr>
            <a:picLocks noChangeAspect="1"/>
          </p:cNvPicPr>
          <p:nvPr/>
        </p:nvPicPr>
        <p:blipFill>
          <a:blip r:embed="rId3"/>
          <a:stretch>
            <a:fillRect/>
          </a:stretch>
        </p:blipFill>
        <p:spPr>
          <a:xfrm>
            <a:off x="7366635" y="2232279"/>
            <a:ext cx="427482" cy="427482"/>
          </a:xfrm>
          <a:prstGeom prst="rect">
            <a:avLst/>
          </a:prstGeom>
        </p:spPr>
      </p:pic>
      <p:sp>
        <p:nvSpPr>
          <p:cNvPr id="17" name="Text 12"/>
          <p:cNvSpPr/>
          <p:nvPr/>
        </p:nvSpPr>
        <p:spPr>
          <a:xfrm>
            <a:off x="6382512"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業務の属人化</a:t>
            </a:r>
            <a:endParaRPr lang="en-US" sz="1400" dirty="0"/>
          </a:p>
        </p:txBody>
      </p:sp>
      <p:sp>
        <p:nvSpPr>
          <p:cNvPr id="18" name="Text 13"/>
          <p:cNvSpPr/>
          <p:nvPr/>
        </p:nvSpPr>
        <p:spPr>
          <a:xfrm>
            <a:off x="6428232"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ベテラン頼みの対応品質にばらつきが生じ、新人育成にも時間がかかる</a:t>
            </a:r>
            <a:endParaRPr lang="en-US" sz="1050" dirty="0"/>
          </a:p>
        </p:txBody>
      </p:sp>
      <p:sp>
        <p:nvSpPr>
          <p:cNvPr id="19" name="Shape 14"/>
          <p:cNvSpPr/>
          <p:nvPr/>
        </p:nvSpPr>
        <p:spPr>
          <a:xfrm>
            <a:off x="9116568" y="1783080"/>
            <a:ext cx="2670048" cy="2331720"/>
          </a:xfrm>
          <a:prstGeom prst="roundRect">
            <a:avLst>
              <a:gd name="adj" fmla="val 3137"/>
            </a:avLst>
          </a:prstGeom>
          <a:solidFill>
            <a:srgbClr val="0A1B3D"/>
          </a:solidFill>
          <a:ln/>
        </p:spPr>
      </p:sp>
      <p:sp>
        <p:nvSpPr>
          <p:cNvPr id="20" name="Shape 15"/>
          <p:cNvSpPr/>
          <p:nvPr/>
        </p:nvSpPr>
        <p:spPr>
          <a:xfrm>
            <a:off x="10062972" y="2057400"/>
            <a:ext cx="777240" cy="777240"/>
          </a:xfrm>
          <a:prstGeom prst="ellipse">
            <a:avLst/>
          </a:prstGeom>
          <a:solidFill>
            <a:srgbClr val="2563EB"/>
          </a:solidFill>
          <a:ln/>
        </p:spPr>
      </p:sp>
      <p:pic>
        <p:nvPicPr>
          <p:cNvPr id="21" name="Image 3" descr="C:\Users\user\AppData\Local\Temp\claude\C--Users-user-Desktop-TOEIC---\46f2443e-6c5b-45fc-8f6e-79718ae21477\scratchpad\business-plan\icons\puzzle.png">    </p:cNvPr>
          <p:cNvPicPr>
            <a:picLocks noChangeAspect="1"/>
          </p:cNvPicPr>
          <p:nvPr/>
        </p:nvPicPr>
        <p:blipFill>
          <a:blip r:embed="rId4"/>
          <a:stretch>
            <a:fillRect/>
          </a:stretch>
        </p:blipFill>
        <p:spPr>
          <a:xfrm>
            <a:off x="10237851" y="2232279"/>
            <a:ext cx="427482" cy="427482"/>
          </a:xfrm>
          <a:prstGeom prst="rect">
            <a:avLst/>
          </a:prstGeom>
        </p:spPr>
      </p:pic>
      <p:sp>
        <p:nvSpPr>
          <p:cNvPr id="22" name="Text 16"/>
          <p:cNvSpPr/>
          <p:nvPr/>
        </p:nvSpPr>
        <p:spPr>
          <a:xfrm>
            <a:off x="9253728"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情報の分散</a:t>
            </a:r>
            <a:endParaRPr lang="en-US" sz="1400" dirty="0"/>
          </a:p>
        </p:txBody>
      </p:sp>
      <p:sp>
        <p:nvSpPr>
          <p:cNvPr id="23" name="Text 17"/>
          <p:cNvSpPr/>
          <p:nvPr/>
        </p:nvSpPr>
        <p:spPr>
          <a:xfrm>
            <a:off x="9299448"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顧客情報やノウハウが個人のメモに散在し、組織としての資産にならない</a:t>
            </a:r>
            <a:endParaRPr lang="en-US" sz="1050" dirty="0"/>
          </a:p>
        </p:txBody>
      </p:sp>
      <p:sp>
        <p:nvSpPr>
          <p:cNvPr id="24" name="Text 18"/>
          <p:cNvSpPr/>
          <p:nvPr/>
        </p:nvSpPr>
        <p:spPr>
          <a:xfrm>
            <a:off x="0" y="4187952"/>
            <a:ext cx="12191695" cy="365760"/>
          </a:xfrm>
          <a:prstGeom prst="rect">
            <a:avLst/>
          </a:prstGeom>
          <a:noFill/>
          <a:ln/>
        </p:spPr>
        <p:txBody>
          <a:bodyPr wrap="square" lIns="0" tIns="0" rIns="0" bIns="0" rtlCol="0" anchor="ctr"/>
          <a:lstStyle/>
          <a:p>
            <a:pPr algn="ctr" indent="0" marL="0">
              <a:buNone/>
            </a:pPr>
            <a:r>
              <a:rPr lang="en-US" sz="2000" b="1" dirty="0">
                <a:solidFill>
                  <a:srgbClr val="2563EB"/>
                </a:solidFill>
                <a:latin typeface="Calibri" pitchFamily="34" charset="0"/>
                <a:ea typeface="Calibri" pitchFamily="34" charset="-122"/>
                <a:cs typeface="Calibri" pitchFamily="34" charset="-120"/>
              </a:rPr>
              <a:t>↓</a:t>
            </a:r>
            <a:endParaRPr lang="en-US" sz="2000" dirty="0"/>
          </a:p>
        </p:txBody>
      </p:sp>
      <p:sp>
        <p:nvSpPr>
          <p:cNvPr id="25" name="Shape 19"/>
          <p:cNvSpPr/>
          <p:nvPr/>
        </p:nvSpPr>
        <p:spPr>
          <a:xfrm>
            <a:off x="3124048" y="4572000"/>
            <a:ext cx="5943600" cy="566928"/>
          </a:xfrm>
          <a:prstGeom prst="roundRect">
            <a:avLst>
              <a:gd name="adj" fmla="val 16129"/>
            </a:avLst>
          </a:prstGeom>
          <a:solidFill>
            <a:srgbClr val="2563EB"/>
          </a:solidFill>
          <a:ln/>
        </p:spPr>
      </p:sp>
      <p:sp>
        <p:nvSpPr>
          <p:cNvPr id="26" name="Text 20"/>
          <p:cNvSpPr/>
          <p:nvPr/>
        </p:nvSpPr>
        <p:spPr>
          <a:xfrm>
            <a:off x="3124048" y="4572000"/>
            <a:ext cx="594360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Smart Labo Works が解決します</a:t>
            </a:r>
            <a:endParaRPr lang="en-US" sz="1500" dirty="0"/>
          </a:p>
        </p:txBody>
      </p:sp>
      <p:sp>
        <p:nvSpPr>
          <p:cNvPr id="27" name="Text 21"/>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1.2</a:t>
            </a:r>
            <a:endParaRPr lang="en-US" sz="900" dirty="0"/>
          </a:p>
        </p:txBody>
      </p:sp>
      <p:sp>
        <p:nvSpPr>
          <p:cNvPr id="28" name="Text 2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OUR SERVICE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300" b="1" dirty="0">
                <a:solidFill>
                  <a:srgbClr val="0A1B3D"/>
                </a:solidFill>
                <a:latin typeface="Cambria" pitchFamily="34" charset="0"/>
                <a:ea typeface="Cambria" pitchFamily="34" charset="-122"/>
                <a:cs typeface="Cambria" pitchFamily="34" charset="-120"/>
              </a:rPr>
              <a:t>Smart Labo Works ― 会社を動かすAI経営プラットフォーム</a:t>
            </a:r>
            <a:endParaRPr lang="en-US" sz="2300" dirty="0"/>
          </a:p>
        </p:txBody>
      </p:sp>
      <p:sp>
        <p:nvSpPr>
          <p:cNvPr id="4" name="Text 2"/>
          <p:cNvSpPr/>
          <p:nvPr/>
        </p:nvSpPr>
        <p:spPr>
          <a:xfrm>
            <a:off x="502920" y="1417320"/>
            <a:ext cx="10972800" cy="32004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業務ごとに特化したAIモジュールを組み合わせ、中小企業の日常業務を支援します。</a:t>
            </a:r>
            <a:endParaRPr lang="en-US" sz="1250" dirty="0"/>
          </a:p>
        </p:txBody>
      </p:sp>
      <p:sp>
        <p:nvSpPr>
          <p:cNvPr id="5" name="Shape 3"/>
          <p:cNvSpPr/>
          <p:nvPr/>
        </p:nvSpPr>
        <p:spPr>
          <a:xfrm>
            <a:off x="502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6" name="Shape 4"/>
          <p:cNvSpPr/>
          <p:nvPr/>
        </p:nvSpPr>
        <p:spPr>
          <a:xfrm>
            <a:off x="1207008" y="2240280"/>
            <a:ext cx="731520" cy="731520"/>
          </a:xfrm>
          <a:prstGeom prst="ellipse">
            <a:avLst/>
          </a:prstGeom>
          <a:solidFill>
            <a:srgbClr val="FFFFFF"/>
          </a:solidFill>
          <a:ln/>
        </p:spPr>
      </p:sp>
      <p:pic>
        <p:nvPicPr>
          <p:cNvPr id="7" name="Image 0" descr="C:\Users\user\AppData\Local\Temp\claude\C--Users-user-Desktop-TOEIC---\46f2443e-6c5b-45fc-8f6e-79718ae21477\scratchpad\business-plan\icons\brain.png">    </p:cNvPr>
          <p:cNvPicPr>
            <a:picLocks noChangeAspect="1"/>
          </p:cNvPicPr>
          <p:nvPr/>
        </p:nvPicPr>
        <p:blipFill>
          <a:blip r:embed="rId1"/>
          <a:stretch>
            <a:fillRect/>
          </a:stretch>
        </p:blipFill>
        <p:spPr>
          <a:xfrm>
            <a:off x="1371600" y="2404872"/>
            <a:ext cx="402336" cy="402336"/>
          </a:xfrm>
          <a:prstGeom prst="rect">
            <a:avLst/>
          </a:prstGeom>
        </p:spPr>
      </p:pic>
      <p:sp>
        <p:nvSpPr>
          <p:cNvPr id="8" name="Text 5"/>
          <p:cNvSpPr/>
          <p:nvPr/>
        </p:nvSpPr>
        <p:spPr>
          <a:xfrm>
            <a:off x="612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Company Brain</a:t>
            </a:r>
            <a:endParaRPr lang="en-US" sz="1250" dirty="0"/>
          </a:p>
        </p:txBody>
      </p:sp>
      <p:sp>
        <p:nvSpPr>
          <p:cNvPr id="9" name="Text 6"/>
          <p:cNvSpPr/>
          <p:nvPr/>
        </p:nvSpPr>
        <p:spPr>
          <a:xfrm>
            <a:off x="649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社内ナレッジに基づき即座に回答するAI基盤。最大の差別化要素</a:t>
            </a:r>
            <a:endParaRPr lang="en-US" sz="1000" dirty="0"/>
          </a:p>
        </p:txBody>
      </p:sp>
      <p:sp>
        <p:nvSpPr>
          <p:cNvPr id="10" name="Shape 7"/>
          <p:cNvSpPr/>
          <p:nvPr/>
        </p:nvSpPr>
        <p:spPr>
          <a:xfrm>
            <a:off x="2788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11" name="Shape 8"/>
          <p:cNvSpPr/>
          <p:nvPr/>
        </p:nvSpPr>
        <p:spPr>
          <a:xfrm>
            <a:off x="3493008" y="2240280"/>
            <a:ext cx="731520" cy="731520"/>
          </a:xfrm>
          <a:prstGeom prst="ellipse">
            <a:avLst/>
          </a:prstGeom>
          <a:solidFill>
            <a:srgbClr val="FFFFFF"/>
          </a:solidFill>
          <a:ln/>
        </p:spPr>
      </p:sp>
      <p:pic>
        <p:nvPicPr>
          <p:cNvPr id="12" name="Image 1" descr="C:\Users\user\AppData\Local\Temp\claude\C--Users-user-Desktop-TOEIC---\46f2443e-6c5b-45fc-8f6e-79718ae21477\scratchpad\business-plan\icons\comments.png">    </p:cNvPr>
          <p:cNvPicPr>
            <a:picLocks noChangeAspect="1"/>
          </p:cNvPicPr>
          <p:nvPr/>
        </p:nvPicPr>
        <p:blipFill>
          <a:blip r:embed="rId2"/>
          <a:stretch>
            <a:fillRect/>
          </a:stretch>
        </p:blipFill>
        <p:spPr>
          <a:xfrm>
            <a:off x="3657600" y="2404872"/>
            <a:ext cx="402336" cy="402336"/>
          </a:xfrm>
          <a:prstGeom prst="rect">
            <a:avLst/>
          </a:prstGeom>
        </p:spPr>
      </p:pic>
      <p:sp>
        <p:nvSpPr>
          <p:cNvPr id="13" name="Text 9"/>
          <p:cNvSpPr/>
          <p:nvPr/>
        </p:nvSpPr>
        <p:spPr>
          <a:xfrm>
            <a:off x="2898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AI Assistant</a:t>
            </a:r>
            <a:endParaRPr lang="en-US" sz="1250" dirty="0"/>
          </a:p>
        </p:txBody>
      </p:sp>
      <p:sp>
        <p:nvSpPr>
          <p:cNvPr id="14" name="Text 10"/>
          <p:cNvSpPr/>
          <p:nvPr/>
        </p:nvSpPr>
        <p:spPr>
          <a:xfrm>
            <a:off x="2935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営業メール・提案書・問い合わせ返信などの文書作成を支援</a:t>
            </a:r>
            <a:endParaRPr lang="en-US" sz="1000" dirty="0"/>
          </a:p>
        </p:txBody>
      </p:sp>
      <p:sp>
        <p:nvSpPr>
          <p:cNvPr id="15" name="Shape 11"/>
          <p:cNvSpPr/>
          <p:nvPr/>
        </p:nvSpPr>
        <p:spPr>
          <a:xfrm>
            <a:off x="5074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16" name="Shape 12"/>
          <p:cNvSpPr/>
          <p:nvPr/>
        </p:nvSpPr>
        <p:spPr>
          <a:xfrm>
            <a:off x="5779008" y="2240280"/>
            <a:ext cx="731520" cy="731520"/>
          </a:xfrm>
          <a:prstGeom prst="ellipse">
            <a:avLst/>
          </a:prstGeom>
          <a:solidFill>
            <a:srgbClr val="FFFFFF"/>
          </a:solidFill>
          <a:ln/>
        </p:spPr>
      </p:sp>
      <p:pic>
        <p:nvPicPr>
          <p:cNvPr id="17" name="Image 2" descr="C:\Users\user\AppData\Local\Temp\claude\C--Users-user-Desktop-TOEIC---\46f2443e-6c5b-45fc-8f6e-79718ae21477\scratchpad\business-plan\icons\users.png">    </p:cNvPr>
          <p:cNvPicPr>
            <a:picLocks noChangeAspect="1"/>
          </p:cNvPicPr>
          <p:nvPr/>
        </p:nvPicPr>
        <p:blipFill>
          <a:blip r:embed="rId3"/>
          <a:stretch>
            <a:fillRect/>
          </a:stretch>
        </p:blipFill>
        <p:spPr>
          <a:xfrm>
            <a:off x="5943600" y="2404872"/>
            <a:ext cx="402336" cy="402336"/>
          </a:xfrm>
          <a:prstGeom prst="rect">
            <a:avLst/>
          </a:prstGeom>
        </p:spPr>
      </p:pic>
      <p:sp>
        <p:nvSpPr>
          <p:cNvPr id="18" name="Text 13"/>
          <p:cNvSpPr/>
          <p:nvPr/>
        </p:nvSpPr>
        <p:spPr>
          <a:xfrm>
            <a:off x="5184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CRM</a:t>
            </a:r>
            <a:endParaRPr lang="en-US" sz="1250" dirty="0"/>
          </a:p>
        </p:txBody>
      </p:sp>
      <p:sp>
        <p:nvSpPr>
          <p:cNvPr id="19" name="Text 14"/>
          <p:cNvSpPr/>
          <p:nvPr/>
        </p:nvSpPr>
        <p:spPr>
          <a:xfrm>
            <a:off x="5221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顧客情報・案件を一元管理し、組織全体で共有できる状態にする</a:t>
            </a:r>
            <a:endParaRPr lang="en-US" sz="1000" dirty="0"/>
          </a:p>
        </p:txBody>
      </p:sp>
      <p:sp>
        <p:nvSpPr>
          <p:cNvPr id="20" name="Shape 15"/>
          <p:cNvSpPr/>
          <p:nvPr/>
        </p:nvSpPr>
        <p:spPr>
          <a:xfrm>
            <a:off x="7360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21" name="Shape 16"/>
          <p:cNvSpPr/>
          <p:nvPr/>
        </p:nvSpPr>
        <p:spPr>
          <a:xfrm>
            <a:off x="8065008" y="2240280"/>
            <a:ext cx="731520" cy="731520"/>
          </a:xfrm>
          <a:prstGeom prst="ellipse">
            <a:avLst/>
          </a:prstGeom>
          <a:solidFill>
            <a:srgbClr val="FFFFFF"/>
          </a:solidFill>
          <a:ln/>
        </p:spPr>
      </p:sp>
      <p:pic>
        <p:nvPicPr>
          <p:cNvPr id="22" name="Image 3" descr="C:\Users\user\AppData\Local\Temp\claude\C--Users-user-Desktop-TOEIC---\46f2443e-6c5b-45fc-8f6e-79718ae21477\scratchpad\business-plan\icons\microphone.png">    </p:cNvPr>
          <p:cNvPicPr>
            <a:picLocks noChangeAspect="1"/>
          </p:cNvPicPr>
          <p:nvPr/>
        </p:nvPicPr>
        <p:blipFill>
          <a:blip r:embed="rId4"/>
          <a:stretch>
            <a:fillRect/>
          </a:stretch>
        </p:blipFill>
        <p:spPr>
          <a:xfrm>
            <a:off x="8229600" y="2404872"/>
            <a:ext cx="402336" cy="402336"/>
          </a:xfrm>
          <a:prstGeom prst="rect">
            <a:avLst/>
          </a:prstGeom>
        </p:spPr>
      </p:pic>
      <p:sp>
        <p:nvSpPr>
          <p:cNvPr id="23" name="Text 17"/>
          <p:cNvSpPr/>
          <p:nvPr/>
        </p:nvSpPr>
        <p:spPr>
          <a:xfrm>
            <a:off x="7470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議事録AI</a:t>
            </a:r>
            <a:endParaRPr lang="en-US" sz="1250" dirty="0"/>
          </a:p>
        </p:txBody>
      </p:sp>
      <p:sp>
        <p:nvSpPr>
          <p:cNvPr id="24" name="Text 18"/>
          <p:cNvSpPr/>
          <p:nvPr/>
        </p:nvSpPr>
        <p:spPr>
          <a:xfrm>
            <a:off x="7507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会議・商談の記録を自動要約し、決定事項とタスクを可視化</a:t>
            </a:r>
            <a:endParaRPr lang="en-US" sz="1000" dirty="0"/>
          </a:p>
        </p:txBody>
      </p:sp>
      <p:sp>
        <p:nvSpPr>
          <p:cNvPr id="25" name="Shape 19"/>
          <p:cNvSpPr/>
          <p:nvPr/>
        </p:nvSpPr>
        <p:spPr>
          <a:xfrm>
            <a:off x="9646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26" name="Shape 20"/>
          <p:cNvSpPr/>
          <p:nvPr/>
        </p:nvSpPr>
        <p:spPr>
          <a:xfrm>
            <a:off x="10351008" y="2240280"/>
            <a:ext cx="731520" cy="731520"/>
          </a:xfrm>
          <a:prstGeom prst="ellipse">
            <a:avLst/>
          </a:prstGeom>
          <a:solidFill>
            <a:srgbClr val="FFFFFF"/>
          </a:solidFill>
          <a:ln/>
        </p:spPr>
      </p:sp>
      <p:pic>
        <p:nvPicPr>
          <p:cNvPr id="27" name="Image 4" descr="C:\Users\user\AppData\Local\Temp\claude\C--Users-user-Desktop-TOEIC---\46f2443e-6c5b-45fc-8f6e-79718ae21477\scratchpad\business-plan\icons\briefcase.png">    </p:cNvPr>
          <p:cNvPicPr>
            <a:picLocks noChangeAspect="1"/>
          </p:cNvPicPr>
          <p:nvPr/>
        </p:nvPicPr>
        <p:blipFill>
          <a:blip r:embed="rId5"/>
          <a:stretch>
            <a:fillRect/>
          </a:stretch>
        </p:blipFill>
        <p:spPr>
          <a:xfrm>
            <a:off x="10515600" y="2404872"/>
            <a:ext cx="402336" cy="402336"/>
          </a:xfrm>
          <a:prstGeom prst="rect">
            <a:avLst/>
          </a:prstGeom>
        </p:spPr>
      </p:pic>
      <p:sp>
        <p:nvSpPr>
          <p:cNvPr id="28" name="Text 21"/>
          <p:cNvSpPr/>
          <p:nvPr/>
        </p:nvSpPr>
        <p:spPr>
          <a:xfrm>
            <a:off x="9756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業務支援テンプレート</a:t>
            </a:r>
            <a:endParaRPr lang="en-US" sz="1250" dirty="0"/>
          </a:p>
        </p:txBody>
      </p:sp>
      <p:sp>
        <p:nvSpPr>
          <p:cNvPr id="29" name="Text 22"/>
          <p:cNvSpPr/>
          <p:nvPr/>
        </p:nvSpPr>
        <p:spPr>
          <a:xfrm>
            <a:off x="9793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不動産をはじめ、業種特化のテンプレートで導入初速を高める</a:t>
            </a:r>
            <a:endParaRPr lang="en-US" sz="1000" dirty="0"/>
          </a:p>
        </p:txBody>
      </p:sp>
      <p:sp>
        <p:nvSpPr>
          <p:cNvPr id="30" name="Text 23"/>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1.2</a:t>
            </a:r>
            <a:endParaRPr lang="en-US" sz="900" dirty="0"/>
          </a:p>
        </p:txBody>
      </p:sp>
      <p:sp>
        <p:nvSpPr>
          <p:cNvPr id="31" name="Text 2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COMPETITIVE ADVANTAGE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800" b="1" dirty="0">
                <a:solidFill>
                  <a:srgbClr val="0A1B3D"/>
                </a:solidFill>
                <a:latin typeface="Cambria" pitchFamily="34" charset="0"/>
                <a:ea typeface="Cambria" pitchFamily="34" charset="-122"/>
                <a:cs typeface="Cambria" pitchFamily="34" charset="-120"/>
              </a:rPr>
              <a:t>一般的なAIチャットとの違い</a:t>
            </a:r>
            <a:endParaRPr lang="en-US" sz="2800" dirty="0"/>
          </a:p>
        </p:txBody>
      </p:sp>
      <p:sp>
        <p:nvSpPr>
          <p:cNvPr id="4" name="Shape 2"/>
          <p:cNvSpPr/>
          <p:nvPr/>
        </p:nvSpPr>
        <p:spPr>
          <a:xfrm>
            <a:off x="502920" y="1691640"/>
            <a:ext cx="5074920" cy="502920"/>
          </a:xfrm>
          <a:prstGeom prst="roundRect">
            <a:avLst>
              <a:gd name="adj" fmla="val 14545"/>
            </a:avLst>
          </a:prstGeom>
          <a:solidFill>
            <a:srgbClr val="F3F6FA"/>
          </a:solidFill>
          <a:ln/>
        </p:spPr>
      </p:sp>
      <p:sp>
        <p:nvSpPr>
          <p:cNvPr id="5" name="Text 3"/>
          <p:cNvSpPr/>
          <p:nvPr/>
        </p:nvSpPr>
        <p:spPr>
          <a:xfrm>
            <a:off x="502920" y="1691640"/>
            <a:ext cx="5074920" cy="502920"/>
          </a:xfrm>
          <a:prstGeom prst="rect">
            <a:avLst/>
          </a:prstGeom>
          <a:noFill/>
          <a:ln/>
        </p:spPr>
        <p:txBody>
          <a:bodyPr wrap="square" lIns="0" tIns="0" rIns="0" bIns="0" rtlCol="0" anchor="ctr"/>
          <a:lstStyle/>
          <a:p>
            <a:pPr algn="ctr" indent="0" marL="0">
              <a:buNone/>
            </a:pPr>
            <a:r>
              <a:rPr lang="en-US" sz="1300" b="1" dirty="0">
                <a:solidFill>
                  <a:srgbClr val="64748B"/>
                </a:solidFill>
                <a:latin typeface="Calibri" pitchFamily="34" charset="0"/>
                <a:ea typeface="Calibri" pitchFamily="34" charset="-122"/>
                <a:cs typeface="Calibri" pitchFamily="34" charset="-120"/>
              </a:rPr>
              <a:t>汎用AIチャットツール</a:t>
            </a:r>
            <a:endParaRPr lang="en-US" sz="1300" dirty="0"/>
          </a:p>
        </p:txBody>
      </p:sp>
      <p:sp>
        <p:nvSpPr>
          <p:cNvPr id="6" name="Shape 4"/>
          <p:cNvSpPr/>
          <p:nvPr/>
        </p:nvSpPr>
        <p:spPr>
          <a:xfrm>
            <a:off x="5943600" y="1691640"/>
            <a:ext cx="5074920" cy="502920"/>
          </a:xfrm>
          <a:prstGeom prst="roundRect">
            <a:avLst>
              <a:gd name="adj" fmla="val 14545"/>
            </a:avLst>
          </a:prstGeom>
          <a:solidFill>
            <a:srgbClr val="2563EB"/>
          </a:solidFill>
          <a:ln/>
        </p:spPr>
      </p:sp>
      <p:sp>
        <p:nvSpPr>
          <p:cNvPr id="7" name="Text 5"/>
          <p:cNvSpPr/>
          <p:nvPr/>
        </p:nvSpPr>
        <p:spPr>
          <a:xfrm>
            <a:off x="5943600" y="1691640"/>
            <a:ext cx="5074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Smart Labo Works</a:t>
            </a:r>
            <a:endParaRPr lang="en-US" sz="1300" dirty="0"/>
          </a:p>
        </p:txBody>
      </p:sp>
      <p:sp>
        <p:nvSpPr>
          <p:cNvPr id="8" name="Text 6"/>
          <p:cNvSpPr/>
          <p:nvPr/>
        </p:nvSpPr>
        <p:spPr>
          <a:xfrm>
            <a:off x="502920" y="2093976"/>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回答の拠り所</a:t>
            </a:r>
            <a:endParaRPr lang="en-US" sz="1000" dirty="0"/>
          </a:p>
        </p:txBody>
      </p:sp>
      <p:sp>
        <p:nvSpPr>
          <p:cNvPr id="9" name="Shape 7"/>
          <p:cNvSpPr/>
          <p:nvPr/>
        </p:nvSpPr>
        <p:spPr>
          <a:xfrm>
            <a:off x="502920" y="2313432"/>
            <a:ext cx="5074920" cy="566928"/>
          </a:xfrm>
          <a:prstGeom prst="rect">
            <a:avLst/>
          </a:prstGeom>
          <a:solidFill>
            <a:srgbClr val="FAFBFC"/>
          </a:solidFill>
          <a:ln w="12700">
            <a:solidFill>
              <a:srgbClr val="F3F6FA"/>
            </a:solidFill>
            <a:prstDash val="solid"/>
          </a:ln>
        </p:spPr>
      </p:sp>
      <p:sp>
        <p:nvSpPr>
          <p:cNvPr id="10" name="Text 8"/>
          <p:cNvSpPr/>
          <p:nvPr/>
        </p:nvSpPr>
        <p:spPr>
          <a:xfrm>
            <a:off x="640080" y="2313432"/>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汎用的な知識のみ</a:t>
            </a:r>
            <a:endParaRPr lang="en-US" sz="1100" dirty="0"/>
          </a:p>
        </p:txBody>
      </p:sp>
      <p:sp>
        <p:nvSpPr>
          <p:cNvPr id="11" name="Shape 9"/>
          <p:cNvSpPr/>
          <p:nvPr/>
        </p:nvSpPr>
        <p:spPr>
          <a:xfrm>
            <a:off x="5943600" y="2313432"/>
            <a:ext cx="5074920" cy="566928"/>
          </a:xfrm>
          <a:prstGeom prst="rect">
            <a:avLst/>
          </a:prstGeom>
          <a:solidFill>
            <a:srgbClr val="EFF4FE"/>
          </a:solidFill>
          <a:ln w="12700">
            <a:solidFill>
              <a:srgbClr val="D6E4FB"/>
            </a:solidFill>
            <a:prstDash val="solid"/>
          </a:ln>
        </p:spPr>
      </p:sp>
      <p:sp>
        <p:nvSpPr>
          <p:cNvPr id="12" name="Text 10"/>
          <p:cNvSpPr/>
          <p:nvPr/>
        </p:nvSpPr>
        <p:spPr>
          <a:xfrm>
            <a:off x="6080760" y="2313432"/>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自社のナレッジ(Company Brain)に基づく回答</a:t>
            </a:r>
            <a:endParaRPr lang="en-US" sz="1100" dirty="0"/>
          </a:p>
        </p:txBody>
      </p:sp>
      <p:sp>
        <p:nvSpPr>
          <p:cNvPr id="13" name="Text 11"/>
          <p:cNvSpPr/>
          <p:nvPr/>
        </p:nvSpPr>
        <p:spPr>
          <a:xfrm>
            <a:off x="502920" y="2898648"/>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専門性</a:t>
            </a:r>
            <a:endParaRPr lang="en-US" sz="1000" dirty="0"/>
          </a:p>
        </p:txBody>
      </p:sp>
      <p:sp>
        <p:nvSpPr>
          <p:cNvPr id="14" name="Shape 12"/>
          <p:cNvSpPr/>
          <p:nvPr/>
        </p:nvSpPr>
        <p:spPr>
          <a:xfrm>
            <a:off x="502920" y="3118104"/>
            <a:ext cx="5074920" cy="566928"/>
          </a:xfrm>
          <a:prstGeom prst="rect">
            <a:avLst/>
          </a:prstGeom>
          <a:solidFill>
            <a:srgbClr val="FAFBFC"/>
          </a:solidFill>
          <a:ln w="12700">
            <a:solidFill>
              <a:srgbClr val="F3F6FA"/>
            </a:solidFill>
            <a:prstDash val="solid"/>
          </a:ln>
        </p:spPr>
      </p:sp>
      <p:sp>
        <p:nvSpPr>
          <p:cNvPr id="15" name="Text 13"/>
          <p:cNvSpPr/>
          <p:nvPr/>
        </p:nvSpPr>
        <p:spPr>
          <a:xfrm>
            <a:off x="640080" y="3118104"/>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業種を問わない一般的な回答</a:t>
            </a:r>
            <a:endParaRPr lang="en-US" sz="1100" dirty="0"/>
          </a:p>
        </p:txBody>
      </p:sp>
      <p:sp>
        <p:nvSpPr>
          <p:cNvPr id="16" name="Shape 14"/>
          <p:cNvSpPr/>
          <p:nvPr/>
        </p:nvSpPr>
        <p:spPr>
          <a:xfrm>
            <a:off x="5943600" y="3118104"/>
            <a:ext cx="5074920" cy="566928"/>
          </a:xfrm>
          <a:prstGeom prst="rect">
            <a:avLst/>
          </a:prstGeom>
          <a:solidFill>
            <a:srgbClr val="EFF4FE"/>
          </a:solidFill>
          <a:ln w="12700">
            <a:solidFill>
              <a:srgbClr val="D6E4FB"/>
            </a:solidFill>
            <a:prstDash val="solid"/>
          </a:ln>
        </p:spPr>
      </p:sp>
      <p:sp>
        <p:nvSpPr>
          <p:cNvPr id="17" name="Text 15"/>
          <p:cNvSpPr/>
          <p:nvPr/>
        </p:nvSpPr>
        <p:spPr>
          <a:xfrm>
            <a:off x="6080760" y="3118104"/>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業種特化のテンプレート・プロンプト</a:t>
            </a:r>
            <a:endParaRPr lang="en-US" sz="1100" dirty="0"/>
          </a:p>
        </p:txBody>
      </p:sp>
      <p:sp>
        <p:nvSpPr>
          <p:cNvPr id="18" name="Text 16"/>
          <p:cNvSpPr/>
          <p:nvPr/>
        </p:nvSpPr>
        <p:spPr>
          <a:xfrm>
            <a:off x="502920" y="3703320"/>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アウトプット</a:t>
            </a:r>
            <a:endParaRPr lang="en-US" sz="1000" dirty="0"/>
          </a:p>
        </p:txBody>
      </p:sp>
      <p:sp>
        <p:nvSpPr>
          <p:cNvPr id="19" name="Shape 17"/>
          <p:cNvSpPr/>
          <p:nvPr/>
        </p:nvSpPr>
        <p:spPr>
          <a:xfrm>
            <a:off x="502920" y="3922776"/>
            <a:ext cx="5074920" cy="566928"/>
          </a:xfrm>
          <a:prstGeom prst="rect">
            <a:avLst/>
          </a:prstGeom>
          <a:solidFill>
            <a:srgbClr val="FAFBFC"/>
          </a:solidFill>
          <a:ln w="12700">
            <a:solidFill>
              <a:srgbClr val="F3F6FA"/>
            </a:solidFill>
            <a:prstDash val="solid"/>
          </a:ln>
        </p:spPr>
      </p:sp>
      <p:sp>
        <p:nvSpPr>
          <p:cNvPr id="20" name="Text 18"/>
          <p:cNvSpPr/>
          <p:nvPr/>
        </p:nvSpPr>
        <p:spPr>
          <a:xfrm>
            <a:off x="640080" y="3922776"/>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回答して終わり</a:t>
            </a:r>
            <a:endParaRPr lang="en-US" sz="1100" dirty="0"/>
          </a:p>
        </p:txBody>
      </p:sp>
      <p:sp>
        <p:nvSpPr>
          <p:cNvPr id="21" name="Shape 19"/>
          <p:cNvSpPr/>
          <p:nvPr/>
        </p:nvSpPr>
        <p:spPr>
          <a:xfrm>
            <a:off x="5943600" y="3922776"/>
            <a:ext cx="5074920" cy="566928"/>
          </a:xfrm>
          <a:prstGeom prst="rect">
            <a:avLst/>
          </a:prstGeom>
          <a:solidFill>
            <a:srgbClr val="EFF4FE"/>
          </a:solidFill>
          <a:ln w="12700">
            <a:solidFill>
              <a:srgbClr val="D6E4FB"/>
            </a:solidFill>
            <a:prstDash val="solid"/>
          </a:ln>
        </p:spPr>
      </p:sp>
      <p:sp>
        <p:nvSpPr>
          <p:cNvPr id="22" name="Text 20"/>
          <p:cNvSpPr/>
          <p:nvPr/>
        </p:nvSpPr>
        <p:spPr>
          <a:xfrm>
            <a:off x="6080760" y="3922776"/>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次に取るべきアクションまで提示</a:t>
            </a:r>
            <a:endParaRPr lang="en-US" sz="1100" dirty="0"/>
          </a:p>
        </p:txBody>
      </p:sp>
      <p:sp>
        <p:nvSpPr>
          <p:cNvPr id="23" name="Text 21"/>
          <p:cNvSpPr/>
          <p:nvPr/>
        </p:nvSpPr>
        <p:spPr>
          <a:xfrm>
            <a:off x="502920" y="4507992"/>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AIの使い分け</a:t>
            </a:r>
            <a:endParaRPr lang="en-US" sz="1000" dirty="0"/>
          </a:p>
        </p:txBody>
      </p:sp>
      <p:sp>
        <p:nvSpPr>
          <p:cNvPr id="24" name="Shape 22"/>
          <p:cNvSpPr/>
          <p:nvPr/>
        </p:nvSpPr>
        <p:spPr>
          <a:xfrm>
            <a:off x="502920" y="4727448"/>
            <a:ext cx="5074920" cy="566928"/>
          </a:xfrm>
          <a:prstGeom prst="rect">
            <a:avLst/>
          </a:prstGeom>
          <a:solidFill>
            <a:srgbClr val="FAFBFC"/>
          </a:solidFill>
          <a:ln w="12700">
            <a:solidFill>
              <a:srgbClr val="F3F6FA"/>
            </a:solidFill>
            <a:prstDash val="solid"/>
          </a:ln>
        </p:spPr>
      </p:sp>
      <p:sp>
        <p:nvSpPr>
          <p:cNvPr id="25" name="Text 23"/>
          <p:cNvSpPr/>
          <p:nvPr/>
        </p:nvSpPr>
        <p:spPr>
          <a:xfrm>
            <a:off x="640080" y="4727448"/>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単一モデルに固定</a:t>
            </a:r>
            <a:endParaRPr lang="en-US" sz="1100" dirty="0"/>
          </a:p>
        </p:txBody>
      </p:sp>
      <p:sp>
        <p:nvSpPr>
          <p:cNvPr id="26" name="Shape 24"/>
          <p:cNvSpPr/>
          <p:nvPr/>
        </p:nvSpPr>
        <p:spPr>
          <a:xfrm>
            <a:off x="5943600" y="4727448"/>
            <a:ext cx="5074920" cy="566928"/>
          </a:xfrm>
          <a:prstGeom prst="rect">
            <a:avLst/>
          </a:prstGeom>
          <a:solidFill>
            <a:srgbClr val="EFF4FE"/>
          </a:solidFill>
          <a:ln w="12700">
            <a:solidFill>
              <a:srgbClr val="D6E4FB"/>
            </a:solidFill>
            <a:prstDash val="solid"/>
          </a:ln>
        </p:spPr>
      </p:sp>
      <p:sp>
        <p:nvSpPr>
          <p:cNvPr id="27" name="Text 25"/>
          <p:cNvSpPr/>
          <p:nvPr/>
        </p:nvSpPr>
        <p:spPr>
          <a:xfrm>
            <a:off x="6080760" y="4727448"/>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複数AIを自動で使い分けるSmart AI Router</a:t>
            </a:r>
            <a:endParaRPr lang="en-US" sz="1100" dirty="0"/>
          </a:p>
        </p:txBody>
      </p:sp>
      <p:sp>
        <p:nvSpPr>
          <p:cNvPr id="28" name="Text 26"/>
          <p:cNvSpPr/>
          <p:nvPr/>
        </p:nvSpPr>
        <p:spPr>
          <a:xfrm>
            <a:off x="502920" y="5312664"/>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使うほど</a:t>
            </a:r>
            <a:endParaRPr lang="en-US" sz="1000" dirty="0"/>
          </a:p>
        </p:txBody>
      </p:sp>
      <p:sp>
        <p:nvSpPr>
          <p:cNvPr id="29" name="Shape 27"/>
          <p:cNvSpPr/>
          <p:nvPr/>
        </p:nvSpPr>
        <p:spPr>
          <a:xfrm>
            <a:off x="502920" y="5532120"/>
            <a:ext cx="5074920" cy="566928"/>
          </a:xfrm>
          <a:prstGeom prst="rect">
            <a:avLst/>
          </a:prstGeom>
          <a:solidFill>
            <a:srgbClr val="FAFBFC"/>
          </a:solidFill>
          <a:ln w="12700">
            <a:solidFill>
              <a:srgbClr val="F3F6FA"/>
            </a:solidFill>
            <a:prstDash val="solid"/>
          </a:ln>
        </p:spPr>
      </p:sp>
      <p:sp>
        <p:nvSpPr>
          <p:cNvPr id="30" name="Text 28"/>
          <p:cNvSpPr/>
          <p:nvPr/>
        </p:nvSpPr>
        <p:spPr>
          <a:xfrm>
            <a:off x="640080" y="5532120"/>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変化しない</a:t>
            </a:r>
            <a:endParaRPr lang="en-US" sz="1100" dirty="0"/>
          </a:p>
        </p:txBody>
      </p:sp>
      <p:sp>
        <p:nvSpPr>
          <p:cNvPr id="31" name="Shape 29"/>
          <p:cNvSpPr/>
          <p:nvPr/>
        </p:nvSpPr>
        <p:spPr>
          <a:xfrm>
            <a:off x="5943600" y="5532120"/>
            <a:ext cx="5074920" cy="566928"/>
          </a:xfrm>
          <a:prstGeom prst="rect">
            <a:avLst/>
          </a:prstGeom>
          <a:solidFill>
            <a:srgbClr val="EFF4FE"/>
          </a:solidFill>
          <a:ln w="12700">
            <a:solidFill>
              <a:srgbClr val="D6E4FB"/>
            </a:solidFill>
            <a:prstDash val="solid"/>
          </a:ln>
        </p:spPr>
      </p:sp>
      <p:sp>
        <p:nvSpPr>
          <p:cNvPr id="32" name="Text 30"/>
          <p:cNvSpPr/>
          <p:nvPr/>
        </p:nvSpPr>
        <p:spPr>
          <a:xfrm>
            <a:off x="6080760" y="5532120"/>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ナレッジが蓄積し、回答の精度が高まる</a:t>
            </a:r>
            <a:endParaRPr lang="en-US" sz="1100" dirty="0"/>
          </a:p>
        </p:txBody>
      </p:sp>
      <p:sp>
        <p:nvSpPr>
          <p:cNvPr id="33" name="Text 31"/>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1.2</a:t>
            </a:r>
            <a:endParaRPr lang="en-US" sz="900" dirty="0"/>
          </a:p>
        </p:txBody>
      </p:sp>
      <p:sp>
        <p:nvSpPr>
          <p:cNvPr id="34" name="Text 3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BUSINESS MODEL</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ストック型収益モデル</a:t>
            </a:r>
            <a:endParaRPr lang="en-US" sz="3000" dirty="0"/>
          </a:p>
        </p:txBody>
      </p:sp>
      <p:sp>
        <p:nvSpPr>
          <p:cNvPr id="4" name="Shape 2"/>
          <p:cNvSpPr/>
          <p:nvPr/>
        </p:nvSpPr>
        <p:spPr>
          <a:xfrm>
            <a:off x="809244" y="2194560"/>
            <a:ext cx="960120" cy="960120"/>
          </a:xfrm>
          <a:prstGeom prst="ellipse">
            <a:avLst/>
          </a:prstGeom>
          <a:solidFill>
            <a:srgbClr val="0A1B3D"/>
          </a:solidFill>
          <a:ln/>
        </p:spPr>
      </p:sp>
      <p:pic>
        <p:nvPicPr>
          <p:cNvPr id="5" name="Image 0" descr="C:\Users\user\AppData\Local\Temp\claude\C--Users-user-Desktop-TOEIC---\46f2443e-6c5b-45fc-8f6e-79718ae21477\scratchpad\business-plan\icons\handshake.png">    </p:cNvPr>
          <p:cNvPicPr>
            <a:picLocks noChangeAspect="1"/>
          </p:cNvPicPr>
          <p:nvPr/>
        </p:nvPicPr>
        <p:blipFill>
          <a:blip r:embed="rId1"/>
          <a:stretch>
            <a:fillRect/>
          </a:stretch>
        </p:blipFill>
        <p:spPr>
          <a:xfrm>
            <a:off x="1049274" y="2434590"/>
            <a:ext cx="480060" cy="480060"/>
          </a:xfrm>
          <a:prstGeom prst="rect">
            <a:avLst/>
          </a:prstGeom>
        </p:spPr>
      </p:pic>
      <p:sp>
        <p:nvSpPr>
          <p:cNvPr id="6" name="Text 3"/>
          <p:cNvSpPr/>
          <p:nvPr/>
        </p:nvSpPr>
        <p:spPr>
          <a:xfrm>
            <a:off x="365760"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導入</a:t>
            </a:r>
            <a:endParaRPr lang="en-US" sz="1250" dirty="0"/>
          </a:p>
        </p:txBody>
      </p:sp>
      <p:sp>
        <p:nvSpPr>
          <p:cNvPr id="7" name="Text 4"/>
          <p:cNvSpPr/>
          <p:nvPr/>
        </p:nvSpPr>
        <p:spPr>
          <a:xfrm>
            <a:off x="365760"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ヒアリング・</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個別提案</a:t>
            </a:r>
            <a:endParaRPr lang="en-US" sz="950" dirty="0"/>
          </a:p>
        </p:txBody>
      </p:sp>
      <p:sp>
        <p:nvSpPr>
          <p:cNvPr id="8" name="Text 5"/>
          <p:cNvSpPr/>
          <p:nvPr/>
        </p:nvSpPr>
        <p:spPr>
          <a:xfrm>
            <a:off x="2075688"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9" name="Shape 6"/>
          <p:cNvSpPr/>
          <p:nvPr/>
        </p:nvSpPr>
        <p:spPr>
          <a:xfrm>
            <a:off x="2731861" y="2194560"/>
            <a:ext cx="960120" cy="960120"/>
          </a:xfrm>
          <a:prstGeom prst="ellipse">
            <a:avLst/>
          </a:prstGeom>
          <a:solidFill>
            <a:srgbClr val="0A1B3D"/>
          </a:solidFill>
          <a:ln/>
        </p:spPr>
      </p:sp>
      <p:pic>
        <p:nvPicPr>
          <p:cNvPr id="10" name="Image 1" descr="C:\Users\user\AppData\Local\Temp\claude\C--Users-user-Desktop-TOEIC---\46f2443e-6c5b-45fc-8f6e-79718ae21477\scratchpad\business-plan\icons\coins.png">    </p:cNvPr>
          <p:cNvPicPr>
            <a:picLocks noChangeAspect="1"/>
          </p:cNvPicPr>
          <p:nvPr/>
        </p:nvPicPr>
        <p:blipFill>
          <a:blip r:embed="rId2"/>
          <a:stretch>
            <a:fillRect/>
          </a:stretch>
        </p:blipFill>
        <p:spPr>
          <a:xfrm>
            <a:off x="2971891" y="2434590"/>
            <a:ext cx="480060" cy="480060"/>
          </a:xfrm>
          <a:prstGeom prst="rect">
            <a:avLst/>
          </a:prstGeom>
        </p:spPr>
      </p:pic>
      <p:sp>
        <p:nvSpPr>
          <p:cNvPr id="11" name="Text 7"/>
          <p:cNvSpPr/>
          <p:nvPr/>
        </p:nvSpPr>
        <p:spPr>
          <a:xfrm>
            <a:off x="2288377"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初期費用</a:t>
            </a:r>
            <a:endParaRPr lang="en-US" sz="1250" dirty="0"/>
          </a:p>
        </p:txBody>
      </p:sp>
      <p:sp>
        <p:nvSpPr>
          <p:cNvPr id="12" name="Text 8"/>
          <p:cNvSpPr/>
          <p:nvPr/>
        </p:nvSpPr>
        <p:spPr>
          <a:xfrm>
            <a:off x="2288377"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導入支援・</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初期設定</a:t>
            </a:r>
            <a:endParaRPr lang="en-US" sz="950" dirty="0"/>
          </a:p>
        </p:txBody>
      </p:sp>
      <p:sp>
        <p:nvSpPr>
          <p:cNvPr id="13" name="Text 9"/>
          <p:cNvSpPr/>
          <p:nvPr/>
        </p:nvSpPr>
        <p:spPr>
          <a:xfrm>
            <a:off x="3998305"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14" name="Shape 10"/>
          <p:cNvSpPr/>
          <p:nvPr/>
        </p:nvSpPr>
        <p:spPr>
          <a:xfrm>
            <a:off x="4654479" y="2194560"/>
            <a:ext cx="960120" cy="960120"/>
          </a:xfrm>
          <a:prstGeom prst="ellipse">
            <a:avLst/>
          </a:prstGeom>
          <a:solidFill>
            <a:srgbClr val="0A1B3D"/>
          </a:solidFill>
          <a:ln/>
        </p:spPr>
      </p:sp>
      <p:pic>
        <p:nvPicPr>
          <p:cNvPr id="15" name="Image 2" descr="C:\Users\user\AppData\Local\Temp\claude\C--Users-user-Desktop-TOEIC---\46f2443e-6c5b-45fc-8f6e-79718ae21477\scratchpad\business-plan\icons\briefcase.png">    </p:cNvPr>
          <p:cNvPicPr>
            <a:picLocks noChangeAspect="1"/>
          </p:cNvPicPr>
          <p:nvPr/>
        </p:nvPicPr>
        <p:blipFill>
          <a:blip r:embed="rId3"/>
          <a:stretch>
            <a:fillRect/>
          </a:stretch>
        </p:blipFill>
        <p:spPr>
          <a:xfrm>
            <a:off x="4894509" y="2434590"/>
            <a:ext cx="480060" cy="480060"/>
          </a:xfrm>
          <a:prstGeom prst="rect">
            <a:avLst/>
          </a:prstGeom>
        </p:spPr>
      </p:pic>
      <p:sp>
        <p:nvSpPr>
          <p:cNvPr id="16" name="Text 11"/>
          <p:cNvSpPr/>
          <p:nvPr/>
        </p:nvSpPr>
        <p:spPr>
          <a:xfrm>
            <a:off x="4210995"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月額利用</a:t>
            </a:r>
            <a:endParaRPr lang="en-US" sz="1250" dirty="0"/>
          </a:p>
        </p:txBody>
      </p:sp>
      <p:sp>
        <p:nvSpPr>
          <p:cNvPr id="17" name="Text 12"/>
          <p:cNvSpPr/>
          <p:nvPr/>
        </p:nvSpPr>
        <p:spPr>
          <a:xfrm>
            <a:off x="4210995"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基本プラン</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(利用モジュール)</a:t>
            </a:r>
            <a:endParaRPr lang="en-US" sz="950" dirty="0"/>
          </a:p>
        </p:txBody>
      </p:sp>
      <p:sp>
        <p:nvSpPr>
          <p:cNvPr id="18" name="Text 13"/>
          <p:cNvSpPr/>
          <p:nvPr/>
        </p:nvSpPr>
        <p:spPr>
          <a:xfrm>
            <a:off x="5920923"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19" name="Shape 14"/>
          <p:cNvSpPr/>
          <p:nvPr/>
        </p:nvSpPr>
        <p:spPr>
          <a:xfrm>
            <a:off x="6577096" y="2194560"/>
            <a:ext cx="960120" cy="960120"/>
          </a:xfrm>
          <a:prstGeom prst="ellipse">
            <a:avLst/>
          </a:prstGeom>
          <a:solidFill>
            <a:srgbClr val="0A1B3D"/>
          </a:solidFill>
          <a:ln/>
        </p:spPr>
      </p:sp>
      <p:pic>
        <p:nvPicPr>
          <p:cNvPr id="20" name="Image 3" descr="C:\Users\user\AppData\Local\Temp\claude\C--Users-user-Desktop-TOEIC---\46f2443e-6c5b-45fc-8f6e-79718ae21477\scratchpad\business-plan\icons\puzzle.png">    </p:cNvPr>
          <p:cNvPicPr>
            <a:picLocks noChangeAspect="1"/>
          </p:cNvPicPr>
          <p:nvPr/>
        </p:nvPicPr>
        <p:blipFill>
          <a:blip r:embed="rId4"/>
          <a:stretch>
            <a:fillRect/>
          </a:stretch>
        </p:blipFill>
        <p:spPr>
          <a:xfrm>
            <a:off x="6817126" y="2434590"/>
            <a:ext cx="480060" cy="480060"/>
          </a:xfrm>
          <a:prstGeom prst="rect">
            <a:avLst/>
          </a:prstGeom>
        </p:spPr>
      </p:pic>
      <p:sp>
        <p:nvSpPr>
          <p:cNvPr id="21" name="Text 15"/>
          <p:cNvSpPr/>
          <p:nvPr/>
        </p:nvSpPr>
        <p:spPr>
          <a:xfrm>
            <a:off x="6133612"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オプション</a:t>
            </a:r>
            <a:endParaRPr lang="en-US" sz="1250" dirty="0"/>
          </a:p>
        </p:txBody>
      </p:sp>
      <p:sp>
        <p:nvSpPr>
          <p:cNvPr id="22" name="Text 16"/>
          <p:cNvSpPr/>
          <p:nvPr/>
        </p:nvSpPr>
        <p:spPr>
          <a:xfrm>
            <a:off x="6133612"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追加機能・</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拡張支援</a:t>
            </a:r>
            <a:endParaRPr lang="en-US" sz="950" dirty="0"/>
          </a:p>
        </p:txBody>
      </p:sp>
      <p:sp>
        <p:nvSpPr>
          <p:cNvPr id="23" name="Text 17"/>
          <p:cNvSpPr/>
          <p:nvPr/>
        </p:nvSpPr>
        <p:spPr>
          <a:xfrm>
            <a:off x="7843540"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24" name="Shape 18"/>
          <p:cNvSpPr/>
          <p:nvPr/>
        </p:nvSpPr>
        <p:spPr>
          <a:xfrm>
            <a:off x="8499714" y="2194560"/>
            <a:ext cx="960120" cy="960120"/>
          </a:xfrm>
          <a:prstGeom prst="ellipse">
            <a:avLst/>
          </a:prstGeom>
          <a:solidFill>
            <a:srgbClr val="0A1B3D"/>
          </a:solidFill>
          <a:ln/>
        </p:spPr>
      </p:sp>
      <p:pic>
        <p:nvPicPr>
          <p:cNvPr id="25" name="Image 4" descr="C:\Users\user\AppData\Local\Temp\claude\C--Users-user-Desktop-TOEIC---\46f2443e-6c5b-45fc-8f6e-79718ae21477\scratchpad\business-plan\icons\chartline.png">    </p:cNvPr>
          <p:cNvPicPr>
            <a:picLocks noChangeAspect="1"/>
          </p:cNvPicPr>
          <p:nvPr/>
        </p:nvPicPr>
        <p:blipFill>
          <a:blip r:embed="rId5"/>
          <a:stretch>
            <a:fillRect/>
          </a:stretch>
        </p:blipFill>
        <p:spPr>
          <a:xfrm>
            <a:off x="8739744" y="2434590"/>
            <a:ext cx="480060" cy="480060"/>
          </a:xfrm>
          <a:prstGeom prst="rect">
            <a:avLst/>
          </a:prstGeom>
        </p:spPr>
      </p:pic>
      <p:sp>
        <p:nvSpPr>
          <p:cNvPr id="26" name="Text 19"/>
          <p:cNvSpPr/>
          <p:nvPr/>
        </p:nvSpPr>
        <p:spPr>
          <a:xfrm>
            <a:off x="8056230"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継続課金</a:t>
            </a:r>
            <a:endParaRPr lang="en-US" sz="1250" dirty="0"/>
          </a:p>
        </p:txBody>
      </p:sp>
      <p:sp>
        <p:nvSpPr>
          <p:cNvPr id="27" name="Text 20"/>
          <p:cNvSpPr/>
          <p:nvPr/>
        </p:nvSpPr>
        <p:spPr>
          <a:xfrm>
            <a:off x="8056230"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利用継続に伴う</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月次収益</a:t>
            </a:r>
            <a:endParaRPr lang="en-US" sz="950" dirty="0"/>
          </a:p>
        </p:txBody>
      </p:sp>
      <p:sp>
        <p:nvSpPr>
          <p:cNvPr id="28" name="Text 21"/>
          <p:cNvSpPr/>
          <p:nvPr/>
        </p:nvSpPr>
        <p:spPr>
          <a:xfrm>
            <a:off x="9766158"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29" name="Shape 22"/>
          <p:cNvSpPr/>
          <p:nvPr/>
        </p:nvSpPr>
        <p:spPr>
          <a:xfrm>
            <a:off x="10422331" y="2194560"/>
            <a:ext cx="960120" cy="960120"/>
          </a:xfrm>
          <a:prstGeom prst="ellipse">
            <a:avLst/>
          </a:prstGeom>
          <a:solidFill>
            <a:srgbClr val="2563EB"/>
          </a:solidFill>
          <a:ln/>
        </p:spPr>
      </p:sp>
      <p:pic>
        <p:nvPicPr>
          <p:cNvPr id="30" name="Image 5" descr="C:\Users\user\AppData\Local\Temp\claude\C--Users-user-Desktop-TOEIC---\46f2443e-6c5b-45fc-8f6e-79718ae21477\scratchpad\business-plan\icons\network.png">    </p:cNvPr>
          <p:cNvPicPr>
            <a:picLocks noChangeAspect="1"/>
          </p:cNvPicPr>
          <p:nvPr/>
        </p:nvPicPr>
        <p:blipFill>
          <a:blip r:embed="rId6"/>
          <a:stretch>
            <a:fillRect/>
          </a:stretch>
        </p:blipFill>
        <p:spPr>
          <a:xfrm>
            <a:off x="10662361" y="2434590"/>
            <a:ext cx="480060" cy="480060"/>
          </a:xfrm>
          <a:prstGeom prst="rect">
            <a:avLst/>
          </a:prstGeom>
        </p:spPr>
      </p:pic>
      <p:sp>
        <p:nvSpPr>
          <p:cNvPr id="31" name="Text 23"/>
          <p:cNvSpPr/>
          <p:nvPr/>
        </p:nvSpPr>
        <p:spPr>
          <a:xfrm>
            <a:off x="9978847"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ストック収益</a:t>
            </a:r>
            <a:endParaRPr lang="en-US" sz="1250" dirty="0"/>
          </a:p>
        </p:txBody>
      </p:sp>
      <p:sp>
        <p:nvSpPr>
          <p:cNvPr id="32" name="Text 24"/>
          <p:cNvSpPr/>
          <p:nvPr/>
        </p:nvSpPr>
        <p:spPr>
          <a:xfrm>
            <a:off x="9978847"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積み上がる</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安定収益基盤</a:t>
            </a:r>
            <a:endParaRPr lang="en-US" sz="950" dirty="0"/>
          </a:p>
        </p:txBody>
      </p:sp>
      <p:sp>
        <p:nvSpPr>
          <p:cNvPr id="33" name="Shape 25"/>
          <p:cNvSpPr/>
          <p:nvPr/>
        </p:nvSpPr>
        <p:spPr>
          <a:xfrm>
            <a:off x="502920" y="4251960"/>
            <a:ext cx="11185855" cy="1417320"/>
          </a:xfrm>
          <a:prstGeom prst="roundRect">
            <a:avLst>
              <a:gd name="adj" fmla="val 5161"/>
            </a:avLst>
          </a:prstGeom>
          <a:solidFill>
            <a:srgbClr val="F3F6FA"/>
          </a:solidFill>
          <a:ln/>
          <a:effectLst>
            <a:outerShdw sx="100000" sy="100000" kx="0" ky="0" algn="bl" rotWithShape="0" blurRad="76200" dist="25400" dir="5400000">
              <a:srgbClr val="0A1B3D">
                <a:alpha val="12000"/>
              </a:srgbClr>
            </a:outerShdw>
          </a:effectLst>
        </p:spPr>
      </p:sp>
      <p:sp>
        <p:nvSpPr>
          <p:cNvPr id="34" name="Text 26"/>
          <p:cNvSpPr/>
          <p:nvPr/>
        </p:nvSpPr>
        <p:spPr>
          <a:xfrm>
            <a:off x="822960" y="4434840"/>
            <a:ext cx="5029200" cy="365760"/>
          </a:xfrm>
          <a:prstGeom prst="rect">
            <a:avLst/>
          </a:prstGeom>
          <a:noFill/>
          <a:ln/>
        </p:spPr>
        <p:txBody>
          <a:bodyPr wrap="square" lIns="0" tIns="0" rIns="0" bIns="0" rtlCol="0" anchor="ctr"/>
          <a:lstStyle/>
          <a:p>
            <a:pPr indent="0" marL="0">
              <a:buNone/>
            </a:pPr>
            <a:r>
              <a:rPr lang="en-US" sz="1350" b="1" dirty="0">
                <a:solidFill>
                  <a:srgbClr val="0A1B3D"/>
                </a:solidFill>
                <a:latin typeface="Calibri" pitchFamily="34" charset="0"/>
                <a:ea typeface="Calibri" pitchFamily="34" charset="-122"/>
                <a:cs typeface="Calibri" pitchFamily="34" charset="-120"/>
              </a:rPr>
              <a:t>中核機能は切り売りしない</a:t>
            </a:r>
            <a:endParaRPr lang="en-US" sz="1350" dirty="0"/>
          </a:p>
        </p:txBody>
      </p:sp>
      <p:sp>
        <p:nvSpPr>
          <p:cNvPr id="35" name="Text 27"/>
          <p:cNvSpPr/>
          <p:nvPr/>
        </p:nvSpPr>
        <p:spPr>
          <a:xfrm>
            <a:off x="822960" y="4800600"/>
            <a:ext cx="10545775" cy="777240"/>
          </a:xfrm>
          <a:prstGeom prst="rect">
            <a:avLst/>
          </a:prstGeom>
          <a:noFill/>
          <a:ln/>
        </p:spPr>
        <p:txBody>
          <a:bodyPr wrap="square" lIns="0" tIns="0" rIns="0" bIns="0" rtlCol="0" anchor="ctr"/>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Company Brain・CRM・AI Assistant等の中核機能は、選択いただいた基本プランに標準搭載します。企業規模と活用範囲に応じて必要な機能を組み合わせる「導入プラン」として提供し、単なる価格表ではなく、お客様に合わせた導入設計を一緒に行う姿勢を一貫させています。</a:t>
            </a:r>
            <a:endParaRPr lang="en-US" sz="1100" dirty="0"/>
          </a:p>
        </p:txBody>
      </p:sp>
      <p:sp>
        <p:nvSpPr>
          <p:cNvPr id="36" name="Text 28"/>
          <p:cNvSpPr/>
          <p:nvPr/>
        </p:nvSpPr>
        <p:spPr>
          <a:xfrm>
            <a:off x="502920" y="6080760"/>
            <a:ext cx="9144000" cy="27432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 具体的な料金は、企業規模・利用範囲に応じた個別見積りとしています。</a:t>
            </a:r>
            <a:endParaRPr lang="en-US" sz="950" dirty="0"/>
          </a:p>
        </p:txBody>
      </p:sp>
      <p:sp>
        <p:nvSpPr>
          <p:cNvPr id="37" name="Text 29"/>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1.2</a:t>
            </a:r>
            <a:endParaRPr lang="en-US" sz="900" dirty="0"/>
          </a:p>
        </p:txBody>
      </p:sp>
      <p:sp>
        <p:nvSpPr>
          <p:cNvPr id="38" name="Text 3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GROWTH STRATEGY</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700" b="1" dirty="0">
                <a:solidFill>
                  <a:srgbClr val="0A1B3D"/>
                </a:solidFill>
                <a:latin typeface="Cambria" pitchFamily="34" charset="0"/>
                <a:ea typeface="Cambria" pitchFamily="34" charset="-122"/>
                <a:cs typeface="Cambria" pitchFamily="34" charset="-120"/>
              </a:rPr>
              <a:t>持続的な成長を支える販売戦略</a:t>
            </a:r>
            <a:endParaRPr lang="en-US" sz="2700" dirty="0"/>
          </a:p>
        </p:txBody>
      </p:sp>
      <p:sp>
        <p:nvSpPr>
          <p:cNvPr id="4" name="Shape 2"/>
          <p:cNvSpPr/>
          <p:nvPr/>
        </p:nvSpPr>
        <p:spPr>
          <a:xfrm>
            <a:off x="502920"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5" name="Shape 3"/>
          <p:cNvSpPr/>
          <p:nvPr/>
        </p:nvSpPr>
        <p:spPr>
          <a:xfrm>
            <a:off x="1207008" y="1627632"/>
            <a:ext cx="566928" cy="566928"/>
          </a:xfrm>
          <a:prstGeom prst="ellipse">
            <a:avLst/>
          </a:prstGeom>
          <a:solidFill>
            <a:srgbClr val="FFFFFF"/>
          </a:solidFill>
          <a:ln/>
        </p:spPr>
      </p:sp>
      <p:pic>
        <p:nvPicPr>
          <p:cNvPr id="6" name="Image 0" descr="C:\Users\user\AppData\Local\Temp\claude\C--Users-user-Desktop-TOEIC---\46f2443e-6c5b-45fc-8f6e-79718ae21477\scratchpad\business-plan\icons\monitor.png">    </p:cNvPr>
          <p:cNvPicPr>
            <a:picLocks noChangeAspect="1"/>
          </p:cNvPicPr>
          <p:nvPr/>
        </p:nvPicPr>
        <p:blipFill>
          <a:blip r:embed="rId1"/>
          <a:stretch>
            <a:fillRect/>
          </a:stretch>
        </p:blipFill>
        <p:spPr>
          <a:xfrm>
            <a:off x="1334567" y="1755191"/>
            <a:ext cx="311810" cy="311810"/>
          </a:xfrm>
          <a:prstGeom prst="rect">
            <a:avLst/>
          </a:prstGeom>
        </p:spPr>
      </p:pic>
      <p:sp>
        <p:nvSpPr>
          <p:cNvPr id="7" name="Text 4"/>
          <p:cNvSpPr/>
          <p:nvPr/>
        </p:nvSpPr>
        <p:spPr>
          <a:xfrm>
            <a:off x="557784"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ホームページ</a:t>
            </a:r>
            <a:endParaRPr lang="en-US" sz="1050" dirty="0"/>
          </a:p>
        </p:txBody>
      </p:sp>
      <p:sp>
        <p:nvSpPr>
          <p:cNvPr id="8" name="Text 5"/>
          <p:cNvSpPr/>
          <p:nvPr/>
        </p:nvSpPr>
        <p:spPr>
          <a:xfrm>
            <a:off x="2478024" y="1700784"/>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9" name="Shape 6"/>
          <p:cNvSpPr/>
          <p:nvPr/>
        </p:nvSpPr>
        <p:spPr>
          <a:xfrm>
            <a:off x="2587752"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10" name="Shape 7"/>
          <p:cNvSpPr/>
          <p:nvPr/>
        </p:nvSpPr>
        <p:spPr>
          <a:xfrm>
            <a:off x="3291840" y="1627632"/>
            <a:ext cx="566928" cy="566928"/>
          </a:xfrm>
          <a:prstGeom prst="ellipse">
            <a:avLst/>
          </a:prstGeom>
          <a:solidFill>
            <a:srgbClr val="FFFFFF"/>
          </a:solidFill>
          <a:ln/>
        </p:spPr>
      </p:sp>
      <p:pic>
        <p:nvPicPr>
          <p:cNvPr id="11" name="Image 1" descr="C:\Users\user\AppData\Local\Temp\claude\C--Users-user-Desktop-TOEIC---\46f2443e-6c5b-45fc-8f6e-79718ae21477\scratchpad\business-plan\icons\filetext.png">    </p:cNvPr>
          <p:cNvPicPr>
            <a:picLocks noChangeAspect="1"/>
          </p:cNvPicPr>
          <p:nvPr/>
        </p:nvPicPr>
        <p:blipFill>
          <a:blip r:embed="rId2"/>
          <a:stretch>
            <a:fillRect/>
          </a:stretch>
        </p:blipFill>
        <p:spPr>
          <a:xfrm>
            <a:off x="3419399" y="1755191"/>
            <a:ext cx="311810" cy="311810"/>
          </a:xfrm>
          <a:prstGeom prst="rect">
            <a:avLst/>
          </a:prstGeom>
        </p:spPr>
      </p:pic>
      <p:sp>
        <p:nvSpPr>
          <p:cNvPr id="12" name="Text 8"/>
          <p:cNvSpPr/>
          <p:nvPr/>
        </p:nvSpPr>
        <p:spPr>
          <a:xfrm>
            <a:off x="2642616"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資料請求</a:t>
            </a:r>
            <a:endParaRPr lang="en-US" sz="1050" dirty="0"/>
          </a:p>
        </p:txBody>
      </p:sp>
      <p:sp>
        <p:nvSpPr>
          <p:cNvPr id="13" name="Text 9"/>
          <p:cNvSpPr/>
          <p:nvPr/>
        </p:nvSpPr>
        <p:spPr>
          <a:xfrm>
            <a:off x="4562856" y="1700784"/>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14" name="Shape 10"/>
          <p:cNvSpPr/>
          <p:nvPr/>
        </p:nvSpPr>
        <p:spPr>
          <a:xfrm>
            <a:off x="4672584"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15" name="Shape 11"/>
          <p:cNvSpPr/>
          <p:nvPr/>
        </p:nvSpPr>
        <p:spPr>
          <a:xfrm>
            <a:off x="5376672" y="1627632"/>
            <a:ext cx="566928" cy="566928"/>
          </a:xfrm>
          <a:prstGeom prst="ellipse">
            <a:avLst/>
          </a:prstGeom>
          <a:solidFill>
            <a:srgbClr val="FFFFFF"/>
          </a:solidFill>
          <a:ln/>
        </p:spPr>
      </p:sp>
      <p:pic>
        <p:nvPicPr>
          <p:cNvPr id="16" name="Image 2" descr="C:\Users\user\AppData\Local\Temp\claude\C--Users-user-Desktop-TOEIC---\46f2443e-6c5b-45fc-8f6e-79718ae21477\scratchpad\business-plan\icons\comments.png">    </p:cNvPr>
          <p:cNvPicPr>
            <a:picLocks noChangeAspect="1"/>
          </p:cNvPicPr>
          <p:nvPr/>
        </p:nvPicPr>
        <p:blipFill>
          <a:blip r:embed="rId3"/>
          <a:stretch>
            <a:fillRect/>
          </a:stretch>
        </p:blipFill>
        <p:spPr>
          <a:xfrm>
            <a:off x="5504231" y="1755191"/>
            <a:ext cx="311810" cy="311810"/>
          </a:xfrm>
          <a:prstGeom prst="rect">
            <a:avLst/>
          </a:prstGeom>
        </p:spPr>
      </p:pic>
      <p:sp>
        <p:nvSpPr>
          <p:cNvPr id="17" name="Text 12"/>
          <p:cNvSpPr/>
          <p:nvPr/>
        </p:nvSpPr>
        <p:spPr>
          <a:xfrm>
            <a:off x="4727448"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デモ</a:t>
            </a:r>
            <a:endParaRPr lang="en-US" sz="1050" dirty="0"/>
          </a:p>
        </p:txBody>
      </p:sp>
      <p:sp>
        <p:nvSpPr>
          <p:cNvPr id="18" name="Text 13"/>
          <p:cNvSpPr/>
          <p:nvPr/>
        </p:nvSpPr>
        <p:spPr>
          <a:xfrm>
            <a:off x="6647688" y="1700784"/>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19" name="Shape 14"/>
          <p:cNvSpPr/>
          <p:nvPr/>
        </p:nvSpPr>
        <p:spPr>
          <a:xfrm>
            <a:off x="6757416"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20" name="Shape 15"/>
          <p:cNvSpPr/>
          <p:nvPr/>
        </p:nvSpPr>
        <p:spPr>
          <a:xfrm>
            <a:off x="7461504" y="1627632"/>
            <a:ext cx="566928" cy="566928"/>
          </a:xfrm>
          <a:prstGeom prst="ellipse">
            <a:avLst/>
          </a:prstGeom>
          <a:solidFill>
            <a:srgbClr val="FFFFFF"/>
          </a:solidFill>
          <a:ln/>
        </p:spPr>
      </p:sp>
      <p:pic>
        <p:nvPicPr>
          <p:cNvPr id="21" name="Image 3" descr="C:\Users\user\AppData\Local\Temp\claude\C--Users-user-Desktop-TOEIC---\46f2443e-6c5b-45fc-8f6e-79718ae21477\scratchpad\business-plan\icons\handshake.png">    </p:cNvPr>
          <p:cNvPicPr>
            <a:picLocks noChangeAspect="1"/>
          </p:cNvPicPr>
          <p:nvPr/>
        </p:nvPicPr>
        <p:blipFill>
          <a:blip r:embed="rId4"/>
          <a:stretch>
            <a:fillRect/>
          </a:stretch>
        </p:blipFill>
        <p:spPr>
          <a:xfrm>
            <a:off x="7589063" y="1755191"/>
            <a:ext cx="311810" cy="311810"/>
          </a:xfrm>
          <a:prstGeom prst="rect">
            <a:avLst/>
          </a:prstGeom>
        </p:spPr>
      </p:pic>
      <p:sp>
        <p:nvSpPr>
          <p:cNvPr id="22" name="Text 16"/>
          <p:cNvSpPr/>
          <p:nvPr/>
        </p:nvSpPr>
        <p:spPr>
          <a:xfrm>
            <a:off x="6812280"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契約</a:t>
            </a:r>
            <a:endParaRPr lang="en-US" sz="1050" dirty="0"/>
          </a:p>
        </p:txBody>
      </p:sp>
      <p:sp>
        <p:nvSpPr>
          <p:cNvPr id="23" name="Text 17"/>
          <p:cNvSpPr/>
          <p:nvPr/>
        </p:nvSpPr>
        <p:spPr>
          <a:xfrm>
            <a:off x="8732520" y="1700784"/>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24" name="Shape 18"/>
          <p:cNvSpPr/>
          <p:nvPr/>
        </p:nvSpPr>
        <p:spPr>
          <a:xfrm>
            <a:off x="8842248"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25" name="Shape 19"/>
          <p:cNvSpPr/>
          <p:nvPr/>
        </p:nvSpPr>
        <p:spPr>
          <a:xfrm>
            <a:off x="9546336" y="1627632"/>
            <a:ext cx="566928" cy="566928"/>
          </a:xfrm>
          <a:prstGeom prst="ellipse">
            <a:avLst/>
          </a:prstGeom>
          <a:solidFill>
            <a:srgbClr val="FFFFFF"/>
          </a:solidFill>
          <a:ln/>
        </p:spPr>
      </p:sp>
      <p:pic>
        <p:nvPicPr>
          <p:cNvPr id="26" name="Image 4" descr="C:\Users\user\AppData\Local\Temp\claude\C--Users-user-Desktop-TOEIC---\46f2443e-6c5b-45fc-8f6e-79718ae21477\scratchpad\business-plan\icons\rocket.png">    </p:cNvPr>
          <p:cNvPicPr>
            <a:picLocks noChangeAspect="1"/>
          </p:cNvPicPr>
          <p:nvPr/>
        </p:nvPicPr>
        <p:blipFill>
          <a:blip r:embed="rId5"/>
          <a:stretch>
            <a:fillRect/>
          </a:stretch>
        </p:blipFill>
        <p:spPr>
          <a:xfrm>
            <a:off x="9673895" y="1755191"/>
            <a:ext cx="311810" cy="311810"/>
          </a:xfrm>
          <a:prstGeom prst="rect">
            <a:avLst/>
          </a:prstGeom>
        </p:spPr>
      </p:pic>
      <p:sp>
        <p:nvSpPr>
          <p:cNvPr id="27" name="Text 20"/>
          <p:cNvSpPr/>
          <p:nvPr/>
        </p:nvSpPr>
        <p:spPr>
          <a:xfrm>
            <a:off x="8897112"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導入</a:t>
            </a:r>
            <a:endParaRPr lang="en-US" sz="1050" dirty="0"/>
          </a:p>
        </p:txBody>
      </p:sp>
      <p:sp>
        <p:nvSpPr>
          <p:cNvPr id="28" name="Shape 21"/>
          <p:cNvSpPr/>
          <p:nvPr/>
        </p:nvSpPr>
        <p:spPr>
          <a:xfrm>
            <a:off x="502920" y="3246120"/>
            <a:ext cx="1975104" cy="1280160"/>
          </a:xfrm>
          <a:prstGeom prst="roundRect">
            <a:avLst>
              <a:gd name="adj" fmla="val 5714"/>
            </a:avLst>
          </a:prstGeom>
          <a:solidFill>
            <a:srgbClr val="0A1B3D"/>
          </a:solidFill>
          <a:ln/>
        </p:spPr>
      </p:sp>
      <p:sp>
        <p:nvSpPr>
          <p:cNvPr id="29" name="Shape 22"/>
          <p:cNvSpPr/>
          <p:nvPr/>
        </p:nvSpPr>
        <p:spPr>
          <a:xfrm>
            <a:off x="1207008" y="3392424"/>
            <a:ext cx="566928" cy="566928"/>
          </a:xfrm>
          <a:prstGeom prst="ellipse">
            <a:avLst/>
          </a:prstGeom>
          <a:solidFill>
            <a:srgbClr val="2563EB"/>
          </a:solidFill>
          <a:ln/>
        </p:spPr>
      </p:sp>
      <p:pic>
        <p:nvPicPr>
          <p:cNvPr id="30" name="Image 5" descr="C:\Users\user\AppData\Local\Temp\claude\C--Users-user-Desktop-TOEIC---\46f2443e-6c5b-45fc-8f6e-79718ae21477\scratchpad\business-plan\icons\chartline.png">    </p:cNvPr>
          <p:cNvPicPr>
            <a:picLocks noChangeAspect="1"/>
          </p:cNvPicPr>
          <p:nvPr/>
        </p:nvPicPr>
        <p:blipFill>
          <a:blip r:embed="rId6"/>
          <a:stretch>
            <a:fillRect/>
          </a:stretch>
        </p:blipFill>
        <p:spPr>
          <a:xfrm>
            <a:off x="1334567" y="3519983"/>
            <a:ext cx="311810" cy="311810"/>
          </a:xfrm>
          <a:prstGeom prst="rect">
            <a:avLst/>
          </a:prstGeom>
        </p:spPr>
      </p:pic>
      <p:sp>
        <p:nvSpPr>
          <p:cNvPr id="31" name="Text 23"/>
          <p:cNvSpPr/>
          <p:nvPr/>
        </p:nvSpPr>
        <p:spPr>
          <a:xfrm>
            <a:off x="557784"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継続利用</a:t>
            </a:r>
            <a:endParaRPr lang="en-US" sz="1050" dirty="0"/>
          </a:p>
        </p:txBody>
      </p:sp>
      <p:sp>
        <p:nvSpPr>
          <p:cNvPr id="32" name="Text 24"/>
          <p:cNvSpPr/>
          <p:nvPr/>
        </p:nvSpPr>
        <p:spPr>
          <a:xfrm>
            <a:off x="2478024" y="3465576"/>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33" name="Shape 25"/>
          <p:cNvSpPr/>
          <p:nvPr/>
        </p:nvSpPr>
        <p:spPr>
          <a:xfrm>
            <a:off x="2587752" y="3246120"/>
            <a:ext cx="1975104" cy="1280160"/>
          </a:xfrm>
          <a:prstGeom prst="roundRect">
            <a:avLst>
              <a:gd name="adj" fmla="val 5714"/>
            </a:avLst>
          </a:prstGeom>
          <a:solidFill>
            <a:srgbClr val="0A1B3D"/>
          </a:solidFill>
          <a:ln/>
        </p:spPr>
      </p:sp>
      <p:sp>
        <p:nvSpPr>
          <p:cNvPr id="34" name="Shape 26"/>
          <p:cNvSpPr/>
          <p:nvPr/>
        </p:nvSpPr>
        <p:spPr>
          <a:xfrm>
            <a:off x="3291840" y="3392424"/>
            <a:ext cx="566928" cy="566928"/>
          </a:xfrm>
          <a:prstGeom prst="ellipse">
            <a:avLst/>
          </a:prstGeom>
          <a:solidFill>
            <a:srgbClr val="2563EB"/>
          </a:solidFill>
          <a:ln/>
        </p:spPr>
      </p:sp>
      <p:pic>
        <p:nvPicPr>
          <p:cNvPr id="35" name="Image 6" descr="C:\Users\user\AppData\Local\Temp\claude\C--Users-user-Desktop-TOEIC---\46f2443e-6c5b-45fc-8f6e-79718ae21477\scratchpad\business-plan\icons\star.png">    </p:cNvPr>
          <p:cNvPicPr>
            <a:picLocks noChangeAspect="1"/>
          </p:cNvPicPr>
          <p:nvPr/>
        </p:nvPicPr>
        <p:blipFill>
          <a:blip r:embed="rId7"/>
          <a:stretch>
            <a:fillRect/>
          </a:stretch>
        </p:blipFill>
        <p:spPr>
          <a:xfrm>
            <a:off x="3419399" y="3519983"/>
            <a:ext cx="311810" cy="311810"/>
          </a:xfrm>
          <a:prstGeom prst="rect">
            <a:avLst/>
          </a:prstGeom>
        </p:spPr>
      </p:pic>
      <p:sp>
        <p:nvSpPr>
          <p:cNvPr id="36" name="Text 27"/>
          <p:cNvSpPr/>
          <p:nvPr/>
        </p:nvSpPr>
        <p:spPr>
          <a:xfrm>
            <a:off x="2642616"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Partner Program</a:t>
            </a:r>
            <a:endParaRPr lang="en-US" sz="1050" dirty="0"/>
          </a:p>
        </p:txBody>
      </p:sp>
      <p:sp>
        <p:nvSpPr>
          <p:cNvPr id="37" name="Text 28"/>
          <p:cNvSpPr/>
          <p:nvPr/>
        </p:nvSpPr>
        <p:spPr>
          <a:xfrm>
            <a:off x="4562856" y="3465576"/>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38" name="Shape 29"/>
          <p:cNvSpPr/>
          <p:nvPr/>
        </p:nvSpPr>
        <p:spPr>
          <a:xfrm>
            <a:off x="4672584" y="3246120"/>
            <a:ext cx="1975104" cy="1280160"/>
          </a:xfrm>
          <a:prstGeom prst="roundRect">
            <a:avLst>
              <a:gd name="adj" fmla="val 5714"/>
            </a:avLst>
          </a:prstGeom>
          <a:solidFill>
            <a:srgbClr val="0A1B3D"/>
          </a:solidFill>
          <a:ln/>
        </p:spPr>
      </p:sp>
      <p:sp>
        <p:nvSpPr>
          <p:cNvPr id="39" name="Shape 30"/>
          <p:cNvSpPr/>
          <p:nvPr/>
        </p:nvSpPr>
        <p:spPr>
          <a:xfrm>
            <a:off x="5376672" y="3392424"/>
            <a:ext cx="566928" cy="566928"/>
          </a:xfrm>
          <a:prstGeom prst="ellipse">
            <a:avLst/>
          </a:prstGeom>
          <a:solidFill>
            <a:srgbClr val="2563EB"/>
          </a:solidFill>
          <a:ln/>
        </p:spPr>
      </p:sp>
      <p:pic>
        <p:nvPicPr>
          <p:cNvPr id="40" name="Image 7" descr="C:\Users\user\AppData\Local\Temp\claude\C--Users-user-Desktop-TOEIC---\46f2443e-6c5b-45fc-8f6e-79718ae21477\scratchpad\business-plan\icons\network.png">    </p:cNvPr>
          <p:cNvPicPr>
            <a:picLocks noChangeAspect="1"/>
          </p:cNvPicPr>
          <p:nvPr/>
        </p:nvPicPr>
        <p:blipFill>
          <a:blip r:embed="rId8"/>
          <a:stretch>
            <a:fillRect/>
          </a:stretch>
        </p:blipFill>
        <p:spPr>
          <a:xfrm>
            <a:off x="5504231" y="3519983"/>
            <a:ext cx="311810" cy="311810"/>
          </a:xfrm>
          <a:prstGeom prst="rect">
            <a:avLst/>
          </a:prstGeom>
        </p:spPr>
      </p:pic>
      <p:sp>
        <p:nvSpPr>
          <p:cNvPr id="41" name="Text 31"/>
          <p:cNvSpPr/>
          <p:nvPr/>
        </p:nvSpPr>
        <p:spPr>
          <a:xfrm>
            <a:off x="4727448"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紹介ネットワーク</a:t>
            </a:r>
            <a:endParaRPr lang="en-US" sz="1050" dirty="0"/>
          </a:p>
        </p:txBody>
      </p:sp>
      <p:sp>
        <p:nvSpPr>
          <p:cNvPr id="42" name="Text 32"/>
          <p:cNvSpPr/>
          <p:nvPr/>
        </p:nvSpPr>
        <p:spPr>
          <a:xfrm>
            <a:off x="6647688" y="3465576"/>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43" name="Shape 33"/>
          <p:cNvSpPr/>
          <p:nvPr/>
        </p:nvSpPr>
        <p:spPr>
          <a:xfrm>
            <a:off x="6757416" y="3246120"/>
            <a:ext cx="1975104" cy="1280160"/>
          </a:xfrm>
          <a:prstGeom prst="roundRect">
            <a:avLst>
              <a:gd name="adj" fmla="val 5714"/>
            </a:avLst>
          </a:prstGeom>
          <a:solidFill>
            <a:srgbClr val="0A1B3D"/>
          </a:solidFill>
          <a:ln/>
        </p:spPr>
      </p:sp>
      <p:sp>
        <p:nvSpPr>
          <p:cNvPr id="44" name="Shape 34"/>
          <p:cNvSpPr/>
          <p:nvPr/>
        </p:nvSpPr>
        <p:spPr>
          <a:xfrm>
            <a:off x="7461504" y="3392424"/>
            <a:ext cx="566928" cy="566928"/>
          </a:xfrm>
          <a:prstGeom prst="ellipse">
            <a:avLst/>
          </a:prstGeom>
          <a:solidFill>
            <a:srgbClr val="2563EB"/>
          </a:solidFill>
          <a:ln/>
        </p:spPr>
      </p:sp>
      <p:pic>
        <p:nvPicPr>
          <p:cNvPr id="45" name="Image 8" descr="C:\Users\user\AppData\Local\Temp\claude\C--Users-user-Desktop-TOEIC---\46f2443e-6c5b-45fc-8f6e-79718ae21477\scratchpad\business-plan\icons\users.png">    </p:cNvPr>
          <p:cNvPicPr>
            <a:picLocks noChangeAspect="1"/>
          </p:cNvPicPr>
          <p:nvPr/>
        </p:nvPicPr>
        <p:blipFill>
          <a:blip r:embed="rId9"/>
          <a:stretch>
            <a:fillRect/>
          </a:stretch>
        </p:blipFill>
        <p:spPr>
          <a:xfrm>
            <a:off x="7589063" y="3519983"/>
            <a:ext cx="311810" cy="311810"/>
          </a:xfrm>
          <a:prstGeom prst="rect">
            <a:avLst/>
          </a:prstGeom>
        </p:spPr>
      </p:pic>
      <p:sp>
        <p:nvSpPr>
          <p:cNvPr id="46" name="Text 35"/>
          <p:cNvSpPr/>
          <p:nvPr/>
        </p:nvSpPr>
        <p:spPr>
          <a:xfrm>
            <a:off x="6812280"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新規顧客</a:t>
            </a:r>
            <a:endParaRPr lang="en-US" sz="1050" dirty="0"/>
          </a:p>
        </p:txBody>
      </p:sp>
      <p:sp>
        <p:nvSpPr>
          <p:cNvPr id="47" name="Text 36"/>
          <p:cNvSpPr/>
          <p:nvPr/>
        </p:nvSpPr>
        <p:spPr>
          <a:xfrm>
            <a:off x="8732520" y="3465576"/>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48" name="Shape 37"/>
          <p:cNvSpPr/>
          <p:nvPr/>
        </p:nvSpPr>
        <p:spPr>
          <a:xfrm>
            <a:off x="8842248" y="3246120"/>
            <a:ext cx="1975104" cy="1280160"/>
          </a:xfrm>
          <a:prstGeom prst="roundRect">
            <a:avLst>
              <a:gd name="adj" fmla="val 5714"/>
            </a:avLst>
          </a:prstGeom>
          <a:solidFill>
            <a:srgbClr val="0A1B3D"/>
          </a:solidFill>
          <a:ln/>
        </p:spPr>
      </p:sp>
      <p:sp>
        <p:nvSpPr>
          <p:cNvPr id="49" name="Shape 38"/>
          <p:cNvSpPr/>
          <p:nvPr/>
        </p:nvSpPr>
        <p:spPr>
          <a:xfrm>
            <a:off x="9546336" y="3392424"/>
            <a:ext cx="566928" cy="566928"/>
          </a:xfrm>
          <a:prstGeom prst="ellipse">
            <a:avLst/>
          </a:prstGeom>
          <a:solidFill>
            <a:srgbClr val="2563EB"/>
          </a:solidFill>
          <a:ln/>
        </p:spPr>
      </p:sp>
      <p:pic>
        <p:nvPicPr>
          <p:cNvPr id="50" name="Image 9" descr="C:\Users\user\AppData\Local\Temp\claude\C--Users-user-Desktop-TOEIC---\46f2443e-6c5b-45fc-8f6e-79718ae21477\scratchpad\business-plan\icons\coins.png">    </p:cNvPr>
          <p:cNvPicPr>
            <a:picLocks noChangeAspect="1"/>
          </p:cNvPicPr>
          <p:nvPr/>
        </p:nvPicPr>
        <p:blipFill>
          <a:blip r:embed="rId10"/>
          <a:stretch>
            <a:fillRect/>
          </a:stretch>
        </p:blipFill>
        <p:spPr>
          <a:xfrm>
            <a:off x="9673895" y="3519983"/>
            <a:ext cx="311810" cy="311810"/>
          </a:xfrm>
          <a:prstGeom prst="rect">
            <a:avLst/>
          </a:prstGeom>
        </p:spPr>
      </p:pic>
      <p:sp>
        <p:nvSpPr>
          <p:cNvPr id="51" name="Text 39"/>
          <p:cNvSpPr/>
          <p:nvPr/>
        </p:nvSpPr>
        <p:spPr>
          <a:xfrm>
            <a:off x="8897112"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継続収益</a:t>
            </a:r>
            <a:endParaRPr lang="en-US" sz="1050" dirty="0"/>
          </a:p>
        </p:txBody>
      </p:sp>
      <p:sp>
        <p:nvSpPr>
          <p:cNvPr id="52" name="Text 40"/>
          <p:cNvSpPr/>
          <p:nvPr/>
        </p:nvSpPr>
        <p:spPr>
          <a:xfrm>
            <a:off x="502920" y="2788920"/>
            <a:ext cx="1975104" cy="274320"/>
          </a:xfrm>
          <a:prstGeom prst="rect">
            <a:avLst/>
          </a:prstGeom>
          <a:noFill/>
          <a:ln/>
        </p:spPr>
        <p:txBody>
          <a:bodyPr wrap="square" lIns="0" tIns="0" rIns="0" bIns="0" rtlCol="0" anchor="ctr"/>
          <a:lstStyle/>
          <a:p>
            <a:pPr algn="ctr" indent="0" marL="0">
              <a:buNone/>
            </a:pPr>
            <a:r>
              <a:rPr lang="en-US" sz="1600" b="1" dirty="0">
                <a:solidFill>
                  <a:srgbClr val="2563EB"/>
                </a:solidFill>
                <a:latin typeface="Calibri" pitchFamily="34" charset="0"/>
                <a:ea typeface="Calibri" pitchFamily="34" charset="-122"/>
                <a:cs typeface="Calibri" pitchFamily="34" charset="-120"/>
              </a:rPr>
              <a:t>↓</a:t>
            </a:r>
            <a:endParaRPr lang="en-US" sz="1600" dirty="0"/>
          </a:p>
        </p:txBody>
      </p:sp>
      <p:pic>
        <p:nvPicPr>
          <p:cNvPr id="53" name="Image 10" descr="C:\Users\user\AppData\Local\Temp\claude\C--Users-user-Desktop-TOEIC---\46f2443e-6c5b-45fc-8f6e-79718ae21477\scratchpad\business-plan\icons\sync.png">    </p:cNvPr>
          <p:cNvPicPr>
            <a:picLocks noChangeAspect="1"/>
          </p:cNvPicPr>
          <p:nvPr/>
        </p:nvPicPr>
        <p:blipFill>
          <a:blip r:embed="rId11"/>
          <a:stretch>
            <a:fillRect/>
          </a:stretch>
        </p:blipFill>
        <p:spPr>
          <a:xfrm>
            <a:off x="8421624" y="2880360"/>
            <a:ext cx="256032" cy="256032"/>
          </a:xfrm>
          <a:prstGeom prst="rect">
            <a:avLst/>
          </a:prstGeom>
        </p:spPr>
      </p:pic>
      <p:sp>
        <p:nvSpPr>
          <p:cNvPr id="54" name="Text 41"/>
          <p:cNvSpPr/>
          <p:nvPr/>
        </p:nvSpPr>
        <p:spPr>
          <a:xfrm>
            <a:off x="6483096" y="2862072"/>
            <a:ext cx="3862426" cy="274320"/>
          </a:xfrm>
          <a:prstGeom prst="rect">
            <a:avLst/>
          </a:prstGeom>
          <a:noFill/>
          <a:ln/>
        </p:spPr>
        <p:txBody>
          <a:bodyPr wrap="square" lIns="0" tIns="0" rIns="0" bIns="0" rtlCol="0" anchor="ctr"/>
          <a:lstStyle/>
          <a:p>
            <a:pPr algn="r" indent="0" marL="0">
              <a:buNone/>
            </a:pPr>
            <a:r>
              <a:rPr lang="en-US" sz="850" i="1" dirty="0">
                <a:solidFill>
                  <a:srgbClr val="64748B"/>
                </a:solidFill>
                <a:latin typeface="Calibri" pitchFamily="34" charset="0"/>
                <a:ea typeface="Calibri" pitchFamily="34" charset="-122"/>
                <a:cs typeface="Calibri" pitchFamily="34" charset="-120"/>
              </a:rPr>
              <a:t>紹介が次の資料請求を生む</a:t>
            </a:r>
            <a:endParaRPr lang="en-US" sz="850" dirty="0"/>
          </a:p>
        </p:txBody>
      </p:sp>
      <p:sp>
        <p:nvSpPr>
          <p:cNvPr id="55" name="Text 42"/>
          <p:cNvSpPr/>
          <p:nvPr/>
        </p:nvSpPr>
        <p:spPr>
          <a:xfrm>
            <a:off x="502920" y="4690872"/>
            <a:ext cx="11185855" cy="411480"/>
          </a:xfrm>
          <a:prstGeom prst="rect">
            <a:avLst/>
          </a:prstGeom>
          <a:noFill/>
          <a:ln/>
        </p:spPr>
        <p:txBody>
          <a:bodyPr wrap="square" lIns="0" tIns="0" rIns="0" bIns="0" rtlCol="0" anchor="ctr"/>
          <a:lstStyle/>
          <a:p>
            <a:pPr algn="ctr" indent="0" marL="0">
              <a:lnSpc>
                <a:spcPct val="120000"/>
              </a:lnSpc>
              <a:buNone/>
            </a:pPr>
            <a:r>
              <a:rPr lang="en-US" sz="1250" dirty="0">
                <a:solidFill>
                  <a:srgbClr val="1E293B"/>
                </a:solidFill>
                <a:latin typeface="Calibri" pitchFamily="34" charset="0"/>
                <a:ea typeface="Calibri" pitchFamily="34" charset="-122"/>
                <a:cs typeface="Calibri" pitchFamily="34" charset="-120"/>
              </a:rPr>
              <a:t>当社は広告だけに依存せず、既存顧客・パートナー企業・専門家とのネットワークを通じて、持続可能な顧客獲得を目指します。</a:t>
            </a:r>
            <a:endParaRPr lang="en-US" sz="1250" dirty="0"/>
          </a:p>
        </p:txBody>
      </p:sp>
      <p:sp>
        <p:nvSpPr>
          <p:cNvPr id="56" name="Shape 43"/>
          <p:cNvSpPr/>
          <p:nvPr/>
        </p:nvSpPr>
        <p:spPr>
          <a:xfrm>
            <a:off x="502920" y="5212080"/>
            <a:ext cx="2105497" cy="566928"/>
          </a:xfrm>
          <a:prstGeom prst="roundRect">
            <a:avLst>
              <a:gd name="adj" fmla="val 50000"/>
            </a:avLst>
          </a:prstGeom>
          <a:solidFill>
            <a:srgbClr val="EFF4FE"/>
          </a:solidFill>
          <a:ln w="12700">
            <a:solidFill>
              <a:srgbClr val="D6E4FB"/>
            </a:solidFill>
            <a:prstDash val="solid"/>
          </a:ln>
        </p:spPr>
      </p:sp>
      <p:sp>
        <p:nvSpPr>
          <p:cNvPr id="57" name="Text 44"/>
          <p:cNvSpPr/>
          <p:nvPr/>
        </p:nvSpPr>
        <p:spPr>
          <a:xfrm>
            <a:off x="576072"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ストック型ビジネス</a:t>
            </a:r>
            <a:endParaRPr lang="en-US" sz="900" dirty="0"/>
          </a:p>
        </p:txBody>
      </p:sp>
      <p:sp>
        <p:nvSpPr>
          <p:cNvPr id="58" name="Shape 45"/>
          <p:cNvSpPr/>
          <p:nvPr/>
        </p:nvSpPr>
        <p:spPr>
          <a:xfrm>
            <a:off x="2773009" y="5212080"/>
            <a:ext cx="2105497" cy="566928"/>
          </a:xfrm>
          <a:prstGeom prst="roundRect">
            <a:avLst>
              <a:gd name="adj" fmla="val 50000"/>
            </a:avLst>
          </a:prstGeom>
          <a:solidFill>
            <a:srgbClr val="EFF4FE"/>
          </a:solidFill>
          <a:ln w="12700">
            <a:solidFill>
              <a:srgbClr val="D6E4FB"/>
            </a:solidFill>
            <a:prstDash val="solid"/>
          </a:ln>
        </p:spPr>
      </p:sp>
      <p:sp>
        <p:nvSpPr>
          <p:cNvPr id="59" name="Text 46"/>
          <p:cNvSpPr/>
          <p:nvPr/>
        </p:nvSpPr>
        <p:spPr>
          <a:xfrm>
            <a:off x="2846161"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紹介ネットワークによる成長</a:t>
            </a:r>
            <a:endParaRPr lang="en-US" sz="900" dirty="0"/>
          </a:p>
        </p:txBody>
      </p:sp>
      <p:sp>
        <p:nvSpPr>
          <p:cNvPr id="60" name="Shape 47"/>
          <p:cNvSpPr/>
          <p:nvPr/>
        </p:nvSpPr>
        <p:spPr>
          <a:xfrm>
            <a:off x="5043099" y="5212080"/>
            <a:ext cx="2105497" cy="566928"/>
          </a:xfrm>
          <a:prstGeom prst="roundRect">
            <a:avLst>
              <a:gd name="adj" fmla="val 50000"/>
            </a:avLst>
          </a:prstGeom>
          <a:solidFill>
            <a:srgbClr val="EFF4FE"/>
          </a:solidFill>
          <a:ln w="12700">
            <a:solidFill>
              <a:srgbClr val="D6E4FB"/>
            </a:solidFill>
            <a:prstDash val="solid"/>
          </a:ln>
        </p:spPr>
      </p:sp>
      <p:sp>
        <p:nvSpPr>
          <p:cNvPr id="61" name="Text 48"/>
          <p:cNvSpPr/>
          <p:nvPr/>
        </p:nvSpPr>
        <p:spPr>
          <a:xfrm>
            <a:off x="5116251"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広告依存ではない営業モデル</a:t>
            </a:r>
            <a:endParaRPr lang="en-US" sz="900" dirty="0"/>
          </a:p>
        </p:txBody>
      </p:sp>
      <p:sp>
        <p:nvSpPr>
          <p:cNvPr id="62" name="Shape 49"/>
          <p:cNvSpPr/>
          <p:nvPr/>
        </p:nvSpPr>
        <p:spPr>
          <a:xfrm>
            <a:off x="7313188" y="5212080"/>
            <a:ext cx="2105497" cy="566928"/>
          </a:xfrm>
          <a:prstGeom prst="roundRect">
            <a:avLst>
              <a:gd name="adj" fmla="val 50000"/>
            </a:avLst>
          </a:prstGeom>
          <a:solidFill>
            <a:srgbClr val="EFF4FE"/>
          </a:solidFill>
          <a:ln w="12700">
            <a:solidFill>
              <a:srgbClr val="D6E4FB"/>
            </a:solidFill>
            <a:prstDash val="solid"/>
          </a:ln>
        </p:spPr>
      </p:sp>
      <p:sp>
        <p:nvSpPr>
          <p:cNvPr id="63" name="Text 50"/>
          <p:cNvSpPr/>
          <p:nvPr/>
        </p:nvSpPr>
        <p:spPr>
          <a:xfrm>
            <a:off x="7386340"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段階的な成長</a:t>
            </a:r>
            <a:endParaRPr lang="en-US" sz="900" dirty="0"/>
          </a:p>
        </p:txBody>
      </p:sp>
      <p:sp>
        <p:nvSpPr>
          <p:cNvPr id="64" name="Shape 51"/>
          <p:cNvSpPr/>
          <p:nvPr/>
        </p:nvSpPr>
        <p:spPr>
          <a:xfrm>
            <a:off x="9583278" y="5212080"/>
            <a:ext cx="2105497" cy="566928"/>
          </a:xfrm>
          <a:prstGeom prst="roundRect">
            <a:avLst>
              <a:gd name="adj" fmla="val 50000"/>
            </a:avLst>
          </a:prstGeom>
          <a:solidFill>
            <a:srgbClr val="EFF4FE"/>
          </a:solidFill>
          <a:ln w="12700">
            <a:solidFill>
              <a:srgbClr val="D6E4FB"/>
            </a:solidFill>
            <a:prstDash val="solid"/>
          </a:ln>
        </p:spPr>
      </p:sp>
      <p:sp>
        <p:nvSpPr>
          <p:cNvPr id="65" name="Text 52"/>
          <p:cNvSpPr/>
          <p:nvPr/>
        </p:nvSpPr>
        <p:spPr>
          <a:xfrm>
            <a:off x="9656430"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実績を積み上げる戦略</a:t>
            </a:r>
            <a:endParaRPr lang="en-US" sz="900" dirty="0"/>
          </a:p>
        </p:txBody>
      </p:sp>
      <p:sp>
        <p:nvSpPr>
          <p:cNvPr id="66" name="Text 53"/>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1.2</a:t>
            </a:r>
            <a:endParaRPr lang="en-US" sz="900" dirty="0"/>
          </a:p>
        </p:txBody>
      </p:sp>
      <p:sp>
        <p:nvSpPr>
          <p:cNvPr id="67" name="Text 5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PARTNER PROGRAM</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800" b="1" dirty="0">
                <a:solidFill>
                  <a:srgbClr val="0A1B3D"/>
                </a:solidFill>
                <a:latin typeface="Cambria" pitchFamily="34" charset="0"/>
                <a:ea typeface="Cambria" pitchFamily="34" charset="-122"/>
                <a:cs typeface="Cambria" pitchFamily="34" charset="-120"/>
              </a:rPr>
              <a:t>Smart Labo Partner Program</a:t>
            </a:r>
            <a:endParaRPr lang="en-US" sz="2800" dirty="0"/>
          </a:p>
        </p:txBody>
      </p:sp>
      <p:sp>
        <p:nvSpPr>
          <p:cNvPr id="4" name="Shape 2"/>
          <p:cNvSpPr/>
          <p:nvPr/>
        </p:nvSpPr>
        <p:spPr>
          <a:xfrm>
            <a:off x="502920" y="1645920"/>
            <a:ext cx="11185855" cy="914400"/>
          </a:xfrm>
          <a:prstGeom prst="roundRect">
            <a:avLst>
              <a:gd name="adj" fmla="val 8000"/>
            </a:avLst>
          </a:prstGeom>
          <a:solidFill>
            <a:srgbClr val="0A1B3D"/>
          </a:solidFill>
          <a:ln/>
        </p:spPr>
      </p:sp>
      <p:sp>
        <p:nvSpPr>
          <p:cNvPr id="5" name="Shape 3"/>
          <p:cNvSpPr/>
          <p:nvPr/>
        </p:nvSpPr>
        <p:spPr>
          <a:xfrm>
            <a:off x="777240" y="1810512"/>
            <a:ext cx="566928" cy="566928"/>
          </a:xfrm>
          <a:prstGeom prst="ellipse">
            <a:avLst/>
          </a:prstGeom>
          <a:solidFill>
            <a:srgbClr val="2563EB"/>
          </a:solidFill>
          <a:ln/>
        </p:spPr>
      </p:sp>
      <p:pic>
        <p:nvPicPr>
          <p:cNvPr id="6" name="Image 0" descr="C:\Users\user\AppData\Local\Temp\claude\C--Users-user-Desktop-TOEIC---\46f2443e-6c5b-45fc-8f6e-79718ae21477\scratchpad\business-plan\icons\heart.png">    </p:cNvPr>
          <p:cNvPicPr>
            <a:picLocks noChangeAspect="1"/>
          </p:cNvPicPr>
          <p:nvPr/>
        </p:nvPicPr>
        <p:blipFill>
          <a:blip r:embed="rId1"/>
          <a:stretch>
            <a:fillRect/>
          </a:stretch>
        </p:blipFill>
        <p:spPr>
          <a:xfrm>
            <a:off x="918972" y="1952244"/>
            <a:ext cx="283464" cy="283464"/>
          </a:xfrm>
          <a:prstGeom prst="rect">
            <a:avLst/>
          </a:prstGeom>
        </p:spPr>
      </p:pic>
      <p:sp>
        <p:nvSpPr>
          <p:cNvPr id="7" name="Text 4"/>
          <p:cNvSpPr/>
          <p:nvPr/>
        </p:nvSpPr>
        <p:spPr>
          <a:xfrm>
            <a:off x="1554480" y="1737360"/>
            <a:ext cx="3657600" cy="274320"/>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制度目的</a:t>
            </a:r>
            <a:endParaRPr lang="en-US" sz="1050" dirty="0"/>
          </a:p>
        </p:txBody>
      </p:sp>
      <p:sp>
        <p:nvSpPr>
          <p:cNvPr id="8" name="Text 5"/>
          <p:cNvSpPr/>
          <p:nvPr/>
        </p:nvSpPr>
        <p:spPr>
          <a:xfrm>
            <a:off x="1554480" y="1993392"/>
            <a:ext cx="9814255"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「共に成長する。」</a:t>
            </a:r>
            <a:endParaRPr lang="en-US" sz="2200" dirty="0"/>
          </a:p>
        </p:txBody>
      </p:sp>
      <p:sp>
        <p:nvSpPr>
          <p:cNvPr id="9" name="Shape 6"/>
          <p:cNvSpPr/>
          <p:nvPr/>
        </p:nvSpPr>
        <p:spPr>
          <a:xfrm>
            <a:off x="502920" y="2834640"/>
            <a:ext cx="2121408" cy="1783080"/>
          </a:xfrm>
          <a:prstGeom prst="roundRect">
            <a:avLst>
              <a:gd name="adj" fmla="val 4103"/>
            </a:avLst>
          </a:prstGeom>
          <a:solidFill>
            <a:srgbClr val="F3F6FA"/>
          </a:solidFill>
          <a:ln/>
          <a:effectLst>
            <a:outerShdw sx="100000" sy="100000" kx="0" ky="0" algn="bl" rotWithShape="0" blurRad="76200" dist="25400" dir="5400000">
              <a:srgbClr val="0A1B3D">
                <a:alpha val="12000"/>
              </a:srgbClr>
            </a:outerShdw>
          </a:effectLst>
        </p:spPr>
      </p:sp>
      <p:sp>
        <p:nvSpPr>
          <p:cNvPr id="10" name="Shape 7"/>
          <p:cNvSpPr/>
          <p:nvPr/>
        </p:nvSpPr>
        <p:spPr>
          <a:xfrm>
            <a:off x="1243584" y="3054096"/>
            <a:ext cx="640080" cy="640080"/>
          </a:xfrm>
          <a:prstGeom prst="ellipse">
            <a:avLst/>
          </a:prstGeom>
          <a:solidFill>
            <a:srgbClr val="FFFFFF"/>
          </a:solidFill>
          <a:ln/>
        </p:spPr>
      </p:sp>
      <p:pic>
        <p:nvPicPr>
          <p:cNvPr id="11" name="Image 1" descr="C:\Users\user\AppData\Local\Temp\claude\C--Users-user-Desktop-TOEIC---\46f2443e-6c5b-45fc-8f6e-79718ae21477\scratchpad\business-plan\icons\filetext.png">    </p:cNvPr>
          <p:cNvPicPr>
            <a:picLocks noChangeAspect="1"/>
          </p:cNvPicPr>
          <p:nvPr/>
        </p:nvPicPr>
        <p:blipFill>
          <a:blip r:embed="rId2"/>
          <a:stretch>
            <a:fillRect/>
          </a:stretch>
        </p:blipFill>
        <p:spPr>
          <a:xfrm>
            <a:off x="1387602" y="3198114"/>
            <a:ext cx="352044" cy="352044"/>
          </a:xfrm>
          <a:prstGeom prst="rect">
            <a:avLst/>
          </a:prstGeom>
        </p:spPr>
      </p:pic>
      <p:sp>
        <p:nvSpPr>
          <p:cNvPr id="12" name="Text 8"/>
          <p:cNvSpPr/>
          <p:nvPr/>
        </p:nvSpPr>
        <p:spPr>
          <a:xfrm>
            <a:off x="612648" y="376732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契約形態</a:t>
            </a:r>
            <a:endParaRPr lang="en-US" sz="1050" dirty="0"/>
          </a:p>
        </p:txBody>
      </p:sp>
      <p:sp>
        <p:nvSpPr>
          <p:cNvPr id="13" name="Text 9"/>
          <p:cNvSpPr/>
          <p:nvPr/>
        </p:nvSpPr>
        <p:spPr>
          <a:xfrm>
            <a:off x="630936" y="4041648"/>
            <a:ext cx="1865376" cy="548640"/>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年間契約</a:t>
            </a:r>
            <a:endParaRPr lang="en-US" sz="1000" dirty="0"/>
          </a:p>
        </p:txBody>
      </p:sp>
      <p:sp>
        <p:nvSpPr>
          <p:cNvPr id="14" name="Shape 10"/>
          <p:cNvSpPr/>
          <p:nvPr/>
        </p:nvSpPr>
        <p:spPr>
          <a:xfrm>
            <a:off x="2752344" y="2834640"/>
            <a:ext cx="2121408" cy="1783080"/>
          </a:xfrm>
          <a:prstGeom prst="roundRect">
            <a:avLst>
              <a:gd name="adj" fmla="val 4103"/>
            </a:avLst>
          </a:prstGeom>
          <a:solidFill>
            <a:srgbClr val="F3F6FA"/>
          </a:solidFill>
          <a:ln/>
          <a:effectLst>
            <a:outerShdw sx="100000" sy="100000" kx="0" ky="0" algn="bl" rotWithShape="0" blurRad="76200" dist="25400" dir="5400000">
              <a:srgbClr val="0A1B3D">
                <a:alpha val="12000"/>
              </a:srgbClr>
            </a:outerShdw>
          </a:effectLst>
        </p:spPr>
      </p:sp>
      <p:sp>
        <p:nvSpPr>
          <p:cNvPr id="15" name="Shape 11"/>
          <p:cNvSpPr/>
          <p:nvPr/>
        </p:nvSpPr>
        <p:spPr>
          <a:xfrm>
            <a:off x="3493008" y="3054096"/>
            <a:ext cx="640080" cy="640080"/>
          </a:xfrm>
          <a:prstGeom prst="ellipse">
            <a:avLst/>
          </a:prstGeom>
          <a:solidFill>
            <a:srgbClr val="FFFFFF"/>
          </a:solidFill>
          <a:ln/>
        </p:spPr>
      </p:sp>
      <p:pic>
        <p:nvPicPr>
          <p:cNvPr id="16" name="Image 2" descr="C:\Users\user\AppData\Local\Temp\claude\C--Users-user-Desktop-TOEIC---\46f2443e-6c5b-45fc-8f6e-79718ae21477\scratchpad\business-plan\icons\star.png">    </p:cNvPr>
          <p:cNvPicPr>
            <a:picLocks noChangeAspect="1"/>
          </p:cNvPicPr>
          <p:nvPr/>
        </p:nvPicPr>
        <p:blipFill>
          <a:blip r:embed="rId3"/>
          <a:stretch>
            <a:fillRect/>
          </a:stretch>
        </p:blipFill>
        <p:spPr>
          <a:xfrm>
            <a:off x="3637026" y="3198114"/>
            <a:ext cx="352044" cy="352044"/>
          </a:xfrm>
          <a:prstGeom prst="rect">
            <a:avLst/>
          </a:prstGeom>
        </p:spPr>
      </p:pic>
      <p:sp>
        <p:nvSpPr>
          <p:cNvPr id="17" name="Text 12"/>
          <p:cNvSpPr/>
          <p:nvPr/>
        </p:nvSpPr>
        <p:spPr>
          <a:xfrm>
            <a:off x="2862072" y="376732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初年度報酬率</a:t>
            </a:r>
            <a:endParaRPr lang="en-US" sz="1050" dirty="0"/>
          </a:p>
        </p:txBody>
      </p:sp>
      <p:sp>
        <p:nvSpPr>
          <p:cNvPr id="18" name="Text 13"/>
          <p:cNvSpPr/>
          <p:nvPr/>
        </p:nvSpPr>
        <p:spPr>
          <a:xfrm>
            <a:off x="2880360" y="4041648"/>
            <a:ext cx="1865376" cy="548640"/>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紹介先契約金額の 15%</a:t>
            </a:r>
            <a:endParaRPr lang="en-US" sz="1000" dirty="0"/>
          </a:p>
        </p:txBody>
      </p:sp>
      <p:sp>
        <p:nvSpPr>
          <p:cNvPr id="19" name="Shape 14"/>
          <p:cNvSpPr/>
          <p:nvPr/>
        </p:nvSpPr>
        <p:spPr>
          <a:xfrm>
            <a:off x="5001768" y="2834640"/>
            <a:ext cx="2121408" cy="1783080"/>
          </a:xfrm>
          <a:prstGeom prst="roundRect">
            <a:avLst>
              <a:gd name="adj" fmla="val 4103"/>
            </a:avLst>
          </a:prstGeom>
          <a:solidFill>
            <a:srgbClr val="F3F6FA"/>
          </a:solidFill>
          <a:ln/>
          <a:effectLst>
            <a:outerShdw sx="100000" sy="100000" kx="0" ky="0" algn="bl" rotWithShape="0" blurRad="76200" dist="25400" dir="5400000">
              <a:srgbClr val="0A1B3D">
                <a:alpha val="12000"/>
              </a:srgbClr>
            </a:outerShdw>
          </a:effectLst>
        </p:spPr>
      </p:sp>
      <p:sp>
        <p:nvSpPr>
          <p:cNvPr id="20" name="Shape 15"/>
          <p:cNvSpPr/>
          <p:nvPr/>
        </p:nvSpPr>
        <p:spPr>
          <a:xfrm>
            <a:off x="5742432" y="3054096"/>
            <a:ext cx="640080" cy="640080"/>
          </a:xfrm>
          <a:prstGeom prst="ellipse">
            <a:avLst/>
          </a:prstGeom>
          <a:solidFill>
            <a:srgbClr val="FFFFFF"/>
          </a:solidFill>
          <a:ln/>
        </p:spPr>
      </p:sp>
      <p:pic>
        <p:nvPicPr>
          <p:cNvPr id="21" name="Image 3" descr="C:\Users\user\AppData\Local\Temp\claude\C--Users-user-Desktop-TOEIC---\46f2443e-6c5b-45fc-8f6e-79718ae21477\scratchpad\business-plan\icons\sync.png">    </p:cNvPr>
          <p:cNvPicPr>
            <a:picLocks noChangeAspect="1"/>
          </p:cNvPicPr>
          <p:nvPr/>
        </p:nvPicPr>
        <p:blipFill>
          <a:blip r:embed="rId4"/>
          <a:stretch>
            <a:fillRect/>
          </a:stretch>
        </p:blipFill>
        <p:spPr>
          <a:xfrm>
            <a:off x="5886450" y="3198114"/>
            <a:ext cx="352044" cy="352044"/>
          </a:xfrm>
          <a:prstGeom prst="rect">
            <a:avLst/>
          </a:prstGeom>
        </p:spPr>
      </p:pic>
      <p:sp>
        <p:nvSpPr>
          <p:cNvPr id="22" name="Text 16"/>
          <p:cNvSpPr/>
          <p:nvPr/>
        </p:nvSpPr>
        <p:spPr>
          <a:xfrm>
            <a:off x="5111496" y="376732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更新後報酬率</a:t>
            </a:r>
            <a:endParaRPr lang="en-US" sz="1050" dirty="0"/>
          </a:p>
        </p:txBody>
      </p:sp>
      <p:sp>
        <p:nvSpPr>
          <p:cNvPr id="23" name="Text 17"/>
          <p:cNvSpPr/>
          <p:nvPr/>
        </p:nvSpPr>
        <p:spPr>
          <a:xfrm>
            <a:off x="5129784" y="4041648"/>
            <a:ext cx="1865376" cy="548640"/>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10%（契約継続中は毎年）</a:t>
            </a:r>
            <a:endParaRPr lang="en-US" sz="1000" dirty="0"/>
          </a:p>
        </p:txBody>
      </p:sp>
      <p:sp>
        <p:nvSpPr>
          <p:cNvPr id="24" name="Shape 18"/>
          <p:cNvSpPr/>
          <p:nvPr/>
        </p:nvSpPr>
        <p:spPr>
          <a:xfrm>
            <a:off x="7251192" y="2834640"/>
            <a:ext cx="2121408" cy="1783080"/>
          </a:xfrm>
          <a:prstGeom prst="roundRect">
            <a:avLst>
              <a:gd name="adj" fmla="val 4103"/>
            </a:avLst>
          </a:prstGeom>
          <a:solidFill>
            <a:srgbClr val="F3F6FA"/>
          </a:solidFill>
          <a:ln/>
          <a:effectLst>
            <a:outerShdw sx="100000" sy="100000" kx="0" ky="0" algn="bl" rotWithShape="0" blurRad="76200" dist="25400" dir="5400000">
              <a:srgbClr val="0A1B3D">
                <a:alpha val="12000"/>
              </a:srgbClr>
            </a:outerShdw>
          </a:effectLst>
        </p:spPr>
      </p:sp>
      <p:sp>
        <p:nvSpPr>
          <p:cNvPr id="25" name="Shape 19"/>
          <p:cNvSpPr/>
          <p:nvPr/>
        </p:nvSpPr>
        <p:spPr>
          <a:xfrm>
            <a:off x="7991856" y="3054096"/>
            <a:ext cx="640080" cy="640080"/>
          </a:xfrm>
          <a:prstGeom prst="ellipse">
            <a:avLst/>
          </a:prstGeom>
          <a:solidFill>
            <a:srgbClr val="FFFFFF"/>
          </a:solidFill>
          <a:ln/>
        </p:spPr>
      </p:sp>
      <p:pic>
        <p:nvPicPr>
          <p:cNvPr id="26" name="Image 4" descr="C:\Users\user\AppData\Local\Temp\claude\C--Users-user-Desktop-TOEIC---\46f2443e-6c5b-45fc-8f6e-79718ae21477\scratchpad\business-plan\icons\network.png">    </p:cNvPr>
          <p:cNvPicPr>
            <a:picLocks noChangeAspect="1"/>
          </p:cNvPicPr>
          <p:nvPr/>
        </p:nvPicPr>
        <p:blipFill>
          <a:blip r:embed="rId5"/>
          <a:stretch>
            <a:fillRect/>
          </a:stretch>
        </p:blipFill>
        <p:spPr>
          <a:xfrm>
            <a:off x="8135874" y="3198114"/>
            <a:ext cx="352044" cy="352044"/>
          </a:xfrm>
          <a:prstGeom prst="rect">
            <a:avLst/>
          </a:prstGeom>
        </p:spPr>
      </p:pic>
      <p:sp>
        <p:nvSpPr>
          <p:cNvPr id="27" name="Text 20"/>
          <p:cNvSpPr/>
          <p:nvPr/>
        </p:nvSpPr>
        <p:spPr>
          <a:xfrm>
            <a:off x="7360920" y="376732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紹介件数</a:t>
            </a:r>
            <a:endParaRPr lang="en-US" sz="1050" dirty="0"/>
          </a:p>
        </p:txBody>
      </p:sp>
      <p:sp>
        <p:nvSpPr>
          <p:cNvPr id="28" name="Text 21"/>
          <p:cNvSpPr/>
          <p:nvPr/>
        </p:nvSpPr>
        <p:spPr>
          <a:xfrm>
            <a:off x="7379208" y="4041648"/>
            <a:ext cx="1865376" cy="548640"/>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制限なし</a:t>
            </a:r>
            <a:endParaRPr lang="en-US" sz="1000" dirty="0"/>
          </a:p>
        </p:txBody>
      </p:sp>
      <p:sp>
        <p:nvSpPr>
          <p:cNvPr id="29" name="Shape 22"/>
          <p:cNvSpPr/>
          <p:nvPr/>
        </p:nvSpPr>
        <p:spPr>
          <a:xfrm>
            <a:off x="9500616" y="2834640"/>
            <a:ext cx="2121408" cy="1783080"/>
          </a:xfrm>
          <a:prstGeom prst="roundRect">
            <a:avLst>
              <a:gd name="adj" fmla="val 4103"/>
            </a:avLst>
          </a:prstGeom>
          <a:solidFill>
            <a:srgbClr val="F3F6FA"/>
          </a:solidFill>
          <a:ln/>
          <a:effectLst>
            <a:outerShdw sx="100000" sy="100000" kx="0" ky="0" algn="bl" rotWithShape="0" blurRad="76200" dist="25400" dir="5400000">
              <a:srgbClr val="0A1B3D">
                <a:alpha val="12000"/>
              </a:srgbClr>
            </a:outerShdw>
          </a:effectLst>
        </p:spPr>
      </p:sp>
      <p:sp>
        <p:nvSpPr>
          <p:cNvPr id="30" name="Shape 23"/>
          <p:cNvSpPr/>
          <p:nvPr/>
        </p:nvSpPr>
        <p:spPr>
          <a:xfrm>
            <a:off x="10241280" y="3054096"/>
            <a:ext cx="640080" cy="640080"/>
          </a:xfrm>
          <a:prstGeom prst="ellipse">
            <a:avLst/>
          </a:prstGeom>
          <a:solidFill>
            <a:srgbClr val="FFFFFF"/>
          </a:solidFill>
          <a:ln/>
        </p:spPr>
      </p:sp>
      <p:pic>
        <p:nvPicPr>
          <p:cNvPr id="31" name="Image 5" descr="C:\Users\user\AppData\Local\Temp\claude\C--Users-user-Desktop-TOEIC---\46f2443e-6c5b-45fc-8f6e-79718ae21477\scratchpad\business-plan\icons\coins.png">    </p:cNvPr>
          <p:cNvPicPr>
            <a:picLocks noChangeAspect="1"/>
          </p:cNvPicPr>
          <p:nvPr/>
        </p:nvPicPr>
        <p:blipFill>
          <a:blip r:embed="rId6"/>
          <a:stretch>
            <a:fillRect/>
          </a:stretch>
        </p:blipFill>
        <p:spPr>
          <a:xfrm>
            <a:off x="10385298" y="3198114"/>
            <a:ext cx="352044" cy="352044"/>
          </a:xfrm>
          <a:prstGeom prst="rect">
            <a:avLst/>
          </a:prstGeom>
        </p:spPr>
      </p:pic>
      <p:sp>
        <p:nvSpPr>
          <p:cNvPr id="32" name="Text 24"/>
          <p:cNvSpPr/>
          <p:nvPr/>
        </p:nvSpPr>
        <p:spPr>
          <a:xfrm>
            <a:off x="9610344" y="376732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支払条件</a:t>
            </a:r>
            <a:endParaRPr lang="en-US" sz="1050" dirty="0"/>
          </a:p>
        </p:txBody>
      </p:sp>
      <p:sp>
        <p:nvSpPr>
          <p:cNvPr id="33" name="Text 25"/>
          <p:cNvSpPr/>
          <p:nvPr/>
        </p:nvSpPr>
        <p:spPr>
          <a:xfrm>
            <a:off x="9628632" y="4041648"/>
            <a:ext cx="1865376" cy="548640"/>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紹介企業が契約を継続する限り、継続報酬をお支払い</a:t>
            </a:r>
            <a:endParaRPr lang="en-US" sz="1000" dirty="0"/>
          </a:p>
        </p:txBody>
      </p:sp>
      <p:sp>
        <p:nvSpPr>
          <p:cNvPr id="34" name="Shape 26"/>
          <p:cNvSpPr/>
          <p:nvPr/>
        </p:nvSpPr>
        <p:spPr>
          <a:xfrm>
            <a:off x="502920" y="4800600"/>
            <a:ext cx="6492240" cy="1051560"/>
          </a:xfrm>
          <a:prstGeom prst="roundRect">
            <a:avLst>
              <a:gd name="adj" fmla="val 6957"/>
            </a:avLst>
          </a:prstGeom>
          <a:solidFill>
            <a:srgbClr val="EFF4FE"/>
          </a:solidFill>
          <a:ln/>
          <a:effectLst>
            <a:outerShdw sx="100000" sy="100000" kx="0" ky="0" algn="bl" rotWithShape="0" blurRad="76200" dist="25400" dir="5400000">
              <a:srgbClr val="0A1B3D">
                <a:alpha val="12000"/>
              </a:srgbClr>
            </a:outerShdw>
          </a:effectLst>
        </p:spPr>
      </p:sp>
      <p:sp>
        <p:nvSpPr>
          <p:cNvPr id="35" name="Text 27"/>
          <p:cNvSpPr/>
          <p:nvPr/>
        </p:nvSpPr>
        <p:spPr>
          <a:xfrm>
            <a:off x="731520" y="4928616"/>
            <a:ext cx="6035040" cy="274320"/>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紹介料ではなく、長期的なパートナーシップとして</a:t>
            </a:r>
            <a:endParaRPr lang="en-US" sz="1150" dirty="0"/>
          </a:p>
        </p:txBody>
      </p:sp>
      <p:sp>
        <p:nvSpPr>
          <p:cNvPr id="36" name="Text 28"/>
          <p:cNvSpPr/>
          <p:nvPr/>
        </p:nvSpPr>
        <p:spPr>
          <a:xfrm>
            <a:off x="731520" y="5202936"/>
            <a:ext cx="6035040" cy="594360"/>
          </a:xfrm>
          <a:prstGeom prst="rect">
            <a:avLst/>
          </a:prstGeom>
          <a:noFill/>
          <a:ln/>
        </p:spPr>
        <p:txBody>
          <a:bodyPr wrap="square" lIns="0" tIns="0" rIns="0" bIns="0" rtlCol="0" anchor="ctr"/>
          <a:lstStyle/>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本制度は単発の紹介料ではなく、パートナー企業様の成功が当社の継続収益に直結する長期的な協業関係として設計しています。広告費に依存しない、効率的な顧客獲得コスト(CAC)構造を実現します。</a:t>
            </a:r>
            <a:endParaRPr lang="en-US" sz="950" dirty="0"/>
          </a:p>
        </p:txBody>
      </p:sp>
      <p:sp>
        <p:nvSpPr>
          <p:cNvPr id="37" name="Shape 29"/>
          <p:cNvSpPr/>
          <p:nvPr/>
        </p:nvSpPr>
        <p:spPr>
          <a:xfrm>
            <a:off x="7223760" y="4800600"/>
            <a:ext cx="4465015" cy="1051560"/>
          </a:xfrm>
          <a:prstGeom prst="roundRect">
            <a:avLst>
              <a:gd name="adj" fmla="val 6957"/>
            </a:avLst>
          </a:prstGeom>
          <a:solidFill>
            <a:srgbClr val="0A1B3D"/>
          </a:solidFill>
          <a:ln/>
        </p:spPr>
      </p:sp>
      <p:sp>
        <p:nvSpPr>
          <p:cNvPr id="38" name="Text 30"/>
          <p:cNvSpPr/>
          <p:nvPr/>
        </p:nvSpPr>
        <p:spPr>
          <a:xfrm>
            <a:off x="7406640" y="4910328"/>
            <a:ext cx="4099255" cy="237744"/>
          </a:xfrm>
          <a:prstGeom prst="rect">
            <a:avLst/>
          </a:prstGeom>
          <a:noFill/>
          <a:ln/>
        </p:spPr>
        <p:txBody>
          <a:bodyPr wrap="square" lIns="0" tIns="0" rIns="0" bIns="0" rtlCol="0" anchor="ctr"/>
          <a:lstStyle/>
          <a:p>
            <a:pPr indent="0" marL="0">
              <a:buNone/>
            </a:pPr>
            <a:r>
              <a:rPr lang="en-US" sz="900" b="1" dirty="0">
                <a:solidFill>
                  <a:srgbClr val="60A5FA"/>
                </a:solidFill>
                <a:latin typeface="Calibri" pitchFamily="34" charset="0"/>
                <a:ea typeface="Calibri" pitchFamily="34" charset="-122"/>
                <a:cs typeface="Calibri" pitchFamily="34" charset="-120"/>
              </a:rPr>
              <a:t>顧客獲得コスト(CAC)比較</a:t>
            </a:r>
            <a:endParaRPr lang="en-US" sz="900" dirty="0"/>
          </a:p>
        </p:txBody>
      </p:sp>
      <p:sp>
        <p:nvSpPr>
          <p:cNvPr id="39" name="Text 31"/>
          <p:cNvSpPr/>
          <p:nvPr/>
        </p:nvSpPr>
        <p:spPr>
          <a:xfrm>
            <a:off x="7406640" y="5166360"/>
            <a:ext cx="4099255" cy="201168"/>
          </a:xfrm>
          <a:prstGeom prst="rect">
            <a:avLst/>
          </a:prstGeom>
          <a:noFill/>
          <a:ln/>
        </p:spPr>
        <p:txBody>
          <a:bodyPr wrap="square" lIns="0" tIns="0" rIns="0" bIns="0" rtlCol="0" anchor="ctr"/>
          <a:lstStyle/>
          <a:p>
            <a:pPr indent="0" marL="0">
              <a:buNone/>
            </a:pPr>
            <a:r>
              <a:rPr lang="en-US" sz="900" dirty="0">
                <a:solidFill>
                  <a:srgbClr val="C7D3E8"/>
                </a:solidFill>
                <a:latin typeface="Calibri" pitchFamily="34" charset="0"/>
                <a:ea typeface="Calibri" pitchFamily="34" charset="-122"/>
                <a:cs typeface="Calibri" pitchFamily="34" charset="-120"/>
              </a:rPr>
              <a:t>Partner Program</a:t>
            </a:r>
            <a:endParaRPr lang="en-US" sz="900" dirty="0"/>
          </a:p>
        </p:txBody>
      </p:sp>
      <p:sp>
        <p:nvSpPr>
          <p:cNvPr id="40" name="Text 32"/>
          <p:cNvSpPr/>
          <p:nvPr/>
        </p:nvSpPr>
        <p:spPr>
          <a:xfrm>
            <a:off x="7406640" y="5349240"/>
            <a:ext cx="4099255"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約15万円/社</a:t>
            </a:r>
            <a:endParaRPr lang="en-US" sz="1600" dirty="0"/>
          </a:p>
        </p:txBody>
      </p:sp>
      <p:sp>
        <p:nvSpPr>
          <p:cNvPr id="41" name="Text 33"/>
          <p:cNvSpPr/>
          <p:nvPr/>
        </p:nvSpPr>
        <p:spPr>
          <a:xfrm>
            <a:off x="7406640" y="5650992"/>
            <a:ext cx="4099255" cy="182880"/>
          </a:xfrm>
          <a:prstGeom prst="rect">
            <a:avLst/>
          </a:prstGeom>
          <a:noFill/>
          <a:ln/>
        </p:spPr>
        <p:txBody>
          <a:bodyPr wrap="square" lIns="0" tIns="0" rIns="0" bIns="0" rtlCol="0" anchor="ctr"/>
          <a:lstStyle/>
          <a:p>
            <a:pPr indent="0" marL="0">
              <a:buNone/>
            </a:pPr>
            <a:r>
              <a:rPr lang="en-US" sz="800" i="1" dirty="0">
                <a:solidFill>
                  <a:srgbClr val="8CA3C7"/>
                </a:solidFill>
                <a:latin typeface="Calibri" pitchFamily="34" charset="0"/>
                <a:ea typeface="Calibri" pitchFamily="34" charset="-122"/>
                <a:cs typeface="Calibri" pitchFamily="34" charset="-120"/>
              </a:rPr>
              <a:t>広告経由(参考値) 約28万円/社</a:t>
            </a:r>
            <a:endParaRPr lang="en-US" sz="800" dirty="0"/>
          </a:p>
        </p:txBody>
      </p:sp>
      <p:sp>
        <p:nvSpPr>
          <p:cNvPr id="42" name="Text 34"/>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1.2</a:t>
            </a:r>
            <a:endParaRPr lang="en-US" sz="900" dirty="0"/>
          </a:p>
        </p:txBody>
      </p:sp>
      <p:sp>
        <p:nvSpPr>
          <p:cNvPr id="43" name="Text 3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GO-TO-MARKET STRATEGY</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900" b="1" dirty="0">
                <a:solidFill>
                  <a:srgbClr val="0A1B3D"/>
                </a:solidFill>
                <a:latin typeface="Cambria" pitchFamily="34" charset="0"/>
                <a:ea typeface="Cambria" pitchFamily="34" charset="-122"/>
                <a:cs typeface="Cambria" pitchFamily="34" charset="-120"/>
              </a:rPr>
              <a:t>業種展開ロードマップ</a:t>
            </a:r>
            <a:endParaRPr lang="en-US" sz="2900" dirty="0"/>
          </a:p>
        </p:txBody>
      </p:sp>
      <p:sp>
        <p:nvSpPr>
          <p:cNvPr id="4" name="Shape 2"/>
          <p:cNvSpPr/>
          <p:nvPr/>
        </p:nvSpPr>
        <p:spPr>
          <a:xfrm>
            <a:off x="502920" y="1965960"/>
            <a:ext cx="2514600" cy="3566160"/>
          </a:xfrm>
          <a:prstGeom prst="roundRect">
            <a:avLst>
              <a:gd name="adj" fmla="val 2909"/>
            </a:avLst>
          </a:prstGeom>
          <a:solidFill>
            <a:srgbClr val="0A1B3D"/>
          </a:solidFill>
          <a:ln/>
        </p:spPr>
      </p:sp>
      <p:sp>
        <p:nvSpPr>
          <p:cNvPr id="5" name="Shape 3"/>
          <p:cNvSpPr/>
          <p:nvPr/>
        </p:nvSpPr>
        <p:spPr>
          <a:xfrm>
            <a:off x="1371600" y="2286000"/>
            <a:ext cx="777240" cy="777240"/>
          </a:xfrm>
          <a:prstGeom prst="ellipse">
            <a:avLst/>
          </a:prstGeom>
          <a:solidFill>
            <a:srgbClr val="2563EB"/>
          </a:solidFill>
          <a:ln/>
        </p:spPr>
      </p:sp>
      <p:pic>
        <p:nvPicPr>
          <p:cNvPr id="6" name="Image 0" descr="C:\Users\user\AppData\Local\Temp\claude\C--Users-user-Desktop-TOEIC---\46f2443e-6c5b-45fc-8f6e-79718ae21477\scratchpad\business-plan\icons\home.png">    </p:cNvPr>
          <p:cNvPicPr>
            <a:picLocks noChangeAspect="1"/>
          </p:cNvPicPr>
          <p:nvPr/>
        </p:nvPicPr>
        <p:blipFill>
          <a:blip r:embed="rId1"/>
          <a:stretch>
            <a:fillRect/>
          </a:stretch>
        </p:blipFill>
        <p:spPr>
          <a:xfrm>
            <a:off x="1546479" y="2460879"/>
            <a:ext cx="427482" cy="427482"/>
          </a:xfrm>
          <a:prstGeom prst="rect">
            <a:avLst/>
          </a:prstGeom>
        </p:spPr>
      </p:pic>
      <p:sp>
        <p:nvSpPr>
          <p:cNvPr id="7" name="Text 4"/>
          <p:cNvSpPr/>
          <p:nvPr/>
        </p:nvSpPr>
        <p:spPr>
          <a:xfrm>
            <a:off x="502920"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60A5FA"/>
                </a:solidFill>
                <a:latin typeface="Calibri" pitchFamily="34" charset="0"/>
                <a:ea typeface="Calibri" pitchFamily="34" charset="-122"/>
                <a:cs typeface="Calibri" pitchFamily="34" charset="-120"/>
              </a:rPr>
              <a:t>Phase 1</a:t>
            </a:r>
            <a:endParaRPr lang="en-US" sz="1100" dirty="0"/>
          </a:p>
        </p:txBody>
      </p:sp>
      <p:sp>
        <p:nvSpPr>
          <p:cNvPr id="8" name="Text 5"/>
          <p:cNvSpPr/>
          <p:nvPr/>
        </p:nvSpPr>
        <p:spPr>
          <a:xfrm>
            <a:off x="594360" y="3502152"/>
            <a:ext cx="23317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不動産会社</a:t>
            </a:r>
            <a:endParaRPr lang="en-US" sz="1400" dirty="0"/>
          </a:p>
        </p:txBody>
      </p:sp>
      <p:sp>
        <p:nvSpPr>
          <p:cNvPr id="9" name="Text 6"/>
          <p:cNvSpPr/>
          <p:nvPr/>
        </p:nvSpPr>
        <p:spPr>
          <a:xfrm>
            <a:off x="685800"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C7D3E8"/>
                </a:solidFill>
                <a:latin typeface="Calibri" pitchFamily="34" charset="0"/>
                <a:ea typeface="Calibri" pitchFamily="34" charset="-122"/>
                <a:cs typeface="Calibri" pitchFamily="34" charset="-120"/>
              </a:rPr>
              <a:t>札幌の不動産会社を起点に、実導入を通じて価値を実証</a:t>
            </a:r>
            <a:endParaRPr lang="en-US" sz="1050" dirty="0"/>
          </a:p>
        </p:txBody>
      </p:sp>
      <p:sp>
        <p:nvSpPr>
          <p:cNvPr id="10" name="Shape 7"/>
          <p:cNvSpPr/>
          <p:nvPr/>
        </p:nvSpPr>
        <p:spPr>
          <a:xfrm>
            <a:off x="2103120" y="2075688"/>
            <a:ext cx="777240" cy="274320"/>
          </a:xfrm>
          <a:prstGeom prst="roundRect">
            <a:avLst>
              <a:gd name="adj" fmla="val 20000"/>
            </a:avLst>
          </a:prstGeom>
          <a:solidFill>
            <a:srgbClr val="2563EB"/>
          </a:solidFill>
          <a:ln/>
        </p:spPr>
      </p:sp>
      <p:sp>
        <p:nvSpPr>
          <p:cNvPr id="11" name="Text 8"/>
          <p:cNvSpPr/>
          <p:nvPr/>
        </p:nvSpPr>
        <p:spPr>
          <a:xfrm>
            <a:off x="2103120" y="2075688"/>
            <a:ext cx="7772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現在</a:t>
            </a:r>
            <a:endParaRPr lang="en-US" sz="900" dirty="0"/>
          </a:p>
        </p:txBody>
      </p:sp>
      <p:sp>
        <p:nvSpPr>
          <p:cNvPr id="12" name="Text 9"/>
          <p:cNvSpPr/>
          <p:nvPr/>
        </p:nvSpPr>
        <p:spPr>
          <a:xfrm>
            <a:off x="3017520" y="3474720"/>
            <a:ext cx="256032" cy="548640"/>
          </a:xfrm>
          <a:prstGeom prst="rect">
            <a:avLst/>
          </a:prstGeom>
          <a:noFill/>
          <a:ln/>
        </p:spPr>
        <p:txBody>
          <a:bodyPr wrap="square" lIns="0" tIns="0" rIns="0" bIns="0" rtlCol="0" anchor="ctr"/>
          <a:lstStyle/>
          <a:p>
            <a:pPr algn="ctr" indent="0" marL="0">
              <a:buNone/>
            </a:pPr>
            <a:r>
              <a:rPr lang="en-US" sz="1800" b="1" dirty="0">
                <a:solidFill>
                  <a:srgbClr val="60A5FA"/>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3273552" y="1965960"/>
            <a:ext cx="2514600" cy="3566160"/>
          </a:xfrm>
          <a:prstGeom prst="roundRect">
            <a:avLst>
              <a:gd name="adj" fmla="val 2909"/>
            </a:avLst>
          </a:prstGeom>
          <a:solidFill>
            <a:srgbClr val="F3F6FA"/>
          </a:solidFill>
          <a:ln/>
          <a:effectLst>
            <a:outerShdw sx="100000" sy="100000" kx="0" ky="0" algn="bl" rotWithShape="0" blurRad="76200" dist="25400" dir="5400000">
              <a:srgbClr val="0A1B3D">
                <a:alpha val="12000"/>
              </a:srgbClr>
            </a:outerShdw>
          </a:effectLst>
        </p:spPr>
      </p:sp>
      <p:sp>
        <p:nvSpPr>
          <p:cNvPr id="14" name="Shape 11"/>
          <p:cNvSpPr/>
          <p:nvPr/>
        </p:nvSpPr>
        <p:spPr>
          <a:xfrm>
            <a:off x="4142232" y="2286000"/>
            <a:ext cx="777240" cy="777240"/>
          </a:xfrm>
          <a:prstGeom prst="ellipse">
            <a:avLst/>
          </a:prstGeom>
          <a:solidFill>
            <a:srgbClr val="0A1B3D"/>
          </a:solidFill>
          <a:ln/>
        </p:spPr>
      </p:sp>
      <p:pic>
        <p:nvPicPr>
          <p:cNvPr id="15" name="Image 1" descr="C:\Users\user\AppData\Local\Temp\claude\C--Users-user-Desktop-TOEIC---\46f2443e-6c5b-45fc-8f6e-79718ae21477\scratchpad\business-plan\icons\gavel.png">    </p:cNvPr>
          <p:cNvPicPr>
            <a:picLocks noChangeAspect="1"/>
          </p:cNvPicPr>
          <p:nvPr/>
        </p:nvPicPr>
        <p:blipFill>
          <a:blip r:embed="rId2"/>
          <a:stretch>
            <a:fillRect/>
          </a:stretch>
        </p:blipFill>
        <p:spPr>
          <a:xfrm>
            <a:off x="4317111" y="2460879"/>
            <a:ext cx="427482" cy="427482"/>
          </a:xfrm>
          <a:prstGeom prst="rect">
            <a:avLst/>
          </a:prstGeom>
        </p:spPr>
      </p:pic>
      <p:sp>
        <p:nvSpPr>
          <p:cNvPr id="16" name="Text 12"/>
          <p:cNvSpPr/>
          <p:nvPr/>
        </p:nvSpPr>
        <p:spPr>
          <a:xfrm>
            <a:off x="3273552"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2563EB"/>
                </a:solidFill>
                <a:latin typeface="Calibri" pitchFamily="34" charset="0"/>
                <a:ea typeface="Calibri" pitchFamily="34" charset="-122"/>
                <a:cs typeface="Calibri" pitchFamily="34" charset="-120"/>
              </a:rPr>
              <a:t>Phase 2</a:t>
            </a:r>
            <a:endParaRPr lang="en-US" sz="1100" dirty="0"/>
          </a:p>
        </p:txBody>
      </p:sp>
      <p:sp>
        <p:nvSpPr>
          <p:cNvPr id="17" name="Text 13"/>
          <p:cNvSpPr/>
          <p:nvPr/>
        </p:nvSpPr>
        <p:spPr>
          <a:xfrm>
            <a:off x="3364992" y="3502152"/>
            <a:ext cx="2331720" cy="50292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管理会社・司法書士</a:t>
            </a:r>
            <a:endParaRPr lang="en-US" sz="1400" dirty="0"/>
          </a:p>
        </p:txBody>
      </p:sp>
      <p:sp>
        <p:nvSpPr>
          <p:cNvPr id="18" name="Text 14"/>
          <p:cNvSpPr/>
          <p:nvPr/>
        </p:nvSpPr>
        <p:spPr>
          <a:xfrm>
            <a:off x="3456432"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1E293B"/>
                </a:solidFill>
                <a:latin typeface="Calibri" pitchFamily="34" charset="0"/>
                <a:ea typeface="Calibri" pitchFamily="34" charset="-122"/>
                <a:cs typeface="Calibri" pitchFamily="34" charset="-120"/>
              </a:rPr>
              <a:t>隣接業務領域の不動産関連業種へ展開</a:t>
            </a:r>
            <a:endParaRPr lang="en-US" sz="1050" dirty="0"/>
          </a:p>
        </p:txBody>
      </p:sp>
      <p:sp>
        <p:nvSpPr>
          <p:cNvPr id="19" name="Text 15"/>
          <p:cNvSpPr/>
          <p:nvPr/>
        </p:nvSpPr>
        <p:spPr>
          <a:xfrm>
            <a:off x="5788152" y="3474720"/>
            <a:ext cx="256032" cy="548640"/>
          </a:xfrm>
          <a:prstGeom prst="rect">
            <a:avLst/>
          </a:prstGeom>
          <a:noFill/>
          <a:ln/>
        </p:spPr>
        <p:txBody>
          <a:bodyPr wrap="square" lIns="0" tIns="0" rIns="0" bIns="0" rtlCol="0" anchor="ctr"/>
          <a:lstStyle/>
          <a:p>
            <a:pPr algn="ctr" indent="0" marL="0">
              <a:buNone/>
            </a:pPr>
            <a:r>
              <a:rPr lang="en-US" sz="1800" b="1" dirty="0">
                <a:solidFill>
                  <a:srgbClr val="60A5FA"/>
                </a:solidFill>
                <a:latin typeface="Calibri" pitchFamily="34" charset="0"/>
                <a:ea typeface="Calibri" pitchFamily="34" charset="-122"/>
                <a:cs typeface="Calibri" pitchFamily="34" charset="-120"/>
              </a:rPr>
              <a:t>→</a:t>
            </a:r>
            <a:endParaRPr lang="en-US" sz="1800" dirty="0"/>
          </a:p>
        </p:txBody>
      </p:sp>
      <p:sp>
        <p:nvSpPr>
          <p:cNvPr id="20" name="Shape 16"/>
          <p:cNvSpPr/>
          <p:nvPr/>
        </p:nvSpPr>
        <p:spPr>
          <a:xfrm>
            <a:off x="6044184" y="1965960"/>
            <a:ext cx="2514600" cy="3566160"/>
          </a:xfrm>
          <a:prstGeom prst="roundRect">
            <a:avLst>
              <a:gd name="adj" fmla="val 2909"/>
            </a:avLst>
          </a:prstGeom>
          <a:solidFill>
            <a:srgbClr val="F3F6FA"/>
          </a:solidFill>
          <a:ln/>
          <a:effectLst>
            <a:outerShdw sx="100000" sy="100000" kx="0" ky="0" algn="bl" rotWithShape="0" blurRad="76200" dist="25400" dir="5400000">
              <a:srgbClr val="0A1B3D">
                <a:alpha val="12000"/>
              </a:srgbClr>
            </a:outerShdw>
          </a:effectLst>
        </p:spPr>
      </p:sp>
      <p:sp>
        <p:nvSpPr>
          <p:cNvPr id="21" name="Shape 17"/>
          <p:cNvSpPr/>
          <p:nvPr/>
        </p:nvSpPr>
        <p:spPr>
          <a:xfrm>
            <a:off x="6912864" y="2286000"/>
            <a:ext cx="777240" cy="777240"/>
          </a:xfrm>
          <a:prstGeom prst="ellipse">
            <a:avLst/>
          </a:prstGeom>
          <a:solidFill>
            <a:srgbClr val="0A1B3D"/>
          </a:solidFill>
          <a:ln/>
        </p:spPr>
      </p:sp>
      <p:pic>
        <p:nvPicPr>
          <p:cNvPr id="22" name="Image 2" descr="C:\Users\user\AppData\Local\Temp\claude\C--Users-user-Desktop-TOEIC---\46f2443e-6c5b-45fc-8f6e-79718ae21477\scratchpad\business-plan\icons\hardhat.png">    </p:cNvPr>
          <p:cNvPicPr>
            <a:picLocks noChangeAspect="1"/>
          </p:cNvPicPr>
          <p:nvPr/>
        </p:nvPicPr>
        <p:blipFill>
          <a:blip r:embed="rId3"/>
          <a:stretch>
            <a:fillRect/>
          </a:stretch>
        </p:blipFill>
        <p:spPr>
          <a:xfrm>
            <a:off x="7087743" y="2460879"/>
            <a:ext cx="427482" cy="427482"/>
          </a:xfrm>
          <a:prstGeom prst="rect">
            <a:avLst/>
          </a:prstGeom>
        </p:spPr>
      </p:pic>
      <p:sp>
        <p:nvSpPr>
          <p:cNvPr id="23" name="Text 18"/>
          <p:cNvSpPr/>
          <p:nvPr/>
        </p:nvSpPr>
        <p:spPr>
          <a:xfrm>
            <a:off x="6044184"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2563EB"/>
                </a:solidFill>
                <a:latin typeface="Calibri" pitchFamily="34" charset="0"/>
                <a:ea typeface="Calibri" pitchFamily="34" charset="-122"/>
                <a:cs typeface="Calibri" pitchFamily="34" charset="-120"/>
              </a:rPr>
              <a:t>Phase 3</a:t>
            </a:r>
            <a:endParaRPr lang="en-US" sz="1100" dirty="0"/>
          </a:p>
        </p:txBody>
      </p:sp>
      <p:sp>
        <p:nvSpPr>
          <p:cNvPr id="24" name="Text 19"/>
          <p:cNvSpPr/>
          <p:nvPr/>
        </p:nvSpPr>
        <p:spPr>
          <a:xfrm>
            <a:off x="6135624" y="3502152"/>
            <a:ext cx="2331720" cy="50292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建設業・士業</a:t>
            </a:r>
            <a:endParaRPr lang="en-US" sz="1400" dirty="0"/>
          </a:p>
        </p:txBody>
      </p:sp>
      <p:sp>
        <p:nvSpPr>
          <p:cNvPr id="25" name="Text 20"/>
          <p:cNvSpPr/>
          <p:nvPr/>
        </p:nvSpPr>
        <p:spPr>
          <a:xfrm>
            <a:off x="6227064"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1E293B"/>
                </a:solidFill>
                <a:latin typeface="Calibri" pitchFamily="34" charset="0"/>
                <a:ea typeface="Calibri" pitchFamily="34" charset="-122"/>
                <a:cs typeface="Calibri" pitchFamily="34" charset="-120"/>
              </a:rPr>
              <a:t>業務構造が似た業種へテンプレートを横展開</a:t>
            </a:r>
            <a:endParaRPr lang="en-US" sz="1050" dirty="0"/>
          </a:p>
        </p:txBody>
      </p:sp>
      <p:sp>
        <p:nvSpPr>
          <p:cNvPr id="26" name="Text 21"/>
          <p:cNvSpPr/>
          <p:nvPr/>
        </p:nvSpPr>
        <p:spPr>
          <a:xfrm>
            <a:off x="8558784" y="3474720"/>
            <a:ext cx="256032" cy="548640"/>
          </a:xfrm>
          <a:prstGeom prst="rect">
            <a:avLst/>
          </a:prstGeom>
          <a:noFill/>
          <a:ln/>
        </p:spPr>
        <p:txBody>
          <a:bodyPr wrap="square" lIns="0" tIns="0" rIns="0" bIns="0" rtlCol="0" anchor="ctr"/>
          <a:lstStyle/>
          <a:p>
            <a:pPr algn="ctr" indent="0" marL="0">
              <a:buNone/>
            </a:pPr>
            <a:r>
              <a:rPr lang="en-US" sz="1800" b="1" dirty="0">
                <a:solidFill>
                  <a:srgbClr val="60A5FA"/>
                </a:solidFill>
                <a:latin typeface="Calibri" pitchFamily="34" charset="0"/>
                <a:ea typeface="Calibri" pitchFamily="34" charset="-122"/>
                <a:cs typeface="Calibri" pitchFamily="34" charset="-120"/>
              </a:rPr>
              <a:t>→</a:t>
            </a:r>
            <a:endParaRPr lang="en-US" sz="1800" dirty="0"/>
          </a:p>
        </p:txBody>
      </p:sp>
      <p:sp>
        <p:nvSpPr>
          <p:cNvPr id="27" name="Shape 22"/>
          <p:cNvSpPr/>
          <p:nvPr/>
        </p:nvSpPr>
        <p:spPr>
          <a:xfrm>
            <a:off x="8814816" y="1965960"/>
            <a:ext cx="2514600" cy="3566160"/>
          </a:xfrm>
          <a:prstGeom prst="roundRect">
            <a:avLst>
              <a:gd name="adj" fmla="val 2909"/>
            </a:avLst>
          </a:prstGeom>
          <a:solidFill>
            <a:srgbClr val="F3F6FA"/>
          </a:solidFill>
          <a:ln/>
          <a:effectLst>
            <a:outerShdw sx="100000" sy="100000" kx="0" ky="0" algn="bl" rotWithShape="0" blurRad="76200" dist="25400" dir="5400000">
              <a:srgbClr val="0A1B3D">
                <a:alpha val="12000"/>
              </a:srgbClr>
            </a:outerShdw>
          </a:effectLst>
        </p:spPr>
      </p:sp>
      <p:sp>
        <p:nvSpPr>
          <p:cNvPr id="28" name="Shape 23"/>
          <p:cNvSpPr/>
          <p:nvPr/>
        </p:nvSpPr>
        <p:spPr>
          <a:xfrm>
            <a:off x="9683496" y="2286000"/>
            <a:ext cx="777240" cy="777240"/>
          </a:xfrm>
          <a:prstGeom prst="ellipse">
            <a:avLst/>
          </a:prstGeom>
          <a:solidFill>
            <a:srgbClr val="0A1B3D"/>
          </a:solidFill>
          <a:ln/>
        </p:spPr>
      </p:sp>
      <p:pic>
        <p:nvPicPr>
          <p:cNvPr id="29" name="Image 3" descr="C:\Users\user\AppData\Local\Temp\claude\C--Users-user-Desktop-TOEIC---\46f2443e-6c5b-45fc-8f6e-79718ae21477\scratchpad\business-plan\icons\globe.png">    </p:cNvPr>
          <p:cNvPicPr>
            <a:picLocks noChangeAspect="1"/>
          </p:cNvPicPr>
          <p:nvPr/>
        </p:nvPicPr>
        <p:blipFill>
          <a:blip r:embed="rId4"/>
          <a:stretch>
            <a:fillRect/>
          </a:stretch>
        </p:blipFill>
        <p:spPr>
          <a:xfrm>
            <a:off x="9858375" y="2460879"/>
            <a:ext cx="427482" cy="427482"/>
          </a:xfrm>
          <a:prstGeom prst="rect">
            <a:avLst/>
          </a:prstGeom>
        </p:spPr>
      </p:pic>
      <p:sp>
        <p:nvSpPr>
          <p:cNvPr id="30" name="Text 24"/>
          <p:cNvSpPr/>
          <p:nvPr/>
        </p:nvSpPr>
        <p:spPr>
          <a:xfrm>
            <a:off x="8814816"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2563EB"/>
                </a:solidFill>
                <a:latin typeface="Calibri" pitchFamily="34" charset="0"/>
                <a:ea typeface="Calibri" pitchFamily="34" charset="-122"/>
                <a:cs typeface="Calibri" pitchFamily="34" charset="-120"/>
              </a:rPr>
              <a:t>Phase 4</a:t>
            </a:r>
            <a:endParaRPr lang="en-US" sz="1100" dirty="0"/>
          </a:p>
        </p:txBody>
      </p:sp>
      <p:sp>
        <p:nvSpPr>
          <p:cNvPr id="31" name="Text 25"/>
          <p:cNvSpPr/>
          <p:nvPr/>
        </p:nvSpPr>
        <p:spPr>
          <a:xfrm>
            <a:off x="8906256" y="3502152"/>
            <a:ext cx="2331720" cy="50292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全国の中小企業</a:t>
            </a:r>
            <a:endParaRPr lang="en-US" sz="1400" dirty="0"/>
          </a:p>
        </p:txBody>
      </p:sp>
      <p:sp>
        <p:nvSpPr>
          <p:cNvPr id="32" name="Text 26"/>
          <p:cNvSpPr/>
          <p:nvPr/>
        </p:nvSpPr>
        <p:spPr>
          <a:xfrm>
            <a:off x="8997696"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1E293B"/>
                </a:solidFill>
                <a:latin typeface="Calibri" pitchFamily="34" charset="0"/>
                <a:ea typeface="Calibri" pitchFamily="34" charset="-122"/>
                <a:cs typeface="Calibri" pitchFamily="34" charset="-120"/>
              </a:rPr>
              <a:t>業種を問わない経営プラットフォームへ成長</a:t>
            </a:r>
            <a:endParaRPr lang="en-US" sz="1050" dirty="0"/>
          </a:p>
        </p:txBody>
      </p:sp>
      <p:sp>
        <p:nvSpPr>
          <p:cNvPr id="33" name="Text 27"/>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1.2</a:t>
            </a:r>
            <a:endParaRPr lang="en-US" sz="900" dirty="0"/>
          </a:p>
        </p:txBody>
      </p:sp>
      <p:sp>
        <p:nvSpPr>
          <p:cNvPr id="34" name="Text 2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3-YEAR FINANCIAL PLAN</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900" b="1" dirty="0">
                <a:solidFill>
                  <a:srgbClr val="0A1B3D"/>
                </a:solidFill>
                <a:latin typeface="Cambria" pitchFamily="34" charset="0"/>
                <a:ea typeface="Cambria" pitchFamily="34" charset="-122"/>
                <a:cs typeface="Cambria" pitchFamily="34" charset="-120"/>
              </a:rPr>
              <a:t>売上計画（3年間）</a:t>
            </a:r>
            <a:endParaRPr lang="en-US" sz="2900" dirty="0"/>
          </a:p>
        </p:txBody>
      </p:sp>
      <p:sp>
        <p:nvSpPr>
          <p:cNvPr id="4" name="Text 2"/>
          <p:cNvSpPr/>
          <p:nvPr/>
        </p:nvSpPr>
        <p:spPr>
          <a:xfrm>
            <a:off x="502920" y="1325880"/>
            <a:ext cx="11185855" cy="365760"/>
          </a:xfrm>
          <a:prstGeom prst="rect">
            <a:avLst/>
          </a:prstGeom>
          <a:noFill/>
          <a:ln/>
        </p:spPr>
        <p:txBody>
          <a:bodyPr wrap="square" lIns="0" tIns="0" rIns="0" bIns="0" rtlCol="0" anchor="ctr"/>
          <a:lstStyle/>
          <a:p>
            <a:pPr indent="0" marL="0">
              <a:lnSpc>
                <a:spcPct val="115000"/>
              </a:lnSpc>
              <a:buNone/>
            </a:pPr>
            <a:r>
              <a:rPr lang="en-US" sz="1050" dirty="0">
                <a:solidFill>
                  <a:srgbClr val="64748B"/>
                </a:solidFill>
                <a:latin typeface="Calibri" pitchFamily="34" charset="0"/>
                <a:ea typeface="Calibri" pitchFamily="34" charset="-122"/>
                <a:cs typeface="Calibri" pitchFamily="34" charset="-120"/>
              </a:rPr>
              <a:t>平均契約単価 月額15万円（年間契約）・初期導入費10万円/社を前提に、契約は年間を通じて段階的に増加する現実的な時期を想定して試算しています。</a:t>
            </a:r>
            <a:endParaRPr lang="en-US" sz="1050" dirty="0"/>
          </a:p>
        </p:txBody>
      </p:sp>
      <p:graphicFrame>
        <p:nvGraphicFramePr>
          <p:cNvPr id="5" name="Chart 0" descr=""/>
          <p:cNvGraphicFramePr/>
          <p:nvPr/>
        </p:nvGraphicFramePr>
        <p:xfrm>
          <a:off x="502920" y="1828800"/>
          <a:ext cx="6858000" cy="27432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02920" y="4663440"/>
            <a:ext cx="6858000" cy="256032"/>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現実的な契約時期の前提</a:t>
            </a:r>
            <a:endParaRPr lang="en-US" sz="1100" dirty="0"/>
          </a:p>
        </p:txBody>
      </p:sp>
      <p:sp>
        <p:nvSpPr>
          <p:cNvPr id="7" name="Text 4"/>
          <p:cNvSpPr/>
          <p:nvPr/>
        </p:nvSpPr>
        <p:spPr>
          <a:xfrm>
            <a:off x="502920" y="4937760"/>
            <a:ext cx="6858000" cy="1051560"/>
          </a:xfrm>
          <a:prstGeom prst="rect">
            <a:avLst/>
          </a:prstGeom>
          <a:noFill/>
          <a:ln/>
        </p:spPr>
        <p:txBody>
          <a:bodyPr wrap="square" lIns="0" tIns="0" rIns="0" bIns="0" rtlCol="0" anchor="ctr"/>
          <a:lstStyle/>
          <a:p>
            <a:pPr indent="0" marL="0">
              <a:lnSpc>
                <a:spcPct val="125000"/>
              </a:lnSpc>
              <a:buNone/>
            </a:pPr>
            <a:r>
              <a:rPr lang="en-US" sz="900" dirty="0">
                <a:solidFill>
                  <a:srgbClr val="1E293B"/>
                </a:solidFill>
                <a:latin typeface="Calibri" pitchFamily="34" charset="0"/>
                <a:ea typeface="Calibri" pitchFamily="34" charset="-122"/>
                <a:cs typeface="Calibri" pitchFamily="34" charset="-120"/>
              </a:rPr>
              <a:t>Year1：6社が一斉契約ではなく、年間を通じて段階的に契約（平均稼働約5ヶ月/社）。設立初年度の実績づくり</a:t>
            </a:r>
            <a:endParaRPr lang="en-US" sz="900" dirty="0"/>
          </a:p>
          <a:p>
            <a:pPr indent="0" marL="0">
              <a:lnSpc>
                <a:spcPct val="125000"/>
              </a:lnSpc>
              <a:buNone/>
            </a:pPr>
            <a:r>
              <a:rPr lang="en-US" sz="900" dirty="0">
                <a:solidFill>
                  <a:srgbClr val="1E293B"/>
                </a:solidFill>
                <a:latin typeface="Calibri" pitchFamily="34" charset="0"/>
                <a:ea typeface="Calibri" pitchFamily="34" charset="-122"/>
                <a:cs typeface="Calibri" pitchFamily="34" charset="-120"/>
              </a:rPr>
              <a:t>Year2：Year1契約企業の更新（継続率83%と想定）＋新規20社。Partner Program開始により契約時期が早期化</a:t>
            </a:r>
            <a:endParaRPr lang="en-US" sz="900" dirty="0"/>
          </a:p>
          <a:p>
            <a:pPr indent="0" marL="0">
              <a:lnSpc>
                <a:spcPct val="125000"/>
              </a:lnSpc>
              <a:buNone/>
            </a:pPr>
            <a:r>
              <a:rPr lang="en-US" sz="900" dirty="0">
                <a:solidFill>
                  <a:srgbClr val="1E293B"/>
                </a:solidFill>
                <a:latin typeface="Calibri" pitchFamily="34" charset="0"/>
                <a:ea typeface="Calibri" pitchFamily="34" charset="-122"/>
                <a:cs typeface="Calibri" pitchFamily="34" charset="-120"/>
              </a:rPr>
              <a:t>Year3：既存契約の更新（継続率90%と想定）＋新規50社。紹介ネットワークの拡大で契約時期がさらに前倒し</a:t>
            </a:r>
            <a:endParaRPr lang="en-US" sz="900" dirty="0"/>
          </a:p>
        </p:txBody>
      </p:sp>
      <p:sp>
        <p:nvSpPr>
          <p:cNvPr id="8" name="Shape 5"/>
          <p:cNvSpPr/>
          <p:nvPr/>
        </p:nvSpPr>
        <p:spPr>
          <a:xfrm>
            <a:off x="8092440" y="1691640"/>
            <a:ext cx="1371600" cy="365760"/>
          </a:xfrm>
          <a:prstGeom prst="rect">
            <a:avLst/>
          </a:prstGeom>
          <a:solidFill>
            <a:srgbClr val="0A1B3D"/>
          </a:solidFill>
          <a:ln w="12700">
            <a:solidFill>
              <a:srgbClr val="FFFFFF"/>
            </a:solidFill>
            <a:prstDash val="solid"/>
          </a:ln>
        </p:spPr>
      </p:sp>
      <p:sp>
        <p:nvSpPr>
          <p:cNvPr id="9" name="Text 6"/>
          <p:cNvSpPr/>
          <p:nvPr/>
        </p:nvSpPr>
        <p:spPr>
          <a:xfrm>
            <a:off x="8138160" y="1691640"/>
            <a:ext cx="1280160" cy="365760"/>
          </a:xfrm>
          <a:prstGeom prst="rect">
            <a:avLst/>
          </a:prstGeom>
          <a:noFill/>
          <a:ln/>
        </p:spPr>
        <p:txBody>
          <a:bodyPr wrap="square" lIns="0" tIns="0" rIns="0" bIns="0" rtlCol="0" anchor="ctr"/>
          <a:lstStyle/>
          <a:p>
            <a:pPr algn="l" indent="0" marL="0">
              <a:buNone/>
            </a:pPr>
            <a:endParaRPr lang="en-US" sz="900" dirty="0"/>
          </a:p>
        </p:txBody>
      </p:sp>
      <p:sp>
        <p:nvSpPr>
          <p:cNvPr id="10" name="Shape 7"/>
          <p:cNvSpPr/>
          <p:nvPr/>
        </p:nvSpPr>
        <p:spPr>
          <a:xfrm>
            <a:off x="9464040" y="1691640"/>
            <a:ext cx="740664" cy="365760"/>
          </a:xfrm>
          <a:prstGeom prst="rect">
            <a:avLst/>
          </a:prstGeom>
          <a:solidFill>
            <a:srgbClr val="0A1B3D"/>
          </a:solidFill>
          <a:ln w="12700">
            <a:solidFill>
              <a:srgbClr val="FFFFFF"/>
            </a:solidFill>
            <a:prstDash val="solid"/>
          </a:ln>
        </p:spPr>
      </p:sp>
      <p:sp>
        <p:nvSpPr>
          <p:cNvPr id="11" name="Text 8"/>
          <p:cNvSpPr/>
          <p:nvPr/>
        </p:nvSpPr>
        <p:spPr>
          <a:xfrm>
            <a:off x="9509760" y="1691640"/>
            <a:ext cx="649224"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Year 1</a:t>
            </a:r>
            <a:endParaRPr lang="en-US" sz="900" dirty="0"/>
          </a:p>
        </p:txBody>
      </p:sp>
      <p:sp>
        <p:nvSpPr>
          <p:cNvPr id="12" name="Shape 9"/>
          <p:cNvSpPr/>
          <p:nvPr/>
        </p:nvSpPr>
        <p:spPr>
          <a:xfrm>
            <a:off x="10204704" y="1691640"/>
            <a:ext cx="740664" cy="365760"/>
          </a:xfrm>
          <a:prstGeom prst="rect">
            <a:avLst/>
          </a:prstGeom>
          <a:solidFill>
            <a:srgbClr val="0A1B3D"/>
          </a:solidFill>
          <a:ln w="12700">
            <a:solidFill>
              <a:srgbClr val="FFFFFF"/>
            </a:solidFill>
            <a:prstDash val="solid"/>
          </a:ln>
        </p:spPr>
      </p:sp>
      <p:sp>
        <p:nvSpPr>
          <p:cNvPr id="13" name="Text 10"/>
          <p:cNvSpPr/>
          <p:nvPr/>
        </p:nvSpPr>
        <p:spPr>
          <a:xfrm>
            <a:off x="10250424" y="1691640"/>
            <a:ext cx="649224"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Year 2</a:t>
            </a:r>
            <a:endParaRPr lang="en-US" sz="900" dirty="0"/>
          </a:p>
        </p:txBody>
      </p:sp>
      <p:sp>
        <p:nvSpPr>
          <p:cNvPr id="14" name="Shape 11"/>
          <p:cNvSpPr/>
          <p:nvPr/>
        </p:nvSpPr>
        <p:spPr>
          <a:xfrm>
            <a:off x="10945368" y="1691640"/>
            <a:ext cx="740664" cy="365760"/>
          </a:xfrm>
          <a:prstGeom prst="rect">
            <a:avLst/>
          </a:prstGeom>
          <a:solidFill>
            <a:srgbClr val="0A1B3D"/>
          </a:solidFill>
          <a:ln w="12700">
            <a:solidFill>
              <a:srgbClr val="FFFFFF"/>
            </a:solidFill>
            <a:prstDash val="solid"/>
          </a:ln>
        </p:spPr>
      </p:sp>
      <p:sp>
        <p:nvSpPr>
          <p:cNvPr id="15" name="Text 12"/>
          <p:cNvSpPr/>
          <p:nvPr/>
        </p:nvSpPr>
        <p:spPr>
          <a:xfrm>
            <a:off x="10991088" y="1691640"/>
            <a:ext cx="649224"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Year 3</a:t>
            </a:r>
            <a:endParaRPr lang="en-US" sz="900" dirty="0"/>
          </a:p>
        </p:txBody>
      </p:sp>
      <p:sp>
        <p:nvSpPr>
          <p:cNvPr id="16" name="Shape 13"/>
          <p:cNvSpPr/>
          <p:nvPr/>
        </p:nvSpPr>
        <p:spPr>
          <a:xfrm>
            <a:off x="8092440" y="2057400"/>
            <a:ext cx="1371600" cy="457200"/>
          </a:xfrm>
          <a:prstGeom prst="rect">
            <a:avLst/>
          </a:prstGeom>
          <a:solidFill>
            <a:srgbClr val="F3F6FA"/>
          </a:solidFill>
          <a:ln w="12700">
            <a:solidFill>
              <a:srgbClr val="FFFFFF"/>
            </a:solidFill>
            <a:prstDash val="solid"/>
          </a:ln>
        </p:spPr>
      </p:sp>
      <p:sp>
        <p:nvSpPr>
          <p:cNvPr id="17" name="Text 14"/>
          <p:cNvSpPr/>
          <p:nvPr/>
        </p:nvSpPr>
        <p:spPr>
          <a:xfrm>
            <a:off x="8138160" y="2057400"/>
            <a:ext cx="1280160" cy="457200"/>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新規契約</a:t>
            </a:r>
            <a:endParaRPr lang="en-US" sz="950" dirty="0"/>
          </a:p>
        </p:txBody>
      </p:sp>
      <p:sp>
        <p:nvSpPr>
          <p:cNvPr id="18" name="Shape 15"/>
          <p:cNvSpPr/>
          <p:nvPr/>
        </p:nvSpPr>
        <p:spPr>
          <a:xfrm>
            <a:off x="9464040" y="2057400"/>
            <a:ext cx="740664" cy="457200"/>
          </a:xfrm>
          <a:prstGeom prst="rect">
            <a:avLst/>
          </a:prstGeom>
          <a:solidFill>
            <a:srgbClr val="FFFFFF"/>
          </a:solidFill>
          <a:ln w="12700">
            <a:solidFill>
              <a:srgbClr val="FFFFFF"/>
            </a:solidFill>
            <a:prstDash val="solid"/>
          </a:ln>
        </p:spPr>
      </p:sp>
      <p:sp>
        <p:nvSpPr>
          <p:cNvPr id="19" name="Text 16"/>
          <p:cNvSpPr/>
          <p:nvPr/>
        </p:nvSpPr>
        <p:spPr>
          <a:xfrm>
            <a:off x="9509760" y="20574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6社</a:t>
            </a:r>
            <a:endParaRPr lang="en-US" sz="950" dirty="0"/>
          </a:p>
        </p:txBody>
      </p:sp>
      <p:sp>
        <p:nvSpPr>
          <p:cNvPr id="20" name="Shape 17"/>
          <p:cNvSpPr/>
          <p:nvPr/>
        </p:nvSpPr>
        <p:spPr>
          <a:xfrm>
            <a:off x="10204704" y="2057400"/>
            <a:ext cx="740664" cy="457200"/>
          </a:xfrm>
          <a:prstGeom prst="rect">
            <a:avLst/>
          </a:prstGeom>
          <a:solidFill>
            <a:srgbClr val="FFFFFF"/>
          </a:solidFill>
          <a:ln w="12700">
            <a:solidFill>
              <a:srgbClr val="FFFFFF"/>
            </a:solidFill>
            <a:prstDash val="solid"/>
          </a:ln>
        </p:spPr>
      </p:sp>
      <p:sp>
        <p:nvSpPr>
          <p:cNvPr id="21" name="Text 18"/>
          <p:cNvSpPr/>
          <p:nvPr/>
        </p:nvSpPr>
        <p:spPr>
          <a:xfrm>
            <a:off x="10250424" y="20574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20社</a:t>
            </a:r>
            <a:endParaRPr lang="en-US" sz="950" dirty="0"/>
          </a:p>
        </p:txBody>
      </p:sp>
      <p:sp>
        <p:nvSpPr>
          <p:cNvPr id="22" name="Shape 19"/>
          <p:cNvSpPr/>
          <p:nvPr/>
        </p:nvSpPr>
        <p:spPr>
          <a:xfrm>
            <a:off x="10945368" y="2057400"/>
            <a:ext cx="740664" cy="457200"/>
          </a:xfrm>
          <a:prstGeom prst="rect">
            <a:avLst/>
          </a:prstGeom>
          <a:solidFill>
            <a:srgbClr val="FFFFFF"/>
          </a:solidFill>
          <a:ln w="12700">
            <a:solidFill>
              <a:srgbClr val="FFFFFF"/>
            </a:solidFill>
            <a:prstDash val="solid"/>
          </a:ln>
        </p:spPr>
      </p:sp>
      <p:sp>
        <p:nvSpPr>
          <p:cNvPr id="23" name="Text 20"/>
          <p:cNvSpPr/>
          <p:nvPr/>
        </p:nvSpPr>
        <p:spPr>
          <a:xfrm>
            <a:off x="10991088" y="20574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50社</a:t>
            </a:r>
            <a:endParaRPr lang="en-US" sz="950" dirty="0"/>
          </a:p>
        </p:txBody>
      </p:sp>
      <p:sp>
        <p:nvSpPr>
          <p:cNvPr id="24" name="Shape 21"/>
          <p:cNvSpPr/>
          <p:nvPr/>
        </p:nvSpPr>
        <p:spPr>
          <a:xfrm>
            <a:off x="8092440" y="2514600"/>
            <a:ext cx="1371600" cy="457200"/>
          </a:xfrm>
          <a:prstGeom prst="rect">
            <a:avLst/>
          </a:prstGeom>
          <a:solidFill>
            <a:srgbClr val="F3F6FA"/>
          </a:solidFill>
          <a:ln w="12700">
            <a:solidFill>
              <a:srgbClr val="FFFFFF"/>
            </a:solidFill>
            <a:prstDash val="solid"/>
          </a:ln>
        </p:spPr>
      </p:sp>
      <p:sp>
        <p:nvSpPr>
          <p:cNvPr id="25" name="Text 22"/>
          <p:cNvSpPr/>
          <p:nvPr/>
        </p:nvSpPr>
        <p:spPr>
          <a:xfrm>
            <a:off x="8138160" y="2514600"/>
            <a:ext cx="1280160" cy="457200"/>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更新契約</a:t>
            </a:r>
            <a:endParaRPr lang="en-US" sz="950" dirty="0"/>
          </a:p>
        </p:txBody>
      </p:sp>
      <p:sp>
        <p:nvSpPr>
          <p:cNvPr id="26" name="Shape 23"/>
          <p:cNvSpPr/>
          <p:nvPr/>
        </p:nvSpPr>
        <p:spPr>
          <a:xfrm>
            <a:off x="9464040" y="2514600"/>
            <a:ext cx="740664" cy="457200"/>
          </a:xfrm>
          <a:prstGeom prst="rect">
            <a:avLst/>
          </a:prstGeom>
          <a:solidFill>
            <a:srgbClr val="FAFBFC"/>
          </a:solidFill>
          <a:ln w="12700">
            <a:solidFill>
              <a:srgbClr val="FFFFFF"/>
            </a:solidFill>
            <a:prstDash val="solid"/>
          </a:ln>
        </p:spPr>
      </p:sp>
      <p:sp>
        <p:nvSpPr>
          <p:cNvPr id="27" name="Text 24"/>
          <p:cNvSpPr/>
          <p:nvPr/>
        </p:nvSpPr>
        <p:spPr>
          <a:xfrm>
            <a:off x="9509760" y="25146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a:t>
            </a:r>
            <a:endParaRPr lang="en-US" sz="950" dirty="0"/>
          </a:p>
        </p:txBody>
      </p:sp>
      <p:sp>
        <p:nvSpPr>
          <p:cNvPr id="28" name="Shape 25"/>
          <p:cNvSpPr/>
          <p:nvPr/>
        </p:nvSpPr>
        <p:spPr>
          <a:xfrm>
            <a:off x="10204704" y="2514600"/>
            <a:ext cx="740664" cy="457200"/>
          </a:xfrm>
          <a:prstGeom prst="rect">
            <a:avLst/>
          </a:prstGeom>
          <a:solidFill>
            <a:srgbClr val="FAFBFC"/>
          </a:solidFill>
          <a:ln w="12700">
            <a:solidFill>
              <a:srgbClr val="FFFFFF"/>
            </a:solidFill>
            <a:prstDash val="solid"/>
          </a:ln>
        </p:spPr>
      </p:sp>
      <p:sp>
        <p:nvSpPr>
          <p:cNvPr id="29" name="Text 26"/>
          <p:cNvSpPr/>
          <p:nvPr/>
        </p:nvSpPr>
        <p:spPr>
          <a:xfrm>
            <a:off x="10250424" y="25146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5社</a:t>
            </a:r>
            <a:endParaRPr lang="en-US" sz="950" dirty="0"/>
          </a:p>
        </p:txBody>
      </p:sp>
      <p:sp>
        <p:nvSpPr>
          <p:cNvPr id="30" name="Shape 27"/>
          <p:cNvSpPr/>
          <p:nvPr/>
        </p:nvSpPr>
        <p:spPr>
          <a:xfrm>
            <a:off x="10945368" y="2514600"/>
            <a:ext cx="740664" cy="457200"/>
          </a:xfrm>
          <a:prstGeom prst="rect">
            <a:avLst/>
          </a:prstGeom>
          <a:solidFill>
            <a:srgbClr val="FAFBFC"/>
          </a:solidFill>
          <a:ln w="12700">
            <a:solidFill>
              <a:srgbClr val="FFFFFF"/>
            </a:solidFill>
            <a:prstDash val="solid"/>
          </a:ln>
        </p:spPr>
      </p:sp>
      <p:sp>
        <p:nvSpPr>
          <p:cNvPr id="31" name="Text 28"/>
          <p:cNvSpPr/>
          <p:nvPr/>
        </p:nvSpPr>
        <p:spPr>
          <a:xfrm>
            <a:off x="10991088" y="25146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23社</a:t>
            </a:r>
            <a:endParaRPr lang="en-US" sz="950" dirty="0"/>
          </a:p>
        </p:txBody>
      </p:sp>
      <p:sp>
        <p:nvSpPr>
          <p:cNvPr id="32" name="Shape 29"/>
          <p:cNvSpPr/>
          <p:nvPr/>
        </p:nvSpPr>
        <p:spPr>
          <a:xfrm>
            <a:off x="8092440" y="2971800"/>
            <a:ext cx="1371600" cy="457200"/>
          </a:xfrm>
          <a:prstGeom prst="rect">
            <a:avLst/>
          </a:prstGeom>
          <a:solidFill>
            <a:srgbClr val="EFF4FE"/>
          </a:solidFill>
          <a:ln w="12700">
            <a:solidFill>
              <a:srgbClr val="FFFFFF"/>
            </a:solidFill>
            <a:prstDash val="solid"/>
          </a:ln>
        </p:spPr>
      </p:sp>
      <p:sp>
        <p:nvSpPr>
          <p:cNvPr id="33" name="Text 30"/>
          <p:cNvSpPr/>
          <p:nvPr/>
        </p:nvSpPr>
        <p:spPr>
          <a:xfrm>
            <a:off x="8138160" y="2971800"/>
            <a:ext cx="1280160" cy="457200"/>
          </a:xfrm>
          <a:prstGeom prst="rect">
            <a:avLst/>
          </a:prstGeom>
          <a:noFill/>
          <a:ln/>
        </p:spPr>
        <p:txBody>
          <a:bodyPr wrap="square" lIns="0" tIns="0" rIns="0" bIns="0" rtlCol="0" anchor="ctr"/>
          <a:lstStyle/>
          <a:p>
            <a:pPr algn="l" indent="0" marL="0">
              <a:buNone/>
            </a:pPr>
            <a:r>
              <a:rPr lang="en-US" sz="950" b="1" dirty="0">
                <a:solidFill>
                  <a:srgbClr val="2563EB"/>
                </a:solidFill>
                <a:latin typeface="Calibri" pitchFamily="34" charset="0"/>
                <a:ea typeface="Calibri" pitchFamily="34" charset="-122"/>
                <a:cs typeface="Calibri" pitchFamily="34" charset="-120"/>
              </a:rPr>
              <a:t>累計契約数</a:t>
            </a:r>
            <a:endParaRPr lang="en-US" sz="950" dirty="0"/>
          </a:p>
        </p:txBody>
      </p:sp>
      <p:sp>
        <p:nvSpPr>
          <p:cNvPr id="34" name="Shape 31"/>
          <p:cNvSpPr/>
          <p:nvPr/>
        </p:nvSpPr>
        <p:spPr>
          <a:xfrm>
            <a:off x="9464040" y="2971800"/>
            <a:ext cx="740664" cy="457200"/>
          </a:xfrm>
          <a:prstGeom prst="rect">
            <a:avLst/>
          </a:prstGeom>
          <a:solidFill>
            <a:srgbClr val="EFF4FE"/>
          </a:solidFill>
          <a:ln w="12700">
            <a:solidFill>
              <a:srgbClr val="FFFFFF"/>
            </a:solidFill>
            <a:prstDash val="solid"/>
          </a:ln>
        </p:spPr>
      </p:sp>
      <p:sp>
        <p:nvSpPr>
          <p:cNvPr id="35" name="Text 32"/>
          <p:cNvSpPr/>
          <p:nvPr/>
        </p:nvSpPr>
        <p:spPr>
          <a:xfrm>
            <a:off x="9509760" y="2971800"/>
            <a:ext cx="649224" cy="457200"/>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6社</a:t>
            </a:r>
            <a:endParaRPr lang="en-US" sz="950" dirty="0"/>
          </a:p>
        </p:txBody>
      </p:sp>
      <p:sp>
        <p:nvSpPr>
          <p:cNvPr id="36" name="Shape 33"/>
          <p:cNvSpPr/>
          <p:nvPr/>
        </p:nvSpPr>
        <p:spPr>
          <a:xfrm>
            <a:off x="10204704" y="2971800"/>
            <a:ext cx="740664" cy="457200"/>
          </a:xfrm>
          <a:prstGeom prst="rect">
            <a:avLst/>
          </a:prstGeom>
          <a:solidFill>
            <a:srgbClr val="EFF4FE"/>
          </a:solidFill>
          <a:ln w="12700">
            <a:solidFill>
              <a:srgbClr val="FFFFFF"/>
            </a:solidFill>
            <a:prstDash val="solid"/>
          </a:ln>
        </p:spPr>
      </p:sp>
      <p:sp>
        <p:nvSpPr>
          <p:cNvPr id="37" name="Text 34"/>
          <p:cNvSpPr/>
          <p:nvPr/>
        </p:nvSpPr>
        <p:spPr>
          <a:xfrm>
            <a:off x="10250424" y="2971800"/>
            <a:ext cx="649224" cy="457200"/>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25社</a:t>
            </a:r>
            <a:endParaRPr lang="en-US" sz="950" dirty="0"/>
          </a:p>
        </p:txBody>
      </p:sp>
      <p:sp>
        <p:nvSpPr>
          <p:cNvPr id="38" name="Shape 35"/>
          <p:cNvSpPr/>
          <p:nvPr/>
        </p:nvSpPr>
        <p:spPr>
          <a:xfrm>
            <a:off x="10945368" y="2971800"/>
            <a:ext cx="740664" cy="457200"/>
          </a:xfrm>
          <a:prstGeom prst="rect">
            <a:avLst/>
          </a:prstGeom>
          <a:solidFill>
            <a:srgbClr val="EFF4FE"/>
          </a:solidFill>
          <a:ln w="12700">
            <a:solidFill>
              <a:srgbClr val="FFFFFF"/>
            </a:solidFill>
            <a:prstDash val="solid"/>
          </a:ln>
        </p:spPr>
      </p:sp>
      <p:sp>
        <p:nvSpPr>
          <p:cNvPr id="39" name="Text 36"/>
          <p:cNvSpPr/>
          <p:nvPr/>
        </p:nvSpPr>
        <p:spPr>
          <a:xfrm>
            <a:off x="10991088" y="2971800"/>
            <a:ext cx="649224" cy="457200"/>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73社</a:t>
            </a:r>
            <a:endParaRPr lang="en-US" sz="950" dirty="0"/>
          </a:p>
        </p:txBody>
      </p:sp>
      <p:sp>
        <p:nvSpPr>
          <p:cNvPr id="40" name="Shape 37"/>
          <p:cNvSpPr/>
          <p:nvPr/>
        </p:nvSpPr>
        <p:spPr>
          <a:xfrm>
            <a:off x="8092440" y="3429000"/>
            <a:ext cx="1371600" cy="457200"/>
          </a:xfrm>
          <a:prstGeom prst="rect">
            <a:avLst/>
          </a:prstGeom>
          <a:solidFill>
            <a:srgbClr val="F3F6FA"/>
          </a:solidFill>
          <a:ln w="12700">
            <a:solidFill>
              <a:srgbClr val="FFFFFF"/>
            </a:solidFill>
            <a:prstDash val="solid"/>
          </a:ln>
        </p:spPr>
      </p:sp>
      <p:sp>
        <p:nvSpPr>
          <p:cNvPr id="41" name="Text 38"/>
          <p:cNvSpPr/>
          <p:nvPr/>
        </p:nvSpPr>
        <p:spPr>
          <a:xfrm>
            <a:off x="8138160" y="3429000"/>
            <a:ext cx="1280160" cy="457200"/>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年間売上高</a:t>
            </a:r>
            <a:endParaRPr lang="en-US" sz="950" dirty="0"/>
          </a:p>
        </p:txBody>
      </p:sp>
      <p:sp>
        <p:nvSpPr>
          <p:cNvPr id="42" name="Shape 39"/>
          <p:cNvSpPr/>
          <p:nvPr/>
        </p:nvSpPr>
        <p:spPr>
          <a:xfrm>
            <a:off x="9464040" y="3429000"/>
            <a:ext cx="740664" cy="457200"/>
          </a:xfrm>
          <a:prstGeom prst="rect">
            <a:avLst/>
          </a:prstGeom>
          <a:solidFill>
            <a:srgbClr val="FAFBFC"/>
          </a:solidFill>
          <a:ln w="12700">
            <a:solidFill>
              <a:srgbClr val="FFFFFF"/>
            </a:solidFill>
            <a:prstDash val="solid"/>
          </a:ln>
        </p:spPr>
      </p:sp>
      <p:sp>
        <p:nvSpPr>
          <p:cNvPr id="43" name="Text 40"/>
          <p:cNvSpPr/>
          <p:nvPr/>
        </p:nvSpPr>
        <p:spPr>
          <a:xfrm>
            <a:off x="9509760" y="34290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510万円</a:t>
            </a:r>
            <a:endParaRPr lang="en-US" sz="950" dirty="0"/>
          </a:p>
        </p:txBody>
      </p:sp>
      <p:sp>
        <p:nvSpPr>
          <p:cNvPr id="44" name="Shape 41"/>
          <p:cNvSpPr/>
          <p:nvPr/>
        </p:nvSpPr>
        <p:spPr>
          <a:xfrm>
            <a:off x="10204704" y="3429000"/>
            <a:ext cx="740664" cy="457200"/>
          </a:xfrm>
          <a:prstGeom prst="rect">
            <a:avLst/>
          </a:prstGeom>
          <a:solidFill>
            <a:srgbClr val="FAFBFC"/>
          </a:solidFill>
          <a:ln w="12700">
            <a:solidFill>
              <a:srgbClr val="FFFFFF"/>
            </a:solidFill>
            <a:prstDash val="solid"/>
          </a:ln>
        </p:spPr>
      </p:sp>
      <p:sp>
        <p:nvSpPr>
          <p:cNvPr id="45" name="Text 42"/>
          <p:cNvSpPr/>
          <p:nvPr/>
        </p:nvSpPr>
        <p:spPr>
          <a:xfrm>
            <a:off x="10250424" y="34290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3,050万円</a:t>
            </a:r>
            <a:endParaRPr lang="en-US" sz="950" dirty="0"/>
          </a:p>
        </p:txBody>
      </p:sp>
      <p:sp>
        <p:nvSpPr>
          <p:cNvPr id="46" name="Shape 43"/>
          <p:cNvSpPr/>
          <p:nvPr/>
        </p:nvSpPr>
        <p:spPr>
          <a:xfrm>
            <a:off x="10945368" y="3429000"/>
            <a:ext cx="740664" cy="457200"/>
          </a:xfrm>
          <a:prstGeom prst="rect">
            <a:avLst/>
          </a:prstGeom>
          <a:solidFill>
            <a:srgbClr val="FAFBFC"/>
          </a:solidFill>
          <a:ln w="12700">
            <a:solidFill>
              <a:srgbClr val="FFFFFF"/>
            </a:solidFill>
            <a:prstDash val="solid"/>
          </a:ln>
        </p:spPr>
      </p:sp>
      <p:sp>
        <p:nvSpPr>
          <p:cNvPr id="47" name="Text 44"/>
          <p:cNvSpPr/>
          <p:nvPr/>
        </p:nvSpPr>
        <p:spPr>
          <a:xfrm>
            <a:off x="10991088" y="34290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9,900万円</a:t>
            </a:r>
            <a:endParaRPr lang="en-US" sz="950" dirty="0"/>
          </a:p>
        </p:txBody>
      </p:sp>
      <p:sp>
        <p:nvSpPr>
          <p:cNvPr id="48" name="Shape 45"/>
          <p:cNvSpPr/>
          <p:nvPr/>
        </p:nvSpPr>
        <p:spPr>
          <a:xfrm>
            <a:off x="8092440" y="3886200"/>
            <a:ext cx="1371600" cy="457200"/>
          </a:xfrm>
          <a:prstGeom prst="rect">
            <a:avLst/>
          </a:prstGeom>
          <a:solidFill>
            <a:srgbClr val="F3F6FA"/>
          </a:solidFill>
          <a:ln w="12700">
            <a:solidFill>
              <a:srgbClr val="FFFFFF"/>
            </a:solidFill>
            <a:prstDash val="solid"/>
          </a:ln>
        </p:spPr>
      </p:sp>
      <p:sp>
        <p:nvSpPr>
          <p:cNvPr id="49" name="Text 46"/>
          <p:cNvSpPr/>
          <p:nvPr/>
        </p:nvSpPr>
        <p:spPr>
          <a:xfrm>
            <a:off x="8138160" y="3886200"/>
            <a:ext cx="1280160" cy="457200"/>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継続率</a:t>
            </a:r>
            <a:endParaRPr lang="en-US" sz="950" dirty="0"/>
          </a:p>
        </p:txBody>
      </p:sp>
      <p:sp>
        <p:nvSpPr>
          <p:cNvPr id="50" name="Shape 47"/>
          <p:cNvSpPr/>
          <p:nvPr/>
        </p:nvSpPr>
        <p:spPr>
          <a:xfrm>
            <a:off x="9464040" y="3886200"/>
            <a:ext cx="740664" cy="457200"/>
          </a:xfrm>
          <a:prstGeom prst="rect">
            <a:avLst/>
          </a:prstGeom>
          <a:solidFill>
            <a:srgbClr val="FFFFFF"/>
          </a:solidFill>
          <a:ln w="12700">
            <a:solidFill>
              <a:srgbClr val="FFFFFF"/>
            </a:solidFill>
            <a:prstDash val="solid"/>
          </a:ln>
        </p:spPr>
      </p:sp>
      <p:sp>
        <p:nvSpPr>
          <p:cNvPr id="51" name="Text 48"/>
          <p:cNvSpPr/>
          <p:nvPr/>
        </p:nvSpPr>
        <p:spPr>
          <a:xfrm>
            <a:off x="9509760" y="38862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―(初年度)</a:t>
            </a:r>
            <a:endParaRPr lang="en-US" sz="950" dirty="0"/>
          </a:p>
        </p:txBody>
      </p:sp>
      <p:sp>
        <p:nvSpPr>
          <p:cNvPr id="52" name="Shape 49"/>
          <p:cNvSpPr/>
          <p:nvPr/>
        </p:nvSpPr>
        <p:spPr>
          <a:xfrm>
            <a:off x="10204704" y="3886200"/>
            <a:ext cx="740664" cy="457200"/>
          </a:xfrm>
          <a:prstGeom prst="rect">
            <a:avLst/>
          </a:prstGeom>
          <a:solidFill>
            <a:srgbClr val="FFFFFF"/>
          </a:solidFill>
          <a:ln w="12700">
            <a:solidFill>
              <a:srgbClr val="FFFFFF"/>
            </a:solidFill>
            <a:prstDash val="solid"/>
          </a:ln>
        </p:spPr>
      </p:sp>
      <p:sp>
        <p:nvSpPr>
          <p:cNvPr id="53" name="Text 50"/>
          <p:cNvSpPr/>
          <p:nvPr/>
        </p:nvSpPr>
        <p:spPr>
          <a:xfrm>
            <a:off x="10250424" y="38862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83%</a:t>
            </a:r>
            <a:endParaRPr lang="en-US" sz="950" dirty="0"/>
          </a:p>
        </p:txBody>
      </p:sp>
      <p:sp>
        <p:nvSpPr>
          <p:cNvPr id="54" name="Shape 51"/>
          <p:cNvSpPr/>
          <p:nvPr/>
        </p:nvSpPr>
        <p:spPr>
          <a:xfrm>
            <a:off x="10945368" y="3886200"/>
            <a:ext cx="740664" cy="457200"/>
          </a:xfrm>
          <a:prstGeom prst="rect">
            <a:avLst/>
          </a:prstGeom>
          <a:solidFill>
            <a:srgbClr val="FFFFFF"/>
          </a:solidFill>
          <a:ln w="12700">
            <a:solidFill>
              <a:srgbClr val="FFFFFF"/>
            </a:solidFill>
            <a:prstDash val="solid"/>
          </a:ln>
        </p:spPr>
      </p:sp>
      <p:sp>
        <p:nvSpPr>
          <p:cNvPr id="55" name="Text 52"/>
          <p:cNvSpPr/>
          <p:nvPr/>
        </p:nvSpPr>
        <p:spPr>
          <a:xfrm>
            <a:off x="10991088" y="38862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90%</a:t>
            </a:r>
            <a:endParaRPr lang="en-US" sz="950" dirty="0"/>
          </a:p>
        </p:txBody>
      </p:sp>
      <p:sp>
        <p:nvSpPr>
          <p:cNvPr id="56" name="Text 53"/>
          <p:cNvSpPr/>
          <p:nvPr/>
        </p:nvSpPr>
        <p:spPr>
          <a:xfrm>
            <a:off x="8092440" y="4453128"/>
            <a:ext cx="3593592" cy="914400"/>
          </a:xfrm>
          <a:prstGeom prst="rect">
            <a:avLst/>
          </a:prstGeom>
          <a:noFill/>
          <a:ln/>
        </p:spPr>
        <p:txBody>
          <a:bodyPr wrap="square" lIns="0" tIns="0" rIns="0" bIns="0" rtlCol="0" anchor="ctr"/>
          <a:lstStyle/>
          <a:p>
            <a:pPr indent="0" marL="0">
              <a:lnSpc>
                <a:spcPct val="115000"/>
              </a:lnSpc>
              <a:buNone/>
            </a:pPr>
            <a:r>
              <a:rPr lang="en-US" sz="800" i="1" dirty="0">
                <a:solidFill>
                  <a:srgbClr val="64748B"/>
                </a:solidFill>
                <a:latin typeface="Calibri" pitchFamily="34" charset="0"/>
                <a:ea typeface="Calibri" pitchFamily="34" charset="-122"/>
                <a:cs typeface="Calibri" pitchFamily="34" charset="-120"/>
              </a:rPr>
              <a:t>※ 新規契約は年間を通じた段階的な契約開始（平均稼働月数を加味）、更新契約は満額12ヶ月分で計上。継続率はYear1→2を83%、Year2→3を90%と、事業の成熟に応じて改善する現実的な前提としています。</a:t>
            </a:r>
            <a:endParaRPr lang="en-US" sz="800" dirty="0"/>
          </a:p>
        </p:txBody>
      </p:sp>
      <p:sp>
        <p:nvSpPr>
          <p:cNvPr id="57" name="Text 54"/>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1.2</a:t>
            </a:r>
            <a:endParaRPr lang="en-US" sz="900" dirty="0"/>
          </a:p>
        </p:txBody>
      </p:sp>
      <p:sp>
        <p:nvSpPr>
          <p:cNvPr id="58" name="Text 5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COST STRUCTURE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500" b="1" dirty="0">
                <a:solidFill>
                  <a:srgbClr val="0A1B3D"/>
                </a:solidFill>
                <a:latin typeface="Cambria" pitchFamily="34" charset="0"/>
                <a:ea typeface="Cambria" pitchFamily="34" charset="-122"/>
                <a:cs typeface="Cambria" pitchFamily="34" charset="-120"/>
              </a:rPr>
              <a:t>費用計画：固定費・変動費・開発費</a:t>
            </a:r>
            <a:endParaRPr lang="en-US" sz="2500" dirty="0"/>
          </a:p>
        </p:txBody>
      </p:sp>
      <p:sp>
        <p:nvSpPr>
          <p:cNvPr id="4" name="Text 2"/>
          <p:cNvSpPr/>
          <p:nvPr/>
        </p:nvSpPr>
        <p:spPr>
          <a:xfrm>
            <a:off x="502920" y="1325880"/>
            <a:ext cx="11185855" cy="365760"/>
          </a:xfrm>
          <a:prstGeom prst="rect">
            <a:avLst/>
          </a:prstGeom>
          <a:noFill/>
          <a:ln/>
        </p:spPr>
        <p:txBody>
          <a:bodyPr wrap="square" lIns="0" tIns="0" rIns="0" bIns="0" rtlCol="0" anchor="ctr"/>
          <a:lstStyle/>
          <a:p>
            <a:pPr indent="0" marL="0">
              <a:lnSpc>
                <a:spcPct val="115000"/>
              </a:lnSpc>
              <a:buNone/>
            </a:pPr>
            <a:r>
              <a:rPr lang="en-US" sz="1050" dirty="0">
                <a:solidFill>
                  <a:srgbClr val="64748B"/>
                </a:solidFill>
                <a:latin typeface="Calibri" pitchFamily="34" charset="0"/>
                <a:ea typeface="Calibri" pitchFamily="34" charset="-122"/>
                <a:cs typeface="Calibri" pitchFamily="34" charset="-120"/>
              </a:rPr>
              <a:t>費用を①固定費（顧客数によらず一定）②変動費（顧客数・売上高に比例）③開発費（プロダクト投資）の3種類に分類しています。</a:t>
            </a:r>
            <a:endParaRPr lang="en-US" sz="1050" dirty="0"/>
          </a:p>
        </p:txBody>
      </p:sp>
      <p:graphicFrame>
        <p:nvGraphicFramePr>
          <p:cNvPr id="5" name="Chart 0" descr=""/>
          <p:cNvGraphicFramePr/>
          <p:nvPr/>
        </p:nvGraphicFramePr>
        <p:xfrm>
          <a:off x="502920" y="1828800"/>
          <a:ext cx="6766560" cy="3063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001000" y="1783080"/>
            <a:ext cx="2148840" cy="292608"/>
          </a:xfrm>
          <a:prstGeom prst="rect">
            <a:avLst/>
          </a:prstGeom>
          <a:solidFill>
            <a:srgbClr val="0A1B3D"/>
          </a:solidFill>
          <a:ln w="9525">
            <a:solidFill>
              <a:srgbClr val="F3F6FA"/>
            </a:solidFill>
            <a:prstDash val="solid"/>
          </a:ln>
        </p:spPr>
      </p:sp>
      <p:sp>
        <p:nvSpPr>
          <p:cNvPr id="7" name="Text 4"/>
          <p:cNvSpPr/>
          <p:nvPr/>
        </p:nvSpPr>
        <p:spPr>
          <a:xfrm>
            <a:off x="8037576" y="1783080"/>
            <a:ext cx="2075688" cy="292608"/>
          </a:xfrm>
          <a:prstGeom prst="rect">
            <a:avLst/>
          </a:prstGeom>
          <a:noFill/>
          <a:ln/>
        </p:spPr>
        <p:txBody>
          <a:bodyPr wrap="square" lIns="0" tIns="0" rIns="0" bIns="0" rtlCol="0" anchor="ctr"/>
          <a:lstStyle/>
          <a:p>
            <a:pPr algn="l" indent="0" marL="0">
              <a:buNone/>
            </a:pPr>
            <a:endParaRPr lang="en-US" sz="850" dirty="0"/>
          </a:p>
        </p:txBody>
      </p:sp>
      <p:sp>
        <p:nvSpPr>
          <p:cNvPr id="8" name="Shape 5"/>
          <p:cNvSpPr/>
          <p:nvPr/>
        </p:nvSpPr>
        <p:spPr>
          <a:xfrm>
            <a:off x="10149840" y="1783080"/>
            <a:ext cx="512064" cy="292608"/>
          </a:xfrm>
          <a:prstGeom prst="rect">
            <a:avLst/>
          </a:prstGeom>
          <a:solidFill>
            <a:srgbClr val="0A1B3D"/>
          </a:solidFill>
          <a:ln w="9525">
            <a:solidFill>
              <a:srgbClr val="F3F6FA"/>
            </a:solidFill>
            <a:prstDash val="solid"/>
          </a:ln>
        </p:spPr>
      </p:sp>
      <p:sp>
        <p:nvSpPr>
          <p:cNvPr id="9" name="Text 6"/>
          <p:cNvSpPr/>
          <p:nvPr/>
        </p:nvSpPr>
        <p:spPr>
          <a:xfrm>
            <a:off x="10186416" y="1783080"/>
            <a:ext cx="43891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Y1</a:t>
            </a:r>
            <a:endParaRPr lang="en-US" sz="850" dirty="0"/>
          </a:p>
        </p:txBody>
      </p:sp>
      <p:sp>
        <p:nvSpPr>
          <p:cNvPr id="10" name="Shape 7"/>
          <p:cNvSpPr/>
          <p:nvPr/>
        </p:nvSpPr>
        <p:spPr>
          <a:xfrm>
            <a:off x="10661904" y="1783080"/>
            <a:ext cx="512064" cy="292608"/>
          </a:xfrm>
          <a:prstGeom prst="rect">
            <a:avLst/>
          </a:prstGeom>
          <a:solidFill>
            <a:srgbClr val="0A1B3D"/>
          </a:solidFill>
          <a:ln w="9525">
            <a:solidFill>
              <a:srgbClr val="F3F6FA"/>
            </a:solidFill>
            <a:prstDash val="solid"/>
          </a:ln>
        </p:spPr>
      </p:sp>
      <p:sp>
        <p:nvSpPr>
          <p:cNvPr id="11" name="Text 8"/>
          <p:cNvSpPr/>
          <p:nvPr/>
        </p:nvSpPr>
        <p:spPr>
          <a:xfrm>
            <a:off x="10698480" y="1783080"/>
            <a:ext cx="43891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Y2</a:t>
            </a:r>
            <a:endParaRPr lang="en-US" sz="850" dirty="0"/>
          </a:p>
        </p:txBody>
      </p:sp>
      <p:sp>
        <p:nvSpPr>
          <p:cNvPr id="12" name="Shape 9"/>
          <p:cNvSpPr/>
          <p:nvPr/>
        </p:nvSpPr>
        <p:spPr>
          <a:xfrm>
            <a:off x="11173968" y="1783080"/>
            <a:ext cx="512064" cy="292608"/>
          </a:xfrm>
          <a:prstGeom prst="rect">
            <a:avLst/>
          </a:prstGeom>
          <a:solidFill>
            <a:srgbClr val="0A1B3D"/>
          </a:solidFill>
          <a:ln w="9525">
            <a:solidFill>
              <a:srgbClr val="F3F6FA"/>
            </a:solidFill>
            <a:prstDash val="solid"/>
          </a:ln>
        </p:spPr>
      </p:sp>
      <p:sp>
        <p:nvSpPr>
          <p:cNvPr id="13" name="Text 10"/>
          <p:cNvSpPr/>
          <p:nvPr/>
        </p:nvSpPr>
        <p:spPr>
          <a:xfrm>
            <a:off x="11210544" y="1783080"/>
            <a:ext cx="43891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Y3</a:t>
            </a:r>
            <a:endParaRPr lang="en-US" sz="850" dirty="0"/>
          </a:p>
        </p:txBody>
      </p:sp>
      <p:sp>
        <p:nvSpPr>
          <p:cNvPr id="14" name="Shape 11"/>
          <p:cNvSpPr/>
          <p:nvPr/>
        </p:nvSpPr>
        <p:spPr>
          <a:xfrm>
            <a:off x="8001000" y="2075688"/>
            <a:ext cx="2148840" cy="292608"/>
          </a:xfrm>
          <a:prstGeom prst="rect">
            <a:avLst/>
          </a:prstGeom>
          <a:solidFill>
            <a:srgbClr val="F0F3F8"/>
          </a:solidFill>
          <a:ln w="9525">
            <a:solidFill>
              <a:srgbClr val="F3F6FA"/>
            </a:solidFill>
            <a:prstDash val="solid"/>
          </a:ln>
        </p:spPr>
      </p:sp>
      <p:sp>
        <p:nvSpPr>
          <p:cNvPr id="15" name="Text 12"/>
          <p:cNvSpPr/>
          <p:nvPr/>
        </p:nvSpPr>
        <p:spPr>
          <a:xfrm>
            <a:off x="8037576" y="2075688"/>
            <a:ext cx="2075688" cy="292608"/>
          </a:xfrm>
          <a:prstGeom prst="rect">
            <a:avLst/>
          </a:prstGeom>
          <a:noFill/>
          <a:ln/>
        </p:spPr>
        <p:txBody>
          <a:bodyPr wrap="square" lIns="0" tIns="0" rIns="0" bIns="0"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①固定費 計</a:t>
            </a:r>
            <a:endParaRPr lang="en-US" sz="800" dirty="0"/>
          </a:p>
        </p:txBody>
      </p:sp>
      <p:sp>
        <p:nvSpPr>
          <p:cNvPr id="16" name="Shape 13"/>
          <p:cNvSpPr/>
          <p:nvPr/>
        </p:nvSpPr>
        <p:spPr>
          <a:xfrm>
            <a:off x="10149840" y="2075688"/>
            <a:ext cx="512064" cy="292608"/>
          </a:xfrm>
          <a:prstGeom prst="rect">
            <a:avLst/>
          </a:prstGeom>
          <a:solidFill>
            <a:srgbClr val="F0F3F8"/>
          </a:solidFill>
          <a:ln w="9525">
            <a:solidFill>
              <a:srgbClr val="F3F6FA"/>
            </a:solidFill>
            <a:prstDash val="solid"/>
          </a:ln>
        </p:spPr>
      </p:sp>
      <p:sp>
        <p:nvSpPr>
          <p:cNvPr id="17" name="Text 14"/>
          <p:cNvSpPr/>
          <p:nvPr/>
        </p:nvSpPr>
        <p:spPr>
          <a:xfrm>
            <a:off x="10186416" y="2075688"/>
            <a:ext cx="438912" cy="29260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730</a:t>
            </a:r>
            <a:endParaRPr lang="en-US" sz="800" dirty="0"/>
          </a:p>
        </p:txBody>
      </p:sp>
      <p:sp>
        <p:nvSpPr>
          <p:cNvPr id="18" name="Shape 15"/>
          <p:cNvSpPr/>
          <p:nvPr/>
        </p:nvSpPr>
        <p:spPr>
          <a:xfrm>
            <a:off x="10661904" y="2075688"/>
            <a:ext cx="512064" cy="292608"/>
          </a:xfrm>
          <a:prstGeom prst="rect">
            <a:avLst/>
          </a:prstGeom>
          <a:solidFill>
            <a:srgbClr val="F0F3F8"/>
          </a:solidFill>
          <a:ln w="9525">
            <a:solidFill>
              <a:srgbClr val="F3F6FA"/>
            </a:solidFill>
            <a:prstDash val="solid"/>
          </a:ln>
        </p:spPr>
      </p:sp>
      <p:sp>
        <p:nvSpPr>
          <p:cNvPr id="19" name="Text 16"/>
          <p:cNvSpPr/>
          <p:nvPr/>
        </p:nvSpPr>
        <p:spPr>
          <a:xfrm>
            <a:off x="10698480" y="2075688"/>
            <a:ext cx="438912" cy="29260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1,560</a:t>
            </a:r>
            <a:endParaRPr lang="en-US" sz="800" dirty="0"/>
          </a:p>
        </p:txBody>
      </p:sp>
      <p:sp>
        <p:nvSpPr>
          <p:cNvPr id="20" name="Shape 17"/>
          <p:cNvSpPr/>
          <p:nvPr/>
        </p:nvSpPr>
        <p:spPr>
          <a:xfrm>
            <a:off x="11173968" y="2075688"/>
            <a:ext cx="512064" cy="292608"/>
          </a:xfrm>
          <a:prstGeom prst="rect">
            <a:avLst/>
          </a:prstGeom>
          <a:solidFill>
            <a:srgbClr val="F0F3F8"/>
          </a:solidFill>
          <a:ln w="9525">
            <a:solidFill>
              <a:srgbClr val="F3F6FA"/>
            </a:solidFill>
            <a:prstDash val="solid"/>
          </a:ln>
        </p:spPr>
      </p:sp>
      <p:sp>
        <p:nvSpPr>
          <p:cNvPr id="21" name="Text 18"/>
          <p:cNvSpPr/>
          <p:nvPr/>
        </p:nvSpPr>
        <p:spPr>
          <a:xfrm>
            <a:off x="11210544" y="2075688"/>
            <a:ext cx="438912" cy="29260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3,055</a:t>
            </a:r>
            <a:endParaRPr lang="en-US" sz="800" dirty="0"/>
          </a:p>
        </p:txBody>
      </p:sp>
      <p:sp>
        <p:nvSpPr>
          <p:cNvPr id="22" name="Shape 19"/>
          <p:cNvSpPr/>
          <p:nvPr/>
        </p:nvSpPr>
        <p:spPr>
          <a:xfrm>
            <a:off x="8001000" y="2368296"/>
            <a:ext cx="2148840" cy="256032"/>
          </a:xfrm>
          <a:prstGeom prst="rect">
            <a:avLst/>
          </a:prstGeom>
          <a:solidFill>
            <a:srgbClr val="FFFFFF"/>
          </a:solidFill>
          <a:ln w="9525">
            <a:solidFill>
              <a:srgbClr val="F3F6FA"/>
            </a:solidFill>
            <a:prstDash val="solid"/>
          </a:ln>
        </p:spPr>
      </p:sp>
      <p:sp>
        <p:nvSpPr>
          <p:cNvPr id="23" name="Text 20"/>
          <p:cNvSpPr/>
          <p:nvPr/>
        </p:nvSpPr>
        <p:spPr>
          <a:xfrm>
            <a:off x="8037576" y="2368296"/>
            <a:ext cx="2075688" cy="256032"/>
          </a:xfrm>
          <a:prstGeom prst="rect">
            <a:avLst/>
          </a:prstGeom>
          <a:noFill/>
          <a:ln/>
        </p:spPr>
        <p:txBody>
          <a:bodyPr wrap="square" lIns="0" tIns="0" rIns="0" bIns="0" rtlCol="0" anchor="ctr"/>
          <a:lstStyle/>
          <a:p>
            <a:pPr algn="l" indent="0" marL="0">
              <a:buNone/>
            </a:pPr>
            <a:r>
              <a:rPr lang="en-US" sz="700" dirty="0">
                <a:solidFill>
                  <a:srgbClr val="64748B"/>
                </a:solidFill>
                <a:latin typeface="Calibri" pitchFamily="34" charset="0"/>
                <a:ea typeface="Calibri" pitchFamily="34" charset="-122"/>
                <a:cs typeface="Calibri" pitchFamily="34" charset="-120"/>
              </a:rPr>
              <a:t>　人件費</a:t>
            </a:r>
            <a:endParaRPr lang="en-US" sz="700" dirty="0"/>
          </a:p>
        </p:txBody>
      </p:sp>
      <p:sp>
        <p:nvSpPr>
          <p:cNvPr id="24" name="Shape 21"/>
          <p:cNvSpPr/>
          <p:nvPr/>
        </p:nvSpPr>
        <p:spPr>
          <a:xfrm>
            <a:off x="10149840" y="2368296"/>
            <a:ext cx="512064" cy="256032"/>
          </a:xfrm>
          <a:prstGeom prst="rect">
            <a:avLst/>
          </a:prstGeom>
          <a:solidFill>
            <a:srgbClr val="FFFFFF"/>
          </a:solidFill>
          <a:ln w="9525">
            <a:solidFill>
              <a:srgbClr val="F3F6FA"/>
            </a:solidFill>
            <a:prstDash val="solid"/>
          </a:ln>
        </p:spPr>
      </p:sp>
      <p:sp>
        <p:nvSpPr>
          <p:cNvPr id="25" name="Text 22"/>
          <p:cNvSpPr/>
          <p:nvPr/>
        </p:nvSpPr>
        <p:spPr>
          <a:xfrm>
            <a:off x="10186416" y="2368296"/>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600</a:t>
            </a:r>
            <a:endParaRPr lang="en-US" sz="700" dirty="0"/>
          </a:p>
        </p:txBody>
      </p:sp>
      <p:sp>
        <p:nvSpPr>
          <p:cNvPr id="26" name="Shape 23"/>
          <p:cNvSpPr/>
          <p:nvPr/>
        </p:nvSpPr>
        <p:spPr>
          <a:xfrm>
            <a:off x="10661904" y="2368296"/>
            <a:ext cx="512064" cy="256032"/>
          </a:xfrm>
          <a:prstGeom prst="rect">
            <a:avLst/>
          </a:prstGeom>
          <a:solidFill>
            <a:srgbClr val="FFFFFF"/>
          </a:solidFill>
          <a:ln w="9525">
            <a:solidFill>
              <a:srgbClr val="F3F6FA"/>
            </a:solidFill>
            <a:prstDash val="solid"/>
          </a:ln>
        </p:spPr>
      </p:sp>
      <p:sp>
        <p:nvSpPr>
          <p:cNvPr id="27" name="Text 24"/>
          <p:cNvSpPr/>
          <p:nvPr/>
        </p:nvSpPr>
        <p:spPr>
          <a:xfrm>
            <a:off x="10698480" y="2368296"/>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1,300</a:t>
            </a:r>
            <a:endParaRPr lang="en-US" sz="700" dirty="0"/>
          </a:p>
        </p:txBody>
      </p:sp>
      <p:sp>
        <p:nvSpPr>
          <p:cNvPr id="28" name="Shape 25"/>
          <p:cNvSpPr/>
          <p:nvPr/>
        </p:nvSpPr>
        <p:spPr>
          <a:xfrm>
            <a:off x="11173968" y="2368296"/>
            <a:ext cx="512064" cy="256032"/>
          </a:xfrm>
          <a:prstGeom prst="rect">
            <a:avLst/>
          </a:prstGeom>
          <a:solidFill>
            <a:srgbClr val="FFFFFF"/>
          </a:solidFill>
          <a:ln w="9525">
            <a:solidFill>
              <a:srgbClr val="F3F6FA"/>
            </a:solidFill>
            <a:prstDash val="solid"/>
          </a:ln>
        </p:spPr>
      </p:sp>
      <p:sp>
        <p:nvSpPr>
          <p:cNvPr id="29" name="Text 26"/>
          <p:cNvSpPr/>
          <p:nvPr/>
        </p:nvSpPr>
        <p:spPr>
          <a:xfrm>
            <a:off x="11210544" y="2368296"/>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2,600</a:t>
            </a:r>
            <a:endParaRPr lang="en-US" sz="700" dirty="0"/>
          </a:p>
        </p:txBody>
      </p:sp>
      <p:sp>
        <p:nvSpPr>
          <p:cNvPr id="30" name="Shape 27"/>
          <p:cNvSpPr/>
          <p:nvPr/>
        </p:nvSpPr>
        <p:spPr>
          <a:xfrm>
            <a:off x="8001000" y="2624328"/>
            <a:ext cx="2148840" cy="256032"/>
          </a:xfrm>
          <a:prstGeom prst="rect">
            <a:avLst/>
          </a:prstGeom>
          <a:solidFill>
            <a:srgbClr val="FFFFFF"/>
          </a:solidFill>
          <a:ln w="9525">
            <a:solidFill>
              <a:srgbClr val="F3F6FA"/>
            </a:solidFill>
            <a:prstDash val="solid"/>
          </a:ln>
        </p:spPr>
      </p:sp>
      <p:sp>
        <p:nvSpPr>
          <p:cNvPr id="31" name="Text 28"/>
          <p:cNvSpPr/>
          <p:nvPr/>
        </p:nvSpPr>
        <p:spPr>
          <a:xfrm>
            <a:off x="8037576" y="2624328"/>
            <a:ext cx="2075688" cy="256032"/>
          </a:xfrm>
          <a:prstGeom prst="rect">
            <a:avLst/>
          </a:prstGeom>
          <a:noFill/>
          <a:ln/>
        </p:spPr>
        <p:txBody>
          <a:bodyPr wrap="square" lIns="0" tIns="0" rIns="0" bIns="0" rtlCol="0" anchor="ctr"/>
          <a:lstStyle/>
          <a:p>
            <a:pPr algn="l" indent="0" marL="0">
              <a:buNone/>
            </a:pPr>
            <a:r>
              <a:rPr lang="en-US" sz="700" dirty="0">
                <a:solidFill>
                  <a:srgbClr val="64748B"/>
                </a:solidFill>
                <a:latin typeface="Calibri" pitchFamily="34" charset="0"/>
                <a:ea typeface="Calibri" pitchFamily="34" charset="-122"/>
                <a:cs typeface="Calibri" pitchFamily="34" charset="-120"/>
              </a:rPr>
              <a:t>　家賃・通信・保険・管理費</a:t>
            </a:r>
            <a:endParaRPr lang="en-US" sz="700" dirty="0"/>
          </a:p>
        </p:txBody>
      </p:sp>
      <p:sp>
        <p:nvSpPr>
          <p:cNvPr id="32" name="Shape 29"/>
          <p:cNvSpPr/>
          <p:nvPr/>
        </p:nvSpPr>
        <p:spPr>
          <a:xfrm>
            <a:off x="10149840" y="2624328"/>
            <a:ext cx="512064" cy="256032"/>
          </a:xfrm>
          <a:prstGeom prst="rect">
            <a:avLst/>
          </a:prstGeom>
          <a:solidFill>
            <a:srgbClr val="FFFFFF"/>
          </a:solidFill>
          <a:ln w="9525">
            <a:solidFill>
              <a:srgbClr val="F3F6FA"/>
            </a:solidFill>
            <a:prstDash val="solid"/>
          </a:ln>
        </p:spPr>
      </p:sp>
      <p:sp>
        <p:nvSpPr>
          <p:cNvPr id="33" name="Text 30"/>
          <p:cNvSpPr/>
          <p:nvPr/>
        </p:nvSpPr>
        <p:spPr>
          <a:xfrm>
            <a:off x="10186416" y="2624328"/>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130</a:t>
            </a:r>
            <a:endParaRPr lang="en-US" sz="700" dirty="0"/>
          </a:p>
        </p:txBody>
      </p:sp>
      <p:sp>
        <p:nvSpPr>
          <p:cNvPr id="34" name="Shape 31"/>
          <p:cNvSpPr/>
          <p:nvPr/>
        </p:nvSpPr>
        <p:spPr>
          <a:xfrm>
            <a:off x="10661904" y="2624328"/>
            <a:ext cx="512064" cy="256032"/>
          </a:xfrm>
          <a:prstGeom prst="rect">
            <a:avLst/>
          </a:prstGeom>
          <a:solidFill>
            <a:srgbClr val="FFFFFF"/>
          </a:solidFill>
          <a:ln w="9525">
            <a:solidFill>
              <a:srgbClr val="F3F6FA"/>
            </a:solidFill>
            <a:prstDash val="solid"/>
          </a:ln>
        </p:spPr>
      </p:sp>
      <p:sp>
        <p:nvSpPr>
          <p:cNvPr id="35" name="Text 32"/>
          <p:cNvSpPr/>
          <p:nvPr/>
        </p:nvSpPr>
        <p:spPr>
          <a:xfrm>
            <a:off x="10698480" y="2624328"/>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260</a:t>
            </a:r>
            <a:endParaRPr lang="en-US" sz="700" dirty="0"/>
          </a:p>
        </p:txBody>
      </p:sp>
      <p:sp>
        <p:nvSpPr>
          <p:cNvPr id="36" name="Shape 33"/>
          <p:cNvSpPr/>
          <p:nvPr/>
        </p:nvSpPr>
        <p:spPr>
          <a:xfrm>
            <a:off x="11173968" y="2624328"/>
            <a:ext cx="512064" cy="256032"/>
          </a:xfrm>
          <a:prstGeom prst="rect">
            <a:avLst/>
          </a:prstGeom>
          <a:solidFill>
            <a:srgbClr val="FFFFFF"/>
          </a:solidFill>
          <a:ln w="9525">
            <a:solidFill>
              <a:srgbClr val="F3F6FA"/>
            </a:solidFill>
            <a:prstDash val="solid"/>
          </a:ln>
        </p:spPr>
      </p:sp>
      <p:sp>
        <p:nvSpPr>
          <p:cNvPr id="37" name="Text 34"/>
          <p:cNvSpPr/>
          <p:nvPr/>
        </p:nvSpPr>
        <p:spPr>
          <a:xfrm>
            <a:off x="11210544" y="2624328"/>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455</a:t>
            </a:r>
            <a:endParaRPr lang="en-US" sz="700" dirty="0"/>
          </a:p>
        </p:txBody>
      </p:sp>
      <p:sp>
        <p:nvSpPr>
          <p:cNvPr id="38" name="Shape 35"/>
          <p:cNvSpPr/>
          <p:nvPr/>
        </p:nvSpPr>
        <p:spPr>
          <a:xfrm>
            <a:off x="8001000" y="2880360"/>
            <a:ext cx="2148840" cy="292608"/>
          </a:xfrm>
          <a:prstGeom prst="rect">
            <a:avLst/>
          </a:prstGeom>
          <a:solidFill>
            <a:srgbClr val="F0F3F8"/>
          </a:solidFill>
          <a:ln w="9525">
            <a:solidFill>
              <a:srgbClr val="F3F6FA"/>
            </a:solidFill>
            <a:prstDash val="solid"/>
          </a:ln>
        </p:spPr>
      </p:sp>
      <p:sp>
        <p:nvSpPr>
          <p:cNvPr id="39" name="Text 36"/>
          <p:cNvSpPr/>
          <p:nvPr/>
        </p:nvSpPr>
        <p:spPr>
          <a:xfrm>
            <a:off x="8037576" y="2880360"/>
            <a:ext cx="2075688" cy="292608"/>
          </a:xfrm>
          <a:prstGeom prst="rect">
            <a:avLst/>
          </a:prstGeom>
          <a:noFill/>
          <a:ln/>
        </p:spPr>
        <p:txBody>
          <a:bodyPr wrap="square" lIns="0" tIns="0" rIns="0" bIns="0"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②変動費 計</a:t>
            </a:r>
            <a:endParaRPr lang="en-US" sz="800" dirty="0"/>
          </a:p>
        </p:txBody>
      </p:sp>
      <p:sp>
        <p:nvSpPr>
          <p:cNvPr id="40" name="Shape 37"/>
          <p:cNvSpPr/>
          <p:nvPr/>
        </p:nvSpPr>
        <p:spPr>
          <a:xfrm>
            <a:off x="10149840" y="2880360"/>
            <a:ext cx="512064" cy="292608"/>
          </a:xfrm>
          <a:prstGeom prst="rect">
            <a:avLst/>
          </a:prstGeom>
          <a:solidFill>
            <a:srgbClr val="F0F3F8"/>
          </a:solidFill>
          <a:ln w="9525">
            <a:solidFill>
              <a:srgbClr val="F3F6FA"/>
            </a:solidFill>
            <a:prstDash val="solid"/>
          </a:ln>
        </p:spPr>
      </p:sp>
      <p:sp>
        <p:nvSpPr>
          <p:cNvPr id="41" name="Text 38"/>
          <p:cNvSpPr/>
          <p:nvPr/>
        </p:nvSpPr>
        <p:spPr>
          <a:xfrm>
            <a:off x="10186416" y="2880360"/>
            <a:ext cx="438912" cy="29260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129</a:t>
            </a:r>
            <a:endParaRPr lang="en-US" sz="800" dirty="0"/>
          </a:p>
        </p:txBody>
      </p:sp>
      <p:sp>
        <p:nvSpPr>
          <p:cNvPr id="42" name="Shape 39"/>
          <p:cNvSpPr/>
          <p:nvPr/>
        </p:nvSpPr>
        <p:spPr>
          <a:xfrm>
            <a:off x="10661904" y="2880360"/>
            <a:ext cx="512064" cy="292608"/>
          </a:xfrm>
          <a:prstGeom prst="rect">
            <a:avLst/>
          </a:prstGeom>
          <a:solidFill>
            <a:srgbClr val="F0F3F8"/>
          </a:solidFill>
          <a:ln w="9525">
            <a:solidFill>
              <a:srgbClr val="F3F6FA"/>
            </a:solidFill>
            <a:prstDash val="solid"/>
          </a:ln>
        </p:spPr>
      </p:sp>
      <p:sp>
        <p:nvSpPr>
          <p:cNvPr id="43" name="Text 40"/>
          <p:cNvSpPr/>
          <p:nvPr/>
        </p:nvSpPr>
        <p:spPr>
          <a:xfrm>
            <a:off x="10698480" y="2880360"/>
            <a:ext cx="438912" cy="29260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503</a:t>
            </a:r>
            <a:endParaRPr lang="en-US" sz="800" dirty="0"/>
          </a:p>
        </p:txBody>
      </p:sp>
      <p:sp>
        <p:nvSpPr>
          <p:cNvPr id="44" name="Shape 41"/>
          <p:cNvSpPr/>
          <p:nvPr/>
        </p:nvSpPr>
        <p:spPr>
          <a:xfrm>
            <a:off x="11173968" y="2880360"/>
            <a:ext cx="512064" cy="292608"/>
          </a:xfrm>
          <a:prstGeom prst="rect">
            <a:avLst/>
          </a:prstGeom>
          <a:solidFill>
            <a:srgbClr val="F0F3F8"/>
          </a:solidFill>
          <a:ln w="9525">
            <a:solidFill>
              <a:srgbClr val="F3F6FA"/>
            </a:solidFill>
            <a:prstDash val="solid"/>
          </a:ln>
        </p:spPr>
      </p:sp>
      <p:sp>
        <p:nvSpPr>
          <p:cNvPr id="45" name="Text 42"/>
          <p:cNvSpPr/>
          <p:nvPr/>
        </p:nvSpPr>
        <p:spPr>
          <a:xfrm>
            <a:off x="11210544" y="2880360"/>
            <a:ext cx="438912" cy="29260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1,513</a:t>
            </a:r>
            <a:endParaRPr lang="en-US" sz="800" dirty="0"/>
          </a:p>
        </p:txBody>
      </p:sp>
      <p:sp>
        <p:nvSpPr>
          <p:cNvPr id="46" name="Shape 43"/>
          <p:cNvSpPr/>
          <p:nvPr/>
        </p:nvSpPr>
        <p:spPr>
          <a:xfrm>
            <a:off x="8001000" y="3172968"/>
            <a:ext cx="2148840" cy="256032"/>
          </a:xfrm>
          <a:prstGeom prst="rect">
            <a:avLst/>
          </a:prstGeom>
          <a:solidFill>
            <a:srgbClr val="FFFFFF"/>
          </a:solidFill>
          <a:ln w="9525">
            <a:solidFill>
              <a:srgbClr val="F3F6FA"/>
            </a:solidFill>
            <a:prstDash val="solid"/>
          </a:ln>
        </p:spPr>
      </p:sp>
      <p:sp>
        <p:nvSpPr>
          <p:cNvPr id="47" name="Text 44"/>
          <p:cNvSpPr/>
          <p:nvPr/>
        </p:nvSpPr>
        <p:spPr>
          <a:xfrm>
            <a:off x="8037576" y="3172968"/>
            <a:ext cx="2075688" cy="256032"/>
          </a:xfrm>
          <a:prstGeom prst="rect">
            <a:avLst/>
          </a:prstGeom>
          <a:noFill/>
          <a:ln/>
        </p:spPr>
        <p:txBody>
          <a:bodyPr wrap="square" lIns="0" tIns="0" rIns="0" bIns="0" rtlCol="0" anchor="ctr"/>
          <a:lstStyle/>
          <a:p>
            <a:pPr algn="l" indent="0" marL="0">
              <a:buNone/>
            </a:pPr>
            <a:r>
              <a:rPr lang="en-US" sz="700" dirty="0">
                <a:solidFill>
                  <a:srgbClr val="64748B"/>
                </a:solidFill>
                <a:latin typeface="Calibri" pitchFamily="34" charset="0"/>
                <a:ea typeface="Calibri" pitchFamily="34" charset="-122"/>
                <a:cs typeface="Calibri" pitchFamily="34" charset="-120"/>
              </a:rPr>
              <a:t>　サーバー費(XServer等)</a:t>
            </a:r>
            <a:endParaRPr lang="en-US" sz="700" dirty="0"/>
          </a:p>
        </p:txBody>
      </p:sp>
      <p:sp>
        <p:nvSpPr>
          <p:cNvPr id="48" name="Shape 45"/>
          <p:cNvSpPr/>
          <p:nvPr/>
        </p:nvSpPr>
        <p:spPr>
          <a:xfrm>
            <a:off x="10149840" y="3172968"/>
            <a:ext cx="512064" cy="256032"/>
          </a:xfrm>
          <a:prstGeom prst="rect">
            <a:avLst/>
          </a:prstGeom>
          <a:solidFill>
            <a:srgbClr val="FFFFFF"/>
          </a:solidFill>
          <a:ln w="9525">
            <a:solidFill>
              <a:srgbClr val="F3F6FA"/>
            </a:solidFill>
            <a:prstDash val="solid"/>
          </a:ln>
        </p:spPr>
      </p:sp>
      <p:sp>
        <p:nvSpPr>
          <p:cNvPr id="49" name="Text 46"/>
          <p:cNvSpPr/>
          <p:nvPr/>
        </p:nvSpPr>
        <p:spPr>
          <a:xfrm>
            <a:off x="10186416" y="3172968"/>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25</a:t>
            </a:r>
            <a:endParaRPr lang="en-US" sz="700" dirty="0"/>
          </a:p>
        </p:txBody>
      </p:sp>
      <p:sp>
        <p:nvSpPr>
          <p:cNvPr id="50" name="Shape 47"/>
          <p:cNvSpPr/>
          <p:nvPr/>
        </p:nvSpPr>
        <p:spPr>
          <a:xfrm>
            <a:off x="10661904" y="3172968"/>
            <a:ext cx="512064" cy="256032"/>
          </a:xfrm>
          <a:prstGeom prst="rect">
            <a:avLst/>
          </a:prstGeom>
          <a:solidFill>
            <a:srgbClr val="FFFFFF"/>
          </a:solidFill>
          <a:ln w="9525">
            <a:solidFill>
              <a:srgbClr val="F3F6FA"/>
            </a:solidFill>
            <a:prstDash val="solid"/>
          </a:ln>
        </p:spPr>
      </p:sp>
      <p:sp>
        <p:nvSpPr>
          <p:cNvPr id="51" name="Text 48"/>
          <p:cNvSpPr/>
          <p:nvPr/>
        </p:nvSpPr>
        <p:spPr>
          <a:xfrm>
            <a:off x="10698480" y="3172968"/>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43</a:t>
            </a:r>
            <a:endParaRPr lang="en-US" sz="700" dirty="0"/>
          </a:p>
        </p:txBody>
      </p:sp>
      <p:sp>
        <p:nvSpPr>
          <p:cNvPr id="52" name="Shape 49"/>
          <p:cNvSpPr/>
          <p:nvPr/>
        </p:nvSpPr>
        <p:spPr>
          <a:xfrm>
            <a:off x="11173968" y="3172968"/>
            <a:ext cx="512064" cy="256032"/>
          </a:xfrm>
          <a:prstGeom prst="rect">
            <a:avLst/>
          </a:prstGeom>
          <a:solidFill>
            <a:srgbClr val="FFFFFF"/>
          </a:solidFill>
          <a:ln w="9525">
            <a:solidFill>
              <a:srgbClr val="F3F6FA"/>
            </a:solidFill>
            <a:prstDash val="solid"/>
          </a:ln>
        </p:spPr>
      </p:sp>
      <p:sp>
        <p:nvSpPr>
          <p:cNvPr id="53" name="Text 50"/>
          <p:cNvSpPr/>
          <p:nvPr/>
        </p:nvSpPr>
        <p:spPr>
          <a:xfrm>
            <a:off x="11210544" y="3172968"/>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78</a:t>
            </a:r>
            <a:endParaRPr lang="en-US" sz="700" dirty="0"/>
          </a:p>
        </p:txBody>
      </p:sp>
      <p:sp>
        <p:nvSpPr>
          <p:cNvPr id="54" name="Shape 51"/>
          <p:cNvSpPr/>
          <p:nvPr/>
        </p:nvSpPr>
        <p:spPr>
          <a:xfrm>
            <a:off x="8001000" y="3429000"/>
            <a:ext cx="2148840" cy="256032"/>
          </a:xfrm>
          <a:prstGeom prst="rect">
            <a:avLst/>
          </a:prstGeom>
          <a:solidFill>
            <a:srgbClr val="FFFFFF"/>
          </a:solidFill>
          <a:ln w="9525">
            <a:solidFill>
              <a:srgbClr val="F3F6FA"/>
            </a:solidFill>
            <a:prstDash val="solid"/>
          </a:ln>
        </p:spPr>
      </p:sp>
      <p:sp>
        <p:nvSpPr>
          <p:cNvPr id="55" name="Text 52"/>
          <p:cNvSpPr/>
          <p:nvPr/>
        </p:nvSpPr>
        <p:spPr>
          <a:xfrm>
            <a:off x="8037576" y="3429000"/>
            <a:ext cx="2075688" cy="256032"/>
          </a:xfrm>
          <a:prstGeom prst="rect">
            <a:avLst/>
          </a:prstGeom>
          <a:noFill/>
          <a:ln/>
        </p:spPr>
        <p:txBody>
          <a:bodyPr wrap="square" lIns="0" tIns="0" rIns="0" bIns="0" rtlCol="0" anchor="ctr"/>
          <a:lstStyle/>
          <a:p>
            <a:pPr algn="l" indent="0" marL="0">
              <a:buNone/>
            </a:pPr>
            <a:r>
              <a:rPr lang="en-US" sz="700" dirty="0">
                <a:solidFill>
                  <a:srgbClr val="64748B"/>
                </a:solidFill>
                <a:latin typeface="Calibri" pitchFamily="34" charset="0"/>
                <a:ea typeface="Calibri" pitchFamily="34" charset="-122"/>
                <a:cs typeface="Calibri" pitchFamily="34" charset="-120"/>
              </a:rPr>
              <a:t>　AI API費</a:t>
            </a:r>
            <a:endParaRPr lang="en-US" sz="700" dirty="0"/>
          </a:p>
        </p:txBody>
      </p:sp>
      <p:sp>
        <p:nvSpPr>
          <p:cNvPr id="56" name="Shape 53"/>
          <p:cNvSpPr/>
          <p:nvPr/>
        </p:nvSpPr>
        <p:spPr>
          <a:xfrm>
            <a:off x="10149840" y="3429000"/>
            <a:ext cx="512064" cy="256032"/>
          </a:xfrm>
          <a:prstGeom prst="rect">
            <a:avLst/>
          </a:prstGeom>
          <a:solidFill>
            <a:srgbClr val="FFFFFF"/>
          </a:solidFill>
          <a:ln w="9525">
            <a:solidFill>
              <a:srgbClr val="F3F6FA"/>
            </a:solidFill>
            <a:prstDash val="solid"/>
          </a:ln>
        </p:spPr>
      </p:sp>
      <p:sp>
        <p:nvSpPr>
          <p:cNvPr id="57" name="Text 54"/>
          <p:cNvSpPr/>
          <p:nvPr/>
        </p:nvSpPr>
        <p:spPr>
          <a:xfrm>
            <a:off x="10186416" y="3429000"/>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25</a:t>
            </a:r>
            <a:endParaRPr lang="en-US" sz="700" dirty="0"/>
          </a:p>
        </p:txBody>
      </p:sp>
      <p:sp>
        <p:nvSpPr>
          <p:cNvPr id="58" name="Shape 55"/>
          <p:cNvSpPr/>
          <p:nvPr/>
        </p:nvSpPr>
        <p:spPr>
          <a:xfrm>
            <a:off x="10661904" y="3429000"/>
            <a:ext cx="512064" cy="256032"/>
          </a:xfrm>
          <a:prstGeom prst="rect">
            <a:avLst/>
          </a:prstGeom>
          <a:solidFill>
            <a:srgbClr val="FFFFFF"/>
          </a:solidFill>
          <a:ln w="9525">
            <a:solidFill>
              <a:srgbClr val="F3F6FA"/>
            </a:solidFill>
            <a:prstDash val="solid"/>
          </a:ln>
        </p:spPr>
      </p:sp>
      <p:sp>
        <p:nvSpPr>
          <p:cNvPr id="59" name="Text 56"/>
          <p:cNvSpPr/>
          <p:nvPr/>
        </p:nvSpPr>
        <p:spPr>
          <a:xfrm>
            <a:off x="10698480" y="3429000"/>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150</a:t>
            </a:r>
            <a:endParaRPr lang="en-US" sz="700" dirty="0"/>
          </a:p>
        </p:txBody>
      </p:sp>
      <p:sp>
        <p:nvSpPr>
          <p:cNvPr id="60" name="Shape 57"/>
          <p:cNvSpPr/>
          <p:nvPr/>
        </p:nvSpPr>
        <p:spPr>
          <a:xfrm>
            <a:off x="11173968" y="3429000"/>
            <a:ext cx="512064" cy="256032"/>
          </a:xfrm>
          <a:prstGeom prst="rect">
            <a:avLst/>
          </a:prstGeom>
          <a:solidFill>
            <a:srgbClr val="FFFFFF"/>
          </a:solidFill>
          <a:ln w="9525">
            <a:solidFill>
              <a:srgbClr val="F3F6FA"/>
            </a:solidFill>
            <a:prstDash val="solid"/>
          </a:ln>
        </p:spPr>
      </p:sp>
      <p:sp>
        <p:nvSpPr>
          <p:cNvPr id="61" name="Text 58"/>
          <p:cNvSpPr/>
          <p:nvPr/>
        </p:nvSpPr>
        <p:spPr>
          <a:xfrm>
            <a:off x="11210544" y="3429000"/>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500</a:t>
            </a:r>
            <a:endParaRPr lang="en-US" sz="700" dirty="0"/>
          </a:p>
        </p:txBody>
      </p:sp>
      <p:sp>
        <p:nvSpPr>
          <p:cNvPr id="62" name="Shape 59"/>
          <p:cNvSpPr/>
          <p:nvPr/>
        </p:nvSpPr>
        <p:spPr>
          <a:xfrm>
            <a:off x="8001000" y="3685032"/>
            <a:ext cx="2148840" cy="256032"/>
          </a:xfrm>
          <a:prstGeom prst="rect">
            <a:avLst/>
          </a:prstGeom>
          <a:solidFill>
            <a:srgbClr val="FFFFFF"/>
          </a:solidFill>
          <a:ln w="9525">
            <a:solidFill>
              <a:srgbClr val="F3F6FA"/>
            </a:solidFill>
            <a:prstDash val="solid"/>
          </a:ln>
        </p:spPr>
      </p:sp>
      <p:sp>
        <p:nvSpPr>
          <p:cNvPr id="63" name="Text 60"/>
          <p:cNvSpPr/>
          <p:nvPr/>
        </p:nvSpPr>
        <p:spPr>
          <a:xfrm>
            <a:off x="8037576" y="3685032"/>
            <a:ext cx="2075688" cy="256032"/>
          </a:xfrm>
          <a:prstGeom prst="rect">
            <a:avLst/>
          </a:prstGeom>
          <a:noFill/>
          <a:ln/>
        </p:spPr>
        <p:txBody>
          <a:bodyPr wrap="square" lIns="0" tIns="0" rIns="0" bIns="0" rtlCol="0" anchor="ctr"/>
          <a:lstStyle/>
          <a:p>
            <a:pPr algn="l" indent="0" marL="0">
              <a:buNone/>
            </a:pPr>
            <a:r>
              <a:rPr lang="en-US" sz="700" dirty="0">
                <a:solidFill>
                  <a:srgbClr val="64748B"/>
                </a:solidFill>
                <a:latin typeface="Calibri" pitchFamily="34" charset="0"/>
                <a:ea typeface="Calibri" pitchFamily="34" charset="-122"/>
                <a:cs typeface="Calibri" pitchFamily="34" charset="-120"/>
              </a:rPr>
              <a:t>　Partner Program報酬</a:t>
            </a:r>
            <a:endParaRPr lang="en-US" sz="700" dirty="0"/>
          </a:p>
        </p:txBody>
      </p:sp>
      <p:sp>
        <p:nvSpPr>
          <p:cNvPr id="64" name="Shape 61"/>
          <p:cNvSpPr/>
          <p:nvPr/>
        </p:nvSpPr>
        <p:spPr>
          <a:xfrm>
            <a:off x="10149840" y="3685032"/>
            <a:ext cx="512064" cy="256032"/>
          </a:xfrm>
          <a:prstGeom prst="rect">
            <a:avLst/>
          </a:prstGeom>
          <a:solidFill>
            <a:srgbClr val="FFFFFF"/>
          </a:solidFill>
          <a:ln w="9525">
            <a:solidFill>
              <a:srgbClr val="F3F6FA"/>
            </a:solidFill>
            <a:prstDash val="solid"/>
          </a:ln>
        </p:spPr>
      </p:sp>
      <p:sp>
        <p:nvSpPr>
          <p:cNvPr id="65" name="Text 62"/>
          <p:cNvSpPr/>
          <p:nvPr/>
        </p:nvSpPr>
        <p:spPr>
          <a:xfrm>
            <a:off x="10186416" y="3685032"/>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0</a:t>
            </a:r>
            <a:endParaRPr lang="en-US" sz="700" dirty="0"/>
          </a:p>
        </p:txBody>
      </p:sp>
      <p:sp>
        <p:nvSpPr>
          <p:cNvPr id="66" name="Shape 63"/>
          <p:cNvSpPr/>
          <p:nvPr/>
        </p:nvSpPr>
        <p:spPr>
          <a:xfrm>
            <a:off x="10661904" y="3685032"/>
            <a:ext cx="512064" cy="256032"/>
          </a:xfrm>
          <a:prstGeom prst="rect">
            <a:avLst/>
          </a:prstGeom>
          <a:solidFill>
            <a:srgbClr val="FFFFFF"/>
          </a:solidFill>
          <a:ln w="9525">
            <a:solidFill>
              <a:srgbClr val="F3F6FA"/>
            </a:solidFill>
            <a:prstDash val="solid"/>
          </a:ln>
        </p:spPr>
      </p:sp>
      <p:sp>
        <p:nvSpPr>
          <p:cNvPr id="67" name="Text 64"/>
          <p:cNvSpPr/>
          <p:nvPr/>
        </p:nvSpPr>
        <p:spPr>
          <a:xfrm>
            <a:off x="10698480" y="3685032"/>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120</a:t>
            </a:r>
            <a:endParaRPr lang="en-US" sz="700" dirty="0"/>
          </a:p>
        </p:txBody>
      </p:sp>
      <p:sp>
        <p:nvSpPr>
          <p:cNvPr id="68" name="Shape 65"/>
          <p:cNvSpPr/>
          <p:nvPr/>
        </p:nvSpPr>
        <p:spPr>
          <a:xfrm>
            <a:off x="11173968" y="3685032"/>
            <a:ext cx="512064" cy="256032"/>
          </a:xfrm>
          <a:prstGeom prst="rect">
            <a:avLst/>
          </a:prstGeom>
          <a:solidFill>
            <a:srgbClr val="FFFFFF"/>
          </a:solidFill>
          <a:ln w="9525">
            <a:solidFill>
              <a:srgbClr val="F3F6FA"/>
            </a:solidFill>
            <a:prstDash val="solid"/>
          </a:ln>
        </p:spPr>
      </p:sp>
      <p:sp>
        <p:nvSpPr>
          <p:cNvPr id="69" name="Text 66"/>
          <p:cNvSpPr/>
          <p:nvPr/>
        </p:nvSpPr>
        <p:spPr>
          <a:xfrm>
            <a:off x="11210544" y="3685032"/>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570</a:t>
            </a:r>
            <a:endParaRPr lang="en-US" sz="700" dirty="0"/>
          </a:p>
        </p:txBody>
      </p:sp>
      <p:sp>
        <p:nvSpPr>
          <p:cNvPr id="70" name="Shape 67"/>
          <p:cNvSpPr/>
          <p:nvPr/>
        </p:nvSpPr>
        <p:spPr>
          <a:xfrm>
            <a:off x="8001000" y="3941064"/>
            <a:ext cx="2148840" cy="256032"/>
          </a:xfrm>
          <a:prstGeom prst="rect">
            <a:avLst/>
          </a:prstGeom>
          <a:solidFill>
            <a:srgbClr val="FFFFFF"/>
          </a:solidFill>
          <a:ln w="9525">
            <a:solidFill>
              <a:srgbClr val="F3F6FA"/>
            </a:solidFill>
            <a:prstDash val="solid"/>
          </a:ln>
        </p:spPr>
      </p:sp>
      <p:sp>
        <p:nvSpPr>
          <p:cNvPr id="71" name="Text 68"/>
          <p:cNvSpPr/>
          <p:nvPr/>
        </p:nvSpPr>
        <p:spPr>
          <a:xfrm>
            <a:off x="8037576" y="3941064"/>
            <a:ext cx="2075688" cy="256032"/>
          </a:xfrm>
          <a:prstGeom prst="rect">
            <a:avLst/>
          </a:prstGeom>
          <a:noFill/>
          <a:ln/>
        </p:spPr>
        <p:txBody>
          <a:bodyPr wrap="square" lIns="0" tIns="0" rIns="0" bIns="0" rtlCol="0" anchor="ctr"/>
          <a:lstStyle/>
          <a:p>
            <a:pPr algn="l" indent="0" marL="0">
              <a:buNone/>
            </a:pPr>
            <a:r>
              <a:rPr lang="en-US" sz="700" dirty="0">
                <a:solidFill>
                  <a:srgbClr val="64748B"/>
                </a:solidFill>
                <a:latin typeface="Calibri" pitchFamily="34" charset="0"/>
                <a:ea typeface="Calibri" pitchFamily="34" charset="-122"/>
                <a:cs typeface="Calibri" pitchFamily="34" charset="-120"/>
              </a:rPr>
              <a:t>　広告・営業・導入支援費</a:t>
            </a:r>
            <a:endParaRPr lang="en-US" sz="700" dirty="0"/>
          </a:p>
        </p:txBody>
      </p:sp>
      <p:sp>
        <p:nvSpPr>
          <p:cNvPr id="72" name="Shape 69"/>
          <p:cNvSpPr/>
          <p:nvPr/>
        </p:nvSpPr>
        <p:spPr>
          <a:xfrm>
            <a:off x="10149840" y="3941064"/>
            <a:ext cx="512064" cy="256032"/>
          </a:xfrm>
          <a:prstGeom prst="rect">
            <a:avLst/>
          </a:prstGeom>
          <a:solidFill>
            <a:srgbClr val="FFFFFF"/>
          </a:solidFill>
          <a:ln w="9525">
            <a:solidFill>
              <a:srgbClr val="F3F6FA"/>
            </a:solidFill>
            <a:prstDash val="solid"/>
          </a:ln>
        </p:spPr>
      </p:sp>
      <p:sp>
        <p:nvSpPr>
          <p:cNvPr id="73" name="Text 70"/>
          <p:cNvSpPr/>
          <p:nvPr/>
        </p:nvSpPr>
        <p:spPr>
          <a:xfrm>
            <a:off x="10186416" y="3941064"/>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79</a:t>
            </a:r>
            <a:endParaRPr lang="en-US" sz="700" dirty="0"/>
          </a:p>
        </p:txBody>
      </p:sp>
      <p:sp>
        <p:nvSpPr>
          <p:cNvPr id="74" name="Shape 71"/>
          <p:cNvSpPr/>
          <p:nvPr/>
        </p:nvSpPr>
        <p:spPr>
          <a:xfrm>
            <a:off x="10661904" y="3941064"/>
            <a:ext cx="512064" cy="256032"/>
          </a:xfrm>
          <a:prstGeom prst="rect">
            <a:avLst/>
          </a:prstGeom>
          <a:solidFill>
            <a:srgbClr val="FFFFFF"/>
          </a:solidFill>
          <a:ln w="9525">
            <a:solidFill>
              <a:srgbClr val="F3F6FA"/>
            </a:solidFill>
            <a:prstDash val="solid"/>
          </a:ln>
        </p:spPr>
      </p:sp>
      <p:sp>
        <p:nvSpPr>
          <p:cNvPr id="75" name="Text 72"/>
          <p:cNvSpPr/>
          <p:nvPr/>
        </p:nvSpPr>
        <p:spPr>
          <a:xfrm>
            <a:off x="10698480" y="3941064"/>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190</a:t>
            </a:r>
            <a:endParaRPr lang="en-US" sz="700" dirty="0"/>
          </a:p>
        </p:txBody>
      </p:sp>
      <p:sp>
        <p:nvSpPr>
          <p:cNvPr id="76" name="Shape 73"/>
          <p:cNvSpPr/>
          <p:nvPr/>
        </p:nvSpPr>
        <p:spPr>
          <a:xfrm>
            <a:off x="11173968" y="3941064"/>
            <a:ext cx="512064" cy="256032"/>
          </a:xfrm>
          <a:prstGeom prst="rect">
            <a:avLst/>
          </a:prstGeom>
          <a:solidFill>
            <a:srgbClr val="FFFFFF"/>
          </a:solidFill>
          <a:ln w="9525">
            <a:solidFill>
              <a:srgbClr val="F3F6FA"/>
            </a:solidFill>
            <a:prstDash val="solid"/>
          </a:ln>
        </p:spPr>
      </p:sp>
      <p:sp>
        <p:nvSpPr>
          <p:cNvPr id="77" name="Text 74"/>
          <p:cNvSpPr/>
          <p:nvPr/>
        </p:nvSpPr>
        <p:spPr>
          <a:xfrm>
            <a:off x="11210544" y="3941064"/>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365</a:t>
            </a:r>
            <a:endParaRPr lang="en-US" sz="700" dirty="0"/>
          </a:p>
        </p:txBody>
      </p:sp>
      <p:sp>
        <p:nvSpPr>
          <p:cNvPr id="78" name="Shape 75"/>
          <p:cNvSpPr/>
          <p:nvPr/>
        </p:nvSpPr>
        <p:spPr>
          <a:xfrm>
            <a:off x="8001000" y="4197096"/>
            <a:ext cx="2148840" cy="292608"/>
          </a:xfrm>
          <a:prstGeom prst="rect">
            <a:avLst/>
          </a:prstGeom>
          <a:solidFill>
            <a:srgbClr val="F0F3F8"/>
          </a:solidFill>
          <a:ln w="9525">
            <a:solidFill>
              <a:srgbClr val="F3F6FA"/>
            </a:solidFill>
            <a:prstDash val="solid"/>
          </a:ln>
        </p:spPr>
      </p:sp>
      <p:sp>
        <p:nvSpPr>
          <p:cNvPr id="79" name="Text 76"/>
          <p:cNvSpPr/>
          <p:nvPr/>
        </p:nvSpPr>
        <p:spPr>
          <a:xfrm>
            <a:off x="8037576" y="4197096"/>
            <a:ext cx="2075688" cy="292608"/>
          </a:xfrm>
          <a:prstGeom prst="rect">
            <a:avLst/>
          </a:prstGeom>
          <a:noFill/>
          <a:ln/>
        </p:spPr>
        <p:txBody>
          <a:bodyPr wrap="square" lIns="0" tIns="0" rIns="0" bIns="0"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③開発費 計</a:t>
            </a:r>
            <a:endParaRPr lang="en-US" sz="800" dirty="0"/>
          </a:p>
        </p:txBody>
      </p:sp>
      <p:sp>
        <p:nvSpPr>
          <p:cNvPr id="80" name="Shape 77"/>
          <p:cNvSpPr/>
          <p:nvPr/>
        </p:nvSpPr>
        <p:spPr>
          <a:xfrm>
            <a:off x="10149840" y="4197096"/>
            <a:ext cx="512064" cy="292608"/>
          </a:xfrm>
          <a:prstGeom prst="rect">
            <a:avLst/>
          </a:prstGeom>
          <a:solidFill>
            <a:srgbClr val="F0F3F8"/>
          </a:solidFill>
          <a:ln w="9525">
            <a:solidFill>
              <a:srgbClr val="F3F6FA"/>
            </a:solidFill>
            <a:prstDash val="solid"/>
          </a:ln>
        </p:spPr>
      </p:sp>
      <p:sp>
        <p:nvSpPr>
          <p:cNvPr id="81" name="Text 78"/>
          <p:cNvSpPr/>
          <p:nvPr/>
        </p:nvSpPr>
        <p:spPr>
          <a:xfrm>
            <a:off x="10186416" y="4197096"/>
            <a:ext cx="438912" cy="29260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550</a:t>
            </a:r>
            <a:endParaRPr lang="en-US" sz="800" dirty="0"/>
          </a:p>
        </p:txBody>
      </p:sp>
      <p:sp>
        <p:nvSpPr>
          <p:cNvPr id="82" name="Shape 79"/>
          <p:cNvSpPr/>
          <p:nvPr/>
        </p:nvSpPr>
        <p:spPr>
          <a:xfrm>
            <a:off x="10661904" y="4197096"/>
            <a:ext cx="512064" cy="292608"/>
          </a:xfrm>
          <a:prstGeom prst="rect">
            <a:avLst/>
          </a:prstGeom>
          <a:solidFill>
            <a:srgbClr val="F0F3F8"/>
          </a:solidFill>
          <a:ln w="9525">
            <a:solidFill>
              <a:srgbClr val="F3F6FA"/>
            </a:solidFill>
            <a:prstDash val="solid"/>
          </a:ln>
        </p:spPr>
      </p:sp>
      <p:sp>
        <p:nvSpPr>
          <p:cNvPr id="83" name="Text 80"/>
          <p:cNvSpPr/>
          <p:nvPr/>
        </p:nvSpPr>
        <p:spPr>
          <a:xfrm>
            <a:off x="10698480" y="4197096"/>
            <a:ext cx="438912" cy="29260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500</a:t>
            </a:r>
            <a:endParaRPr lang="en-US" sz="800" dirty="0"/>
          </a:p>
        </p:txBody>
      </p:sp>
      <p:sp>
        <p:nvSpPr>
          <p:cNvPr id="84" name="Shape 81"/>
          <p:cNvSpPr/>
          <p:nvPr/>
        </p:nvSpPr>
        <p:spPr>
          <a:xfrm>
            <a:off x="11173968" y="4197096"/>
            <a:ext cx="512064" cy="292608"/>
          </a:xfrm>
          <a:prstGeom prst="rect">
            <a:avLst/>
          </a:prstGeom>
          <a:solidFill>
            <a:srgbClr val="F0F3F8"/>
          </a:solidFill>
          <a:ln w="9525">
            <a:solidFill>
              <a:srgbClr val="F3F6FA"/>
            </a:solidFill>
            <a:prstDash val="solid"/>
          </a:ln>
        </p:spPr>
      </p:sp>
      <p:sp>
        <p:nvSpPr>
          <p:cNvPr id="85" name="Text 82"/>
          <p:cNvSpPr/>
          <p:nvPr/>
        </p:nvSpPr>
        <p:spPr>
          <a:xfrm>
            <a:off x="11210544" y="4197096"/>
            <a:ext cx="438912" cy="29260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700</a:t>
            </a:r>
            <a:endParaRPr lang="en-US" sz="800" dirty="0"/>
          </a:p>
        </p:txBody>
      </p:sp>
      <p:sp>
        <p:nvSpPr>
          <p:cNvPr id="86" name="Shape 83"/>
          <p:cNvSpPr/>
          <p:nvPr/>
        </p:nvSpPr>
        <p:spPr>
          <a:xfrm>
            <a:off x="8001000" y="4489704"/>
            <a:ext cx="2148840" cy="256032"/>
          </a:xfrm>
          <a:prstGeom prst="rect">
            <a:avLst/>
          </a:prstGeom>
          <a:solidFill>
            <a:srgbClr val="FFFFFF"/>
          </a:solidFill>
          <a:ln w="9525">
            <a:solidFill>
              <a:srgbClr val="F3F6FA"/>
            </a:solidFill>
            <a:prstDash val="solid"/>
          </a:ln>
        </p:spPr>
      </p:sp>
      <p:sp>
        <p:nvSpPr>
          <p:cNvPr id="87" name="Text 84"/>
          <p:cNvSpPr/>
          <p:nvPr/>
        </p:nvSpPr>
        <p:spPr>
          <a:xfrm>
            <a:off x="8037576" y="4489704"/>
            <a:ext cx="2075688" cy="256032"/>
          </a:xfrm>
          <a:prstGeom prst="rect">
            <a:avLst/>
          </a:prstGeom>
          <a:noFill/>
          <a:ln/>
        </p:spPr>
        <p:txBody>
          <a:bodyPr wrap="square" lIns="0" tIns="0" rIns="0" bIns="0" rtlCol="0" anchor="ctr"/>
          <a:lstStyle/>
          <a:p>
            <a:pPr algn="l" indent="0" marL="0">
              <a:buNone/>
            </a:pPr>
            <a:r>
              <a:rPr lang="en-US" sz="700" dirty="0">
                <a:solidFill>
                  <a:srgbClr val="64748B"/>
                </a:solidFill>
                <a:latin typeface="Calibri" pitchFamily="34" charset="0"/>
                <a:ea typeface="Calibri" pitchFamily="34" charset="-122"/>
                <a:cs typeface="Calibri" pitchFamily="34" charset="-120"/>
              </a:rPr>
              <a:t>　初期開発／機能追加／保守</a:t>
            </a:r>
            <a:endParaRPr lang="en-US" sz="700" dirty="0"/>
          </a:p>
        </p:txBody>
      </p:sp>
      <p:sp>
        <p:nvSpPr>
          <p:cNvPr id="88" name="Shape 85"/>
          <p:cNvSpPr/>
          <p:nvPr/>
        </p:nvSpPr>
        <p:spPr>
          <a:xfrm>
            <a:off x="10149840" y="4489704"/>
            <a:ext cx="512064" cy="256032"/>
          </a:xfrm>
          <a:prstGeom prst="rect">
            <a:avLst/>
          </a:prstGeom>
          <a:solidFill>
            <a:srgbClr val="FFFFFF"/>
          </a:solidFill>
          <a:ln w="9525">
            <a:solidFill>
              <a:srgbClr val="F3F6FA"/>
            </a:solidFill>
            <a:prstDash val="solid"/>
          </a:ln>
        </p:spPr>
      </p:sp>
      <p:sp>
        <p:nvSpPr>
          <p:cNvPr id="89" name="Text 86"/>
          <p:cNvSpPr/>
          <p:nvPr/>
        </p:nvSpPr>
        <p:spPr>
          <a:xfrm>
            <a:off x="10186416" y="4489704"/>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400/100/50</a:t>
            </a:r>
            <a:endParaRPr lang="en-US" sz="700" dirty="0"/>
          </a:p>
        </p:txBody>
      </p:sp>
      <p:sp>
        <p:nvSpPr>
          <p:cNvPr id="90" name="Shape 87"/>
          <p:cNvSpPr/>
          <p:nvPr/>
        </p:nvSpPr>
        <p:spPr>
          <a:xfrm>
            <a:off x="10661904" y="4489704"/>
            <a:ext cx="512064" cy="256032"/>
          </a:xfrm>
          <a:prstGeom prst="rect">
            <a:avLst/>
          </a:prstGeom>
          <a:solidFill>
            <a:srgbClr val="FFFFFF"/>
          </a:solidFill>
          <a:ln w="9525">
            <a:solidFill>
              <a:srgbClr val="F3F6FA"/>
            </a:solidFill>
            <a:prstDash val="solid"/>
          </a:ln>
        </p:spPr>
      </p:sp>
      <p:sp>
        <p:nvSpPr>
          <p:cNvPr id="91" name="Text 88"/>
          <p:cNvSpPr/>
          <p:nvPr/>
        </p:nvSpPr>
        <p:spPr>
          <a:xfrm>
            <a:off x="10698480" y="4489704"/>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100/250/150</a:t>
            </a:r>
            <a:endParaRPr lang="en-US" sz="700" dirty="0"/>
          </a:p>
        </p:txBody>
      </p:sp>
      <p:sp>
        <p:nvSpPr>
          <p:cNvPr id="92" name="Shape 89"/>
          <p:cNvSpPr/>
          <p:nvPr/>
        </p:nvSpPr>
        <p:spPr>
          <a:xfrm>
            <a:off x="11173968" y="4489704"/>
            <a:ext cx="512064" cy="256032"/>
          </a:xfrm>
          <a:prstGeom prst="rect">
            <a:avLst/>
          </a:prstGeom>
          <a:solidFill>
            <a:srgbClr val="FFFFFF"/>
          </a:solidFill>
          <a:ln w="9525">
            <a:solidFill>
              <a:srgbClr val="F3F6FA"/>
            </a:solidFill>
            <a:prstDash val="solid"/>
          </a:ln>
        </p:spPr>
      </p:sp>
      <p:sp>
        <p:nvSpPr>
          <p:cNvPr id="93" name="Text 90"/>
          <p:cNvSpPr/>
          <p:nvPr/>
        </p:nvSpPr>
        <p:spPr>
          <a:xfrm>
            <a:off x="11210544" y="4489704"/>
            <a:ext cx="438912" cy="256032"/>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50/400/250</a:t>
            </a:r>
            <a:endParaRPr lang="en-US" sz="700" dirty="0"/>
          </a:p>
        </p:txBody>
      </p:sp>
      <p:sp>
        <p:nvSpPr>
          <p:cNvPr id="94" name="Shape 91"/>
          <p:cNvSpPr/>
          <p:nvPr/>
        </p:nvSpPr>
        <p:spPr>
          <a:xfrm>
            <a:off x="8001000" y="4745736"/>
            <a:ext cx="2148840" cy="292608"/>
          </a:xfrm>
          <a:prstGeom prst="rect">
            <a:avLst/>
          </a:prstGeom>
          <a:solidFill>
            <a:srgbClr val="EFF4FE"/>
          </a:solidFill>
          <a:ln w="9525">
            <a:solidFill>
              <a:srgbClr val="F3F6FA"/>
            </a:solidFill>
            <a:prstDash val="solid"/>
          </a:ln>
        </p:spPr>
      </p:sp>
      <p:sp>
        <p:nvSpPr>
          <p:cNvPr id="95" name="Text 92"/>
          <p:cNvSpPr/>
          <p:nvPr/>
        </p:nvSpPr>
        <p:spPr>
          <a:xfrm>
            <a:off x="8037576" y="4745736"/>
            <a:ext cx="2075688" cy="292608"/>
          </a:xfrm>
          <a:prstGeom prst="rect">
            <a:avLst/>
          </a:prstGeom>
          <a:noFill/>
          <a:ln/>
        </p:spPr>
        <p:txBody>
          <a:bodyPr wrap="square" lIns="0" tIns="0" rIns="0" bIns="0" rtlCol="0" anchor="ctr"/>
          <a:lstStyle/>
          <a:p>
            <a:pPr algn="l" indent="0" marL="0">
              <a:buNone/>
            </a:pPr>
            <a:r>
              <a:rPr lang="en-US" sz="800" b="1" dirty="0">
                <a:solidFill>
                  <a:srgbClr val="2563EB"/>
                </a:solidFill>
                <a:latin typeface="Calibri" pitchFamily="34" charset="0"/>
                <a:ea typeface="Calibri" pitchFamily="34" charset="-122"/>
                <a:cs typeface="Calibri" pitchFamily="34" charset="-120"/>
              </a:rPr>
              <a:t>費用合計</a:t>
            </a:r>
            <a:endParaRPr lang="en-US" sz="800" dirty="0"/>
          </a:p>
        </p:txBody>
      </p:sp>
      <p:sp>
        <p:nvSpPr>
          <p:cNvPr id="96" name="Shape 93"/>
          <p:cNvSpPr/>
          <p:nvPr/>
        </p:nvSpPr>
        <p:spPr>
          <a:xfrm>
            <a:off x="10149840" y="4745736"/>
            <a:ext cx="512064" cy="292608"/>
          </a:xfrm>
          <a:prstGeom prst="rect">
            <a:avLst/>
          </a:prstGeom>
          <a:solidFill>
            <a:srgbClr val="EFF4FE"/>
          </a:solidFill>
          <a:ln w="9525">
            <a:solidFill>
              <a:srgbClr val="F3F6FA"/>
            </a:solidFill>
            <a:prstDash val="solid"/>
          </a:ln>
        </p:spPr>
      </p:sp>
      <p:sp>
        <p:nvSpPr>
          <p:cNvPr id="97" name="Text 94"/>
          <p:cNvSpPr/>
          <p:nvPr/>
        </p:nvSpPr>
        <p:spPr>
          <a:xfrm>
            <a:off x="10186416" y="4745736"/>
            <a:ext cx="438912" cy="292608"/>
          </a:xfrm>
          <a:prstGeom prst="rect">
            <a:avLst/>
          </a:prstGeom>
          <a:noFill/>
          <a:ln/>
        </p:spPr>
        <p:txBody>
          <a:bodyPr wrap="square" lIns="0" tIns="0" rIns="0" bIns="0" rtlCol="0" anchor="ctr"/>
          <a:lstStyle/>
          <a:p>
            <a:pPr algn="ctr" indent="0" marL="0">
              <a:buNone/>
            </a:pPr>
            <a:r>
              <a:rPr lang="en-US" sz="800" b="1" dirty="0">
                <a:solidFill>
                  <a:srgbClr val="2563EB"/>
                </a:solidFill>
                <a:latin typeface="Calibri" pitchFamily="34" charset="0"/>
                <a:ea typeface="Calibri" pitchFamily="34" charset="-122"/>
                <a:cs typeface="Calibri" pitchFamily="34" charset="-120"/>
              </a:rPr>
              <a:t>1,409</a:t>
            </a:r>
            <a:endParaRPr lang="en-US" sz="800" dirty="0"/>
          </a:p>
        </p:txBody>
      </p:sp>
      <p:sp>
        <p:nvSpPr>
          <p:cNvPr id="98" name="Shape 95"/>
          <p:cNvSpPr/>
          <p:nvPr/>
        </p:nvSpPr>
        <p:spPr>
          <a:xfrm>
            <a:off x="10661904" y="4745736"/>
            <a:ext cx="512064" cy="292608"/>
          </a:xfrm>
          <a:prstGeom prst="rect">
            <a:avLst/>
          </a:prstGeom>
          <a:solidFill>
            <a:srgbClr val="EFF4FE"/>
          </a:solidFill>
          <a:ln w="9525">
            <a:solidFill>
              <a:srgbClr val="F3F6FA"/>
            </a:solidFill>
            <a:prstDash val="solid"/>
          </a:ln>
        </p:spPr>
      </p:sp>
      <p:sp>
        <p:nvSpPr>
          <p:cNvPr id="99" name="Text 96"/>
          <p:cNvSpPr/>
          <p:nvPr/>
        </p:nvSpPr>
        <p:spPr>
          <a:xfrm>
            <a:off x="10698480" y="4745736"/>
            <a:ext cx="438912" cy="292608"/>
          </a:xfrm>
          <a:prstGeom prst="rect">
            <a:avLst/>
          </a:prstGeom>
          <a:noFill/>
          <a:ln/>
        </p:spPr>
        <p:txBody>
          <a:bodyPr wrap="square" lIns="0" tIns="0" rIns="0" bIns="0" rtlCol="0" anchor="ctr"/>
          <a:lstStyle/>
          <a:p>
            <a:pPr algn="ctr" indent="0" marL="0">
              <a:buNone/>
            </a:pPr>
            <a:r>
              <a:rPr lang="en-US" sz="800" b="1" dirty="0">
                <a:solidFill>
                  <a:srgbClr val="2563EB"/>
                </a:solidFill>
                <a:latin typeface="Calibri" pitchFamily="34" charset="0"/>
                <a:ea typeface="Calibri" pitchFamily="34" charset="-122"/>
                <a:cs typeface="Calibri" pitchFamily="34" charset="-120"/>
              </a:rPr>
              <a:t>2,563</a:t>
            </a:r>
            <a:endParaRPr lang="en-US" sz="800" dirty="0"/>
          </a:p>
        </p:txBody>
      </p:sp>
      <p:sp>
        <p:nvSpPr>
          <p:cNvPr id="100" name="Shape 97"/>
          <p:cNvSpPr/>
          <p:nvPr/>
        </p:nvSpPr>
        <p:spPr>
          <a:xfrm>
            <a:off x="11173968" y="4745736"/>
            <a:ext cx="512064" cy="292608"/>
          </a:xfrm>
          <a:prstGeom prst="rect">
            <a:avLst/>
          </a:prstGeom>
          <a:solidFill>
            <a:srgbClr val="EFF4FE"/>
          </a:solidFill>
          <a:ln w="9525">
            <a:solidFill>
              <a:srgbClr val="F3F6FA"/>
            </a:solidFill>
            <a:prstDash val="solid"/>
          </a:ln>
        </p:spPr>
      </p:sp>
      <p:sp>
        <p:nvSpPr>
          <p:cNvPr id="101" name="Text 98"/>
          <p:cNvSpPr/>
          <p:nvPr/>
        </p:nvSpPr>
        <p:spPr>
          <a:xfrm>
            <a:off x="11210544" y="4745736"/>
            <a:ext cx="438912" cy="292608"/>
          </a:xfrm>
          <a:prstGeom prst="rect">
            <a:avLst/>
          </a:prstGeom>
          <a:noFill/>
          <a:ln/>
        </p:spPr>
        <p:txBody>
          <a:bodyPr wrap="square" lIns="0" tIns="0" rIns="0" bIns="0" rtlCol="0" anchor="ctr"/>
          <a:lstStyle/>
          <a:p>
            <a:pPr algn="ctr" indent="0" marL="0">
              <a:buNone/>
            </a:pPr>
            <a:r>
              <a:rPr lang="en-US" sz="800" b="1" dirty="0">
                <a:solidFill>
                  <a:srgbClr val="2563EB"/>
                </a:solidFill>
                <a:latin typeface="Calibri" pitchFamily="34" charset="0"/>
                <a:ea typeface="Calibri" pitchFamily="34" charset="-122"/>
                <a:cs typeface="Calibri" pitchFamily="34" charset="-120"/>
              </a:rPr>
              <a:t>5,268</a:t>
            </a:r>
            <a:endParaRPr lang="en-US" sz="800" dirty="0"/>
          </a:p>
        </p:txBody>
      </p:sp>
      <p:sp>
        <p:nvSpPr>
          <p:cNvPr id="102" name="Text 99"/>
          <p:cNvSpPr/>
          <p:nvPr/>
        </p:nvSpPr>
        <p:spPr>
          <a:xfrm>
            <a:off x="502920" y="5074920"/>
            <a:ext cx="11185855" cy="502920"/>
          </a:xfrm>
          <a:prstGeom prst="rect">
            <a:avLst/>
          </a:prstGeom>
          <a:noFill/>
          <a:ln/>
        </p:spPr>
        <p:txBody>
          <a:bodyPr wrap="square" lIns="0" tIns="0" rIns="0" bIns="0" rtlCol="0" anchor="ctr"/>
          <a:lstStyle/>
          <a:p>
            <a:pPr indent="0" marL="0">
              <a:lnSpc>
                <a:spcPct val="120000"/>
              </a:lnSpc>
              <a:buNone/>
            </a:pPr>
            <a:r>
              <a:rPr lang="en-US" sz="900" i="1" dirty="0">
                <a:solidFill>
                  <a:srgbClr val="64748B"/>
                </a:solidFill>
                <a:latin typeface="Calibri" pitchFamily="34" charset="0"/>
                <a:ea typeface="Calibri" pitchFamily="34" charset="-122"/>
                <a:cs typeface="Calibri" pitchFamily="34" charset="-120"/>
              </a:rPr>
              <a:t>※ サーバー費はXServer本体・バックアップ・監視費を含み、以前の試算より現実的な水準へ修正。AI APIは利用企業数に比例する変動費として分離。Partner Program報酬は顧客獲得コスト(CAC)として整理（次頁参照）。</a:t>
            </a:r>
            <a:endParaRPr lang="en-US" sz="900" dirty="0"/>
          </a:p>
        </p:txBody>
      </p:sp>
      <p:sp>
        <p:nvSpPr>
          <p:cNvPr id="103" name="Text 100"/>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1.2</a:t>
            </a:r>
            <a:endParaRPr lang="en-US" sz="900" dirty="0"/>
          </a:p>
        </p:txBody>
      </p:sp>
      <p:sp>
        <p:nvSpPr>
          <p:cNvPr id="104" name="Text 10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PROFIT PLAN</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700" b="1" dirty="0">
                <a:solidFill>
                  <a:srgbClr val="0A1B3D"/>
                </a:solidFill>
                <a:latin typeface="Cambria" pitchFamily="34" charset="0"/>
                <a:ea typeface="Cambria" pitchFamily="34" charset="-122"/>
                <a:cs typeface="Cambria" pitchFamily="34" charset="-120"/>
              </a:rPr>
              <a:t>利益計画 ― Year2黒字化</a:t>
            </a:r>
            <a:endParaRPr lang="en-US" sz="2700" dirty="0"/>
          </a:p>
        </p:txBody>
      </p:sp>
      <p:graphicFrame>
        <p:nvGraphicFramePr>
          <p:cNvPr id="4" name="Chart 0" descr=""/>
          <p:cNvGraphicFramePr/>
          <p:nvPr/>
        </p:nvGraphicFramePr>
        <p:xfrm>
          <a:off x="502920" y="1600200"/>
          <a:ext cx="6766560" cy="2880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01000" y="1600200"/>
            <a:ext cx="1417320" cy="347472"/>
          </a:xfrm>
          <a:prstGeom prst="rect">
            <a:avLst/>
          </a:prstGeom>
          <a:solidFill>
            <a:srgbClr val="0A1B3D"/>
          </a:solidFill>
          <a:ln w="12700">
            <a:solidFill>
              <a:srgbClr val="FFFFFF"/>
            </a:solidFill>
            <a:prstDash val="solid"/>
          </a:ln>
        </p:spPr>
      </p:sp>
      <p:sp>
        <p:nvSpPr>
          <p:cNvPr id="6" name="Text 3"/>
          <p:cNvSpPr/>
          <p:nvPr/>
        </p:nvSpPr>
        <p:spPr>
          <a:xfrm>
            <a:off x="8046720" y="1600200"/>
            <a:ext cx="1325880" cy="347472"/>
          </a:xfrm>
          <a:prstGeom prst="rect">
            <a:avLst/>
          </a:prstGeom>
          <a:noFill/>
          <a:ln/>
        </p:spPr>
        <p:txBody>
          <a:bodyPr wrap="square" lIns="0" tIns="0" rIns="0" bIns="0" rtlCol="0" anchor="ctr"/>
          <a:lstStyle/>
          <a:p>
            <a:pPr algn="l" indent="0" marL="0">
              <a:buNone/>
            </a:pPr>
            <a:endParaRPr lang="en-US" sz="950" dirty="0"/>
          </a:p>
        </p:txBody>
      </p:sp>
      <p:sp>
        <p:nvSpPr>
          <p:cNvPr id="7" name="Shape 4"/>
          <p:cNvSpPr/>
          <p:nvPr/>
        </p:nvSpPr>
        <p:spPr>
          <a:xfrm>
            <a:off x="9418320" y="1600200"/>
            <a:ext cx="755904" cy="347472"/>
          </a:xfrm>
          <a:prstGeom prst="rect">
            <a:avLst/>
          </a:prstGeom>
          <a:solidFill>
            <a:srgbClr val="0A1B3D"/>
          </a:solidFill>
          <a:ln w="12700">
            <a:solidFill>
              <a:srgbClr val="FFFFFF"/>
            </a:solidFill>
            <a:prstDash val="solid"/>
          </a:ln>
        </p:spPr>
      </p:sp>
      <p:sp>
        <p:nvSpPr>
          <p:cNvPr id="8" name="Text 5"/>
          <p:cNvSpPr/>
          <p:nvPr/>
        </p:nvSpPr>
        <p:spPr>
          <a:xfrm>
            <a:off x="9464040" y="1600200"/>
            <a:ext cx="664464"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Year 1</a:t>
            </a:r>
            <a:endParaRPr lang="en-US" sz="950" dirty="0"/>
          </a:p>
        </p:txBody>
      </p:sp>
      <p:sp>
        <p:nvSpPr>
          <p:cNvPr id="9" name="Shape 6"/>
          <p:cNvSpPr/>
          <p:nvPr/>
        </p:nvSpPr>
        <p:spPr>
          <a:xfrm>
            <a:off x="10174224" y="1600200"/>
            <a:ext cx="755904" cy="347472"/>
          </a:xfrm>
          <a:prstGeom prst="rect">
            <a:avLst/>
          </a:prstGeom>
          <a:solidFill>
            <a:srgbClr val="0A1B3D"/>
          </a:solidFill>
          <a:ln w="12700">
            <a:solidFill>
              <a:srgbClr val="FFFFFF"/>
            </a:solidFill>
            <a:prstDash val="solid"/>
          </a:ln>
        </p:spPr>
      </p:sp>
      <p:sp>
        <p:nvSpPr>
          <p:cNvPr id="10" name="Text 7"/>
          <p:cNvSpPr/>
          <p:nvPr/>
        </p:nvSpPr>
        <p:spPr>
          <a:xfrm>
            <a:off x="10219944" y="1600200"/>
            <a:ext cx="664464"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Year 2</a:t>
            </a:r>
            <a:endParaRPr lang="en-US" sz="950" dirty="0"/>
          </a:p>
        </p:txBody>
      </p:sp>
      <p:sp>
        <p:nvSpPr>
          <p:cNvPr id="11" name="Shape 8"/>
          <p:cNvSpPr/>
          <p:nvPr/>
        </p:nvSpPr>
        <p:spPr>
          <a:xfrm>
            <a:off x="10930128" y="1600200"/>
            <a:ext cx="755904" cy="347472"/>
          </a:xfrm>
          <a:prstGeom prst="rect">
            <a:avLst/>
          </a:prstGeom>
          <a:solidFill>
            <a:srgbClr val="0A1B3D"/>
          </a:solidFill>
          <a:ln w="12700">
            <a:solidFill>
              <a:srgbClr val="FFFFFF"/>
            </a:solidFill>
            <a:prstDash val="solid"/>
          </a:ln>
        </p:spPr>
      </p:sp>
      <p:sp>
        <p:nvSpPr>
          <p:cNvPr id="12" name="Text 9"/>
          <p:cNvSpPr/>
          <p:nvPr/>
        </p:nvSpPr>
        <p:spPr>
          <a:xfrm>
            <a:off x="10975848" y="1600200"/>
            <a:ext cx="664464"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Year 3</a:t>
            </a:r>
            <a:endParaRPr lang="en-US" sz="950" dirty="0"/>
          </a:p>
        </p:txBody>
      </p:sp>
      <p:sp>
        <p:nvSpPr>
          <p:cNvPr id="13" name="Shape 10"/>
          <p:cNvSpPr/>
          <p:nvPr/>
        </p:nvSpPr>
        <p:spPr>
          <a:xfrm>
            <a:off x="8001000" y="1947672"/>
            <a:ext cx="1417320" cy="457200"/>
          </a:xfrm>
          <a:prstGeom prst="rect">
            <a:avLst/>
          </a:prstGeom>
          <a:solidFill>
            <a:srgbClr val="F3F6FA"/>
          </a:solidFill>
          <a:ln w="12700">
            <a:solidFill>
              <a:srgbClr val="FFFFFF"/>
            </a:solidFill>
            <a:prstDash val="solid"/>
          </a:ln>
        </p:spPr>
      </p:sp>
      <p:sp>
        <p:nvSpPr>
          <p:cNvPr id="14" name="Text 11"/>
          <p:cNvSpPr/>
          <p:nvPr/>
        </p:nvSpPr>
        <p:spPr>
          <a:xfrm>
            <a:off x="8046720" y="1947672"/>
            <a:ext cx="1325880" cy="457200"/>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売上高</a:t>
            </a:r>
            <a:endParaRPr lang="en-US" sz="950" dirty="0"/>
          </a:p>
        </p:txBody>
      </p:sp>
      <p:sp>
        <p:nvSpPr>
          <p:cNvPr id="15" name="Shape 12"/>
          <p:cNvSpPr/>
          <p:nvPr/>
        </p:nvSpPr>
        <p:spPr>
          <a:xfrm>
            <a:off x="9418320" y="1947672"/>
            <a:ext cx="755904" cy="457200"/>
          </a:xfrm>
          <a:prstGeom prst="rect">
            <a:avLst/>
          </a:prstGeom>
          <a:solidFill>
            <a:srgbClr val="FFFFFF"/>
          </a:solidFill>
          <a:ln w="12700">
            <a:solidFill>
              <a:srgbClr val="FFFFFF"/>
            </a:solidFill>
            <a:prstDash val="solid"/>
          </a:ln>
        </p:spPr>
      </p:sp>
      <p:sp>
        <p:nvSpPr>
          <p:cNvPr id="16" name="Text 13"/>
          <p:cNvSpPr/>
          <p:nvPr/>
        </p:nvSpPr>
        <p:spPr>
          <a:xfrm>
            <a:off x="9464040" y="1947672"/>
            <a:ext cx="664464" cy="4572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510万円</a:t>
            </a:r>
            <a:endParaRPr lang="en-US" sz="1000" dirty="0"/>
          </a:p>
        </p:txBody>
      </p:sp>
      <p:sp>
        <p:nvSpPr>
          <p:cNvPr id="17" name="Shape 14"/>
          <p:cNvSpPr/>
          <p:nvPr/>
        </p:nvSpPr>
        <p:spPr>
          <a:xfrm>
            <a:off x="10174224" y="1947672"/>
            <a:ext cx="755904" cy="457200"/>
          </a:xfrm>
          <a:prstGeom prst="rect">
            <a:avLst/>
          </a:prstGeom>
          <a:solidFill>
            <a:srgbClr val="FFFFFF"/>
          </a:solidFill>
          <a:ln w="12700">
            <a:solidFill>
              <a:srgbClr val="FFFFFF"/>
            </a:solidFill>
            <a:prstDash val="solid"/>
          </a:ln>
        </p:spPr>
      </p:sp>
      <p:sp>
        <p:nvSpPr>
          <p:cNvPr id="18" name="Text 15"/>
          <p:cNvSpPr/>
          <p:nvPr/>
        </p:nvSpPr>
        <p:spPr>
          <a:xfrm>
            <a:off x="10219944" y="1947672"/>
            <a:ext cx="664464" cy="4572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3,050万円</a:t>
            </a:r>
            <a:endParaRPr lang="en-US" sz="1000" dirty="0"/>
          </a:p>
        </p:txBody>
      </p:sp>
      <p:sp>
        <p:nvSpPr>
          <p:cNvPr id="19" name="Shape 16"/>
          <p:cNvSpPr/>
          <p:nvPr/>
        </p:nvSpPr>
        <p:spPr>
          <a:xfrm>
            <a:off x="10930128" y="1947672"/>
            <a:ext cx="755904" cy="457200"/>
          </a:xfrm>
          <a:prstGeom prst="rect">
            <a:avLst/>
          </a:prstGeom>
          <a:solidFill>
            <a:srgbClr val="FFFFFF"/>
          </a:solidFill>
          <a:ln w="12700">
            <a:solidFill>
              <a:srgbClr val="FFFFFF"/>
            </a:solidFill>
            <a:prstDash val="solid"/>
          </a:ln>
        </p:spPr>
      </p:sp>
      <p:sp>
        <p:nvSpPr>
          <p:cNvPr id="20" name="Text 17"/>
          <p:cNvSpPr/>
          <p:nvPr/>
        </p:nvSpPr>
        <p:spPr>
          <a:xfrm>
            <a:off x="10975848" y="1947672"/>
            <a:ext cx="664464" cy="4572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9,900万円</a:t>
            </a:r>
            <a:endParaRPr lang="en-US" sz="1000" dirty="0"/>
          </a:p>
        </p:txBody>
      </p:sp>
      <p:sp>
        <p:nvSpPr>
          <p:cNvPr id="21" name="Shape 18"/>
          <p:cNvSpPr/>
          <p:nvPr/>
        </p:nvSpPr>
        <p:spPr>
          <a:xfrm>
            <a:off x="8001000" y="2404872"/>
            <a:ext cx="1417320" cy="457200"/>
          </a:xfrm>
          <a:prstGeom prst="rect">
            <a:avLst/>
          </a:prstGeom>
          <a:solidFill>
            <a:srgbClr val="F3F6FA"/>
          </a:solidFill>
          <a:ln w="12700">
            <a:solidFill>
              <a:srgbClr val="FFFFFF"/>
            </a:solidFill>
            <a:prstDash val="solid"/>
          </a:ln>
        </p:spPr>
      </p:sp>
      <p:sp>
        <p:nvSpPr>
          <p:cNvPr id="22" name="Text 19"/>
          <p:cNvSpPr/>
          <p:nvPr/>
        </p:nvSpPr>
        <p:spPr>
          <a:xfrm>
            <a:off x="8046720" y="2404872"/>
            <a:ext cx="1325880" cy="457200"/>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費用合計</a:t>
            </a:r>
            <a:endParaRPr lang="en-US" sz="950" dirty="0"/>
          </a:p>
        </p:txBody>
      </p:sp>
      <p:sp>
        <p:nvSpPr>
          <p:cNvPr id="23" name="Shape 20"/>
          <p:cNvSpPr/>
          <p:nvPr/>
        </p:nvSpPr>
        <p:spPr>
          <a:xfrm>
            <a:off x="9418320" y="2404872"/>
            <a:ext cx="755904" cy="457200"/>
          </a:xfrm>
          <a:prstGeom prst="rect">
            <a:avLst/>
          </a:prstGeom>
          <a:solidFill>
            <a:srgbClr val="FAFBFC"/>
          </a:solidFill>
          <a:ln w="12700">
            <a:solidFill>
              <a:srgbClr val="FFFFFF"/>
            </a:solidFill>
            <a:prstDash val="solid"/>
          </a:ln>
        </p:spPr>
      </p:sp>
      <p:sp>
        <p:nvSpPr>
          <p:cNvPr id="24" name="Text 21"/>
          <p:cNvSpPr/>
          <p:nvPr/>
        </p:nvSpPr>
        <p:spPr>
          <a:xfrm>
            <a:off x="9464040" y="2404872"/>
            <a:ext cx="664464" cy="4572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1,409万円</a:t>
            </a:r>
            <a:endParaRPr lang="en-US" sz="1000" dirty="0"/>
          </a:p>
        </p:txBody>
      </p:sp>
      <p:sp>
        <p:nvSpPr>
          <p:cNvPr id="25" name="Shape 22"/>
          <p:cNvSpPr/>
          <p:nvPr/>
        </p:nvSpPr>
        <p:spPr>
          <a:xfrm>
            <a:off x="10174224" y="2404872"/>
            <a:ext cx="755904" cy="457200"/>
          </a:xfrm>
          <a:prstGeom prst="rect">
            <a:avLst/>
          </a:prstGeom>
          <a:solidFill>
            <a:srgbClr val="FAFBFC"/>
          </a:solidFill>
          <a:ln w="12700">
            <a:solidFill>
              <a:srgbClr val="FFFFFF"/>
            </a:solidFill>
            <a:prstDash val="solid"/>
          </a:ln>
        </p:spPr>
      </p:sp>
      <p:sp>
        <p:nvSpPr>
          <p:cNvPr id="26" name="Text 23"/>
          <p:cNvSpPr/>
          <p:nvPr/>
        </p:nvSpPr>
        <p:spPr>
          <a:xfrm>
            <a:off x="10219944" y="2404872"/>
            <a:ext cx="664464" cy="4572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2,563万円</a:t>
            </a:r>
            <a:endParaRPr lang="en-US" sz="1000" dirty="0"/>
          </a:p>
        </p:txBody>
      </p:sp>
      <p:sp>
        <p:nvSpPr>
          <p:cNvPr id="27" name="Shape 24"/>
          <p:cNvSpPr/>
          <p:nvPr/>
        </p:nvSpPr>
        <p:spPr>
          <a:xfrm>
            <a:off x="10930128" y="2404872"/>
            <a:ext cx="755904" cy="457200"/>
          </a:xfrm>
          <a:prstGeom prst="rect">
            <a:avLst/>
          </a:prstGeom>
          <a:solidFill>
            <a:srgbClr val="FAFBFC"/>
          </a:solidFill>
          <a:ln w="12700">
            <a:solidFill>
              <a:srgbClr val="FFFFFF"/>
            </a:solidFill>
            <a:prstDash val="solid"/>
          </a:ln>
        </p:spPr>
      </p:sp>
      <p:sp>
        <p:nvSpPr>
          <p:cNvPr id="28" name="Text 25"/>
          <p:cNvSpPr/>
          <p:nvPr/>
        </p:nvSpPr>
        <p:spPr>
          <a:xfrm>
            <a:off x="10975848" y="2404872"/>
            <a:ext cx="664464" cy="4572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5,268万円</a:t>
            </a:r>
            <a:endParaRPr lang="en-US" sz="1000" dirty="0"/>
          </a:p>
        </p:txBody>
      </p:sp>
      <p:sp>
        <p:nvSpPr>
          <p:cNvPr id="29" name="Shape 26"/>
          <p:cNvSpPr/>
          <p:nvPr/>
        </p:nvSpPr>
        <p:spPr>
          <a:xfrm>
            <a:off x="8001000" y="2862072"/>
            <a:ext cx="1417320" cy="457200"/>
          </a:xfrm>
          <a:prstGeom prst="rect">
            <a:avLst/>
          </a:prstGeom>
          <a:solidFill>
            <a:srgbClr val="EFF4FE"/>
          </a:solidFill>
          <a:ln w="12700">
            <a:solidFill>
              <a:srgbClr val="FFFFFF"/>
            </a:solidFill>
            <a:prstDash val="solid"/>
          </a:ln>
        </p:spPr>
      </p:sp>
      <p:sp>
        <p:nvSpPr>
          <p:cNvPr id="30" name="Text 27"/>
          <p:cNvSpPr/>
          <p:nvPr/>
        </p:nvSpPr>
        <p:spPr>
          <a:xfrm>
            <a:off x="8046720" y="2862072"/>
            <a:ext cx="1325880" cy="457200"/>
          </a:xfrm>
          <a:prstGeom prst="rect">
            <a:avLst/>
          </a:prstGeom>
          <a:noFill/>
          <a:ln/>
        </p:spPr>
        <p:txBody>
          <a:bodyPr wrap="square" lIns="0" tIns="0" rIns="0" bIns="0" rtlCol="0" anchor="ctr"/>
          <a:lstStyle/>
          <a:p>
            <a:pPr algn="l" indent="0" marL="0">
              <a:buNone/>
            </a:pPr>
            <a:r>
              <a:rPr lang="en-US" sz="950" b="1" dirty="0">
                <a:solidFill>
                  <a:srgbClr val="2563EB"/>
                </a:solidFill>
                <a:latin typeface="Calibri" pitchFamily="34" charset="0"/>
                <a:ea typeface="Calibri" pitchFamily="34" charset="-122"/>
                <a:cs typeface="Calibri" pitchFamily="34" charset="-120"/>
              </a:rPr>
              <a:t>営業利益</a:t>
            </a:r>
            <a:endParaRPr lang="en-US" sz="950" dirty="0"/>
          </a:p>
        </p:txBody>
      </p:sp>
      <p:sp>
        <p:nvSpPr>
          <p:cNvPr id="31" name="Shape 28"/>
          <p:cNvSpPr/>
          <p:nvPr/>
        </p:nvSpPr>
        <p:spPr>
          <a:xfrm>
            <a:off x="9418320" y="2862072"/>
            <a:ext cx="755904" cy="457200"/>
          </a:xfrm>
          <a:prstGeom prst="rect">
            <a:avLst/>
          </a:prstGeom>
          <a:solidFill>
            <a:srgbClr val="EFF4FE"/>
          </a:solidFill>
          <a:ln w="12700">
            <a:solidFill>
              <a:srgbClr val="FFFFFF"/>
            </a:solidFill>
            <a:prstDash val="solid"/>
          </a:ln>
        </p:spPr>
      </p:sp>
      <p:sp>
        <p:nvSpPr>
          <p:cNvPr id="32" name="Text 29"/>
          <p:cNvSpPr/>
          <p:nvPr/>
        </p:nvSpPr>
        <p:spPr>
          <a:xfrm>
            <a:off x="9464040" y="2862072"/>
            <a:ext cx="664464" cy="45720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△899万円</a:t>
            </a:r>
            <a:endParaRPr lang="en-US" sz="1000" dirty="0"/>
          </a:p>
        </p:txBody>
      </p:sp>
      <p:sp>
        <p:nvSpPr>
          <p:cNvPr id="33" name="Shape 30"/>
          <p:cNvSpPr/>
          <p:nvPr/>
        </p:nvSpPr>
        <p:spPr>
          <a:xfrm>
            <a:off x="10174224" y="2862072"/>
            <a:ext cx="755904" cy="457200"/>
          </a:xfrm>
          <a:prstGeom prst="rect">
            <a:avLst/>
          </a:prstGeom>
          <a:solidFill>
            <a:srgbClr val="EFF4FE"/>
          </a:solidFill>
          <a:ln w="12700">
            <a:solidFill>
              <a:srgbClr val="FFFFFF"/>
            </a:solidFill>
            <a:prstDash val="solid"/>
          </a:ln>
        </p:spPr>
      </p:sp>
      <p:sp>
        <p:nvSpPr>
          <p:cNvPr id="34" name="Text 31"/>
          <p:cNvSpPr/>
          <p:nvPr/>
        </p:nvSpPr>
        <p:spPr>
          <a:xfrm>
            <a:off x="10219944" y="2862072"/>
            <a:ext cx="664464" cy="45720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487万円</a:t>
            </a:r>
            <a:endParaRPr lang="en-US" sz="1000" dirty="0"/>
          </a:p>
        </p:txBody>
      </p:sp>
      <p:sp>
        <p:nvSpPr>
          <p:cNvPr id="35" name="Shape 32"/>
          <p:cNvSpPr/>
          <p:nvPr/>
        </p:nvSpPr>
        <p:spPr>
          <a:xfrm>
            <a:off x="10930128" y="2862072"/>
            <a:ext cx="755904" cy="457200"/>
          </a:xfrm>
          <a:prstGeom prst="rect">
            <a:avLst/>
          </a:prstGeom>
          <a:solidFill>
            <a:srgbClr val="EFF4FE"/>
          </a:solidFill>
          <a:ln w="12700">
            <a:solidFill>
              <a:srgbClr val="FFFFFF"/>
            </a:solidFill>
            <a:prstDash val="solid"/>
          </a:ln>
        </p:spPr>
      </p:sp>
      <p:sp>
        <p:nvSpPr>
          <p:cNvPr id="36" name="Text 33"/>
          <p:cNvSpPr/>
          <p:nvPr/>
        </p:nvSpPr>
        <p:spPr>
          <a:xfrm>
            <a:off x="10975848" y="2862072"/>
            <a:ext cx="664464" cy="45720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4,632万円</a:t>
            </a:r>
            <a:endParaRPr lang="en-US" sz="1000" dirty="0"/>
          </a:p>
        </p:txBody>
      </p:sp>
      <p:sp>
        <p:nvSpPr>
          <p:cNvPr id="37" name="Shape 34"/>
          <p:cNvSpPr/>
          <p:nvPr/>
        </p:nvSpPr>
        <p:spPr>
          <a:xfrm>
            <a:off x="8001000" y="3319272"/>
            <a:ext cx="1417320" cy="457200"/>
          </a:xfrm>
          <a:prstGeom prst="rect">
            <a:avLst/>
          </a:prstGeom>
          <a:solidFill>
            <a:srgbClr val="EFF4FE"/>
          </a:solidFill>
          <a:ln w="12700">
            <a:solidFill>
              <a:srgbClr val="FFFFFF"/>
            </a:solidFill>
            <a:prstDash val="solid"/>
          </a:ln>
        </p:spPr>
      </p:sp>
      <p:sp>
        <p:nvSpPr>
          <p:cNvPr id="38" name="Text 35"/>
          <p:cNvSpPr/>
          <p:nvPr/>
        </p:nvSpPr>
        <p:spPr>
          <a:xfrm>
            <a:off x="8046720" y="3319272"/>
            <a:ext cx="1325880" cy="457200"/>
          </a:xfrm>
          <a:prstGeom prst="rect">
            <a:avLst/>
          </a:prstGeom>
          <a:noFill/>
          <a:ln/>
        </p:spPr>
        <p:txBody>
          <a:bodyPr wrap="square" lIns="0" tIns="0" rIns="0" bIns="0" rtlCol="0" anchor="ctr"/>
          <a:lstStyle/>
          <a:p>
            <a:pPr algn="l" indent="0" marL="0">
              <a:buNone/>
            </a:pPr>
            <a:r>
              <a:rPr lang="en-US" sz="950" b="1" dirty="0">
                <a:solidFill>
                  <a:srgbClr val="2563EB"/>
                </a:solidFill>
                <a:latin typeface="Calibri" pitchFamily="34" charset="0"/>
                <a:ea typeface="Calibri" pitchFamily="34" charset="-122"/>
                <a:cs typeface="Calibri" pitchFamily="34" charset="-120"/>
              </a:rPr>
              <a:t>営業利益率</a:t>
            </a:r>
            <a:endParaRPr lang="en-US" sz="950" dirty="0"/>
          </a:p>
        </p:txBody>
      </p:sp>
      <p:sp>
        <p:nvSpPr>
          <p:cNvPr id="39" name="Shape 36"/>
          <p:cNvSpPr/>
          <p:nvPr/>
        </p:nvSpPr>
        <p:spPr>
          <a:xfrm>
            <a:off x="9418320" y="3319272"/>
            <a:ext cx="755904" cy="457200"/>
          </a:xfrm>
          <a:prstGeom prst="rect">
            <a:avLst/>
          </a:prstGeom>
          <a:solidFill>
            <a:srgbClr val="EFF4FE"/>
          </a:solidFill>
          <a:ln w="12700">
            <a:solidFill>
              <a:srgbClr val="FFFFFF"/>
            </a:solidFill>
            <a:prstDash val="solid"/>
          </a:ln>
        </p:spPr>
      </p:sp>
      <p:sp>
        <p:nvSpPr>
          <p:cNvPr id="40" name="Text 37"/>
          <p:cNvSpPr/>
          <p:nvPr/>
        </p:nvSpPr>
        <p:spPr>
          <a:xfrm>
            <a:off x="9464040" y="3319272"/>
            <a:ext cx="664464" cy="45720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41" name="Shape 38"/>
          <p:cNvSpPr/>
          <p:nvPr/>
        </p:nvSpPr>
        <p:spPr>
          <a:xfrm>
            <a:off x="10174224" y="3319272"/>
            <a:ext cx="755904" cy="457200"/>
          </a:xfrm>
          <a:prstGeom prst="rect">
            <a:avLst/>
          </a:prstGeom>
          <a:solidFill>
            <a:srgbClr val="EFF4FE"/>
          </a:solidFill>
          <a:ln w="12700">
            <a:solidFill>
              <a:srgbClr val="FFFFFF"/>
            </a:solidFill>
            <a:prstDash val="solid"/>
          </a:ln>
        </p:spPr>
      </p:sp>
      <p:sp>
        <p:nvSpPr>
          <p:cNvPr id="42" name="Text 39"/>
          <p:cNvSpPr/>
          <p:nvPr/>
        </p:nvSpPr>
        <p:spPr>
          <a:xfrm>
            <a:off x="10219944" y="3319272"/>
            <a:ext cx="664464" cy="45720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16.0%</a:t>
            </a:r>
            <a:endParaRPr lang="en-US" sz="1000" dirty="0"/>
          </a:p>
        </p:txBody>
      </p:sp>
      <p:sp>
        <p:nvSpPr>
          <p:cNvPr id="43" name="Shape 40"/>
          <p:cNvSpPr/>
          <p:nvPr/>
        </p:nvSpPr>
        <p:spPr>
          <a:xfrm>
            <a:off x="10930128" y="3319272"/>
            <a:ext cx="755904" cy="457200"/>
          </a:xfrm>
          <a:prstGeom prst="rect">
            <a:avLst/>
          </a:prstGeom>
          <a:solidFill>
            <a:srgbClr val="EFF4FE"/>
          </a:solidFill>
          <a:ln w="12700">
            <a:solidFill>
              <a:srgbClr val="FFFFFF"/>
            </a:solidFill>
            <a:prstDash val="solid"/>
          </a:ln>
        </p:spPr>
      </p:sp>
      <p:sp>
        <p:nvSpPr>
          <p:cNvPr id="44" name="Text 41"/>
          <p:cNvSpPr/>
          <p:nvPr/>
        </p:nvSpPr>
        <p:spPr>
          <a:xfrm>
            <a:off x="10975848" y="3319272"/>
            <a:ext cx="664464" cy="45720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46.8%</a:t>
            </a:r>
            <a:endParaRPr lang="en-US" sz="1000" dirty="0"/>
          </a:p>
        </p:txBody>
      </p:sp>
      <p:sp>
        <p:nvSpPr>
          <p:cNvPr id="45" name="Text 42"/>
          <p:cNvSpPr/>
          <p:nvPr/>
        </p:nvSpPr>
        <p:spPr>
          <a:xfrm>
            <a:off x="8001000" y="3913632"/>
            <a:ext cx="3685032" cy="777240"/>
          </a:xfrm>
          <a:prstGeom prst="rect">
            <a:avLst/>
          </a:prstGeom>
          <a:noFill/>
          <a:ln/>
        </p:spPr>
        <p:txBody>
          <a:bodyPr wrap="square" lIns="0" tIns="0" rIns="0" bIns="0" rtlCol="0" anchor="ctr"/>
          <a:lstStyle/>
          <a:p>
            <a:pPr indent="0" marL="0">
              <a:lnSpc>
                <a:spcPct val="120000"/>
              </a:lnSpc>
              <a:buNone/>
            </a:pPr>
            <a:r>
              <a:rPr lang="en-US" sz="850" i="1" dirty="0">
                <a:solidFill>
                  <a:srgbClr val="64748B"/>
                </a:solidFill>
                <a:latin typeface="Calibri" pitchFamily="34" charset="0"/>
                <a:ea typeface="Calibri" pitchFamily="34" charset="-122"/>
                <a:cs typeface="Calibri" pitchFamily="34" charset="-120"/>
              </a:rPr>
              <a:t>Year1は開発投資期のため赤字(△899万円)ですが、Year2は売上成長が費用増を上回り黒字化(16.0%)。無理な成長を見込まず、実現可能性を優先した保守的な前提です。</a:t>
            </a:r>
            <a:endParaRPr lang="en-US" sz="850" dirty="0"/>
          </a:p>
        </p:txBody>
      </p:sp>
      <p:sp>
        <p:nvSpPr>
          <p:cNvPr id="46" name="Shape 43"/>
          <p:cNvSpPr/>
          <p:nvPr/>
        </p:nvSpPr>
        <p:spPr>
          <a:xfrm>
            <a:off x="502920" y="4709160"/>
            <a:ext cx="11185855" cy="1417320"/>
          </a:xfrm>
          <a:prstGeom prst="roundRect">
            <a:avLst>
              <a:gd name="adj" fmla="val 5161"/>
            </a:avLst>
          </a:prstGeom>
          <a:solidFill>
            <a:srgbClr val="F3F6FA"/>
          </a:solidFill>
          <a:ln/>
          <a:effectLst>
            <a:outerShdw sx="100000" sy="100000" kx="0" ky="0" algn="bl" rotWithShape="0" blurRad="76200" dist="25400" dir="5400000">
              <a:srgbClr val="0A1B3D">
                <a:alpha val="12000"/>
              </a:srgbClr>
            </a:outerShdw>
          </a:effectLst>
        </p:spPr>
      </p:sp>
      <p:sp>
        <p:nvSpPr>
          <p:cNvPr id="47" name="Text 44"/>
          <p:cNvSpPr/>
          <p:nvPr/>
        </p:nvSpPr>
        <p:spPr>
          <a:xfrm>
            <a:off x="685800" y="4818888"/>
            <a:ext cx="182880" cy="310896"/>
          </a:xfrm>
          <a:prstGeom prst="rect">
            <a:avLst/>
          </a:prstGeom>
          <a:noFill/>
          <a:ln/>
        </p:spPr>
        <p:txBody>
          <a:bodyPr wrap="square" lIns="0" tIns="0" rIns="0" bIns="0" rtlCol="0" anchor="ctr"/>
          <a:lstStyle/>
          <a:p>
            <a:pPr indent="0" marL="0">
              <a:buNone/>
            </a:pPr>
            <a:r>
              <a:rPr lang="en-US" sz="950" b="1" dirty="0">
                <a:solidFill>
                  <a:srgbClr val="2563EB"/>
                </a:solidFill>
                <a:latin typeface="Calibri" pitchFamily="34" charset="0"/>
                <a:ea typeface="Calibri" pitchFamily="34" charset="-122"/>
                <a:cs typeface="Calibri" pitchFamily="34" charset="-120"/>
              </a:rPr>
              <a:t>•</a:t>
            </a:r>
            <a:endParaRPr lang="en-US" sz="950" dirty="0"/>
          </a:p>
        </p:txBody>
      </p:sp>
      <p:sp>
        <p:nvSpPr>
          <p:cNvPr id="48" name="Text 45"/>
          <p:cNvSpPr/>
          <p:nvPr/>
        </p:nvSpPr>
        <p:spPr>
          <a:xfrm>
            <a:off x="886968" y="4818888"/>
            <a:ext cx="10591495" cy="310896"/>
          </a:xfrm>
          <a:prstGeom prst="rect">
            <a:avLst/>
          </a:prstGeom>
          <a:noFill/>
          <a:ln/>
        </p:spPr>
        <p:txBody>
          <a:bodyPr wrap="square" lIns="0" tIns="0" rIns="0" bIns="0" rtlCol="0" anchor="ctr"/>
          <a:lstStyle/>
          <a:p>
            <a:pPr indent="0" marL="0">
              <a:lnSpc>
                <a:spcPct val="105000"/>
              </a:lnSpc>
              <a:buNone/>
            </a:pPr>
            <a:r>
              <a:rPr lang="en-US" sz="870" dirty="0">
                <a:solidFill>
                  <a:srgbClr val="1E293B"/>
                </a:solidFill>
                <a:latin typeface="Calibri" pitchFamily="34" charset="0"/>
                <a:ea typeface="Calibri" pitchFamily="34" charset="-122"/>
                <a:cs typeface="Calibri" pitchFamily="34" charset="-120"/>
              </a:rPr>
              <a:t>なぜYear2で黒字化するのか：開発投資が一巡し、Year1契約の更新収益（満額12ヶ月分）に新規20社分の売上が加わる一方、費用の伸びは緩やかなため</a:t>
            </a:r>
            <a:endParaRPr lang="en-US" sz="870" dirty="0"/>
          </a:p>
        </p:txBody>
      </p:sp>
      <p:sp>
        <p:nvSpPr>
          <p:cNvPr id="49" name="Text 46"/>
          <p:cNvSpPr/>
          <p:nvPr/>
        </p:nvSpPr>
        <p:spPr>
          <a:xfrm>
            <a:off x="685800" y="5138928"/>
            <a:ext cx="182880" cy="310896"/>
          </a:xfrm>
          <a:prstGeom prst="rect">
            <a:avLst/>
          </a:prstGeom>
          <a:noFill/>
          <a:ln/>
        </p:spPr>
        <p:txBody>
          <a:bodyPr wrap="square" lIns="0" tIns="0" rIns="0" bIns="0" rtlCol="0" anchor="ctr"/>
          <a:lstStyle/>
          <a:p>
            <a:pPr indent="0" marL="0">
              <a:buNone/>
            </a:pPr>
            <a:r>
              <a:rPr lang="en-US" sz="950" b="1" dirty="0">
                <a:solidFill>
                  <a:srgbClr val="2563EB"/>
                </a:solidFill>
                <a:latin typeface="Calibri" pitchFamily="34" charset="0"/>
                <a:ea typeface="Calibri" pitchFamily="34" charset="-122"/>
                <a:cs typeface="Calibri" pitchFamily="34" charset="-120"/>
              </a:rPr>
              <a:t>•</a:t>
            </a:r>
            <a:endParaRPr lang="en-US" sz="950" dirty="0"/>
          </a:p>
        </p:txBody>
      </p:sp>
      <p:sp>
        <p:nvSpPr>
          <p:cNvPr id="50" name="Text 47"/>
          <p:cNvSpPr/>
          <p:nvPr/>
        </p:nvSpPr>
        <p:spPr>
          <a:xfrm>
            <a:off x="886968" y="5138928"/>
            <a:ext cx="10591495" cy="310896"/>
          </a:xfrm>
          <a:prstGeom prst="rect">
            <a:avLst/>
          </a:prstGeom>
          <a:noFill/>
          <a:ln/>
        </p:spPr>
        <p:txBody>
          <a:bodyPr wrap="square" lIns="0" tIns="0" rIns="0" bIns="0" rtlCol="0" anchor="ctr"/>
          <a:lstStyle/>
          <a:p>
            <a:pPr indent="0" marL="0">
              <a:lnSpc>
                <a:spcPct val="105000"/>
              </a:lnSpc>
              <a:buNone/>
            </a:pPr>
            <a:r>
              <a:rPr lang="en-US" sz="870" dirty="0">
                <a:solidFill>
                  <a:srgbClr val="1E293B"/>
                </a:solidFill>
                <a:latin typeface="Calibri" pitchFamily="34" charset="0"/>
                <a:ea typeface="Calibri" pitchFamily="34" charset="-122"/>
                <a:cs typeface="Calibri" pitchFamily="34" charset="-120"/>
              </a:rPr>
              <a:t>固定費と変動費の違い：固定費は顧客数によらず一定額、変動費は顧客数・売上高に比例。売上成長に伴い固定費の負担割合が下がり、利益率が改善</a:t>
            </a:r>
            <a:endParaRPr lang="en-US" sz="870" dirty="0"/>
          </a:p>
        </p:txBody>
      </p:sp>
      <p:sp>
        <p:nvSpPr>
          <p:cNvPr id="51" name="Text 48"/>
          <p:cNvSpPr/>
          <p:nvPr/>
        </p:nvSpPr>
        <p:spPr>
          <a:xfrm>
            <a:off x="685800" y="5458968"/>
            <a:ext cx="182880" cy="310896"/>
          </a:xfrm>
          <a:prstGeom prst="rect">
            <a:avLst/>
          </a:prstGeom>
          <a:noFill/>
          <a:ln/>
        </p:spPr>
        <p:txBody>
          <a:bodyPr wrap="square" lIns="0" tIns="0" rIns="0" bIns="0" rtlCol="0" anchor="ctr"/>
          <a:lstStyle/>
          <a:p>
            <a:pPr indent="0" marL="0">
              <a:buNone/>
            </a:pPr>
            <a:r>
              <a:rPr lang="en-US" sz="950" b="1" dirty="0">
                <a:solidFill>
                  <a:srgbClr val="2563EB"/>
                </a:solidFill>
                <a:latin typeface="Calibri" pitchFamily="34" charset="0"/>
                <a:ea typeface="Calibri" pitchFamily="34" charset="-122"/>
                <a:cs typeface="Calibri" pitchFamily="34" charset="-120"/>
              </a:rPr>
              <a:t>•</a:t>
            </a:r>
            <a:endParaRPr lang="en-US" sz="950" dirty="0"/>
          </a:p>
        </p:txBody>
      </p:sp>
      <p:sp>
        <p:nvSpPr>
          <p:cNvPr id="52" name="Text 49"/>
          <p:cNvSpPr/>
          <p:nvPr/>
        </p:nvSpPr>
        <p:spPr>
          <a:xfrm>
            <a:off x="886968" y="5458968"/>
            <a:ext cx="10591495" cy="310896"/>
          </a:xfrm>
          <a:prstGeom prst="rect">
            <a:avLst/>
          </a:prstGeom>
          <a:noFill/>
          <a:ln/>
        </p:spPr>
        <p:txBody>
          <a:bodyPr wrap="square" lIns="0" tIns="0" rIns="0" bIns="0" rtlCol="0" anchor="ctr"/>
          <a:lstStyle/>
          <a:p>
            <a:pPr indent="0" marL="0">
              <a:lnSpc>
                <a:spcPct val="105000"/>
              </a:lnSpc>
              <a:buNone/>
            </a:pPr>
            <a:r>
              <a:rPr lang="en-US" sz="870" dirty="0">
                <a:solidFill>
                  <a:srgbClr val="1E293B"/>
                </a:solidFill>
                <a:latin typeface="Calibri" pitchFamily="34" charset="0"/>
                <a:ea typeface="Calibri" pitchFamily="34" charset="-122"/>
                <a:cs typeface="Calibri" pitchFamily="34" charset="-120"/>
              </a:rPr>
              <a:t>紹介制度による営業効率化：Partner Program経由の顧客獲得コストは広告経由より低く、営業効率を高めながら費用増加を抑制</a:t>
            </a:r>
            <a:endParaRPr lang="en-US" sz="870" dirty="0"/>
          </a:p>
        </p:txBody>
      </p:sp>
      <p:sp>
        <p:nvSpPr>
          <p:cNvPr id="53" name="Text 50"/>
          <p:cNvSpPr/>
          <p:nvPr/>
        </p:nvSpPr>
        <p:spPr>
          <a:xfrm>
            <a:off x="685800" y="5779008"/>
            <a:ext cx="182880" cy="310896"/>
          </a:xfrm>
          <a:prstGeom prst="rect">
            <a:avLst/>
          </a:prstGeom>
          <a:noFill/>
          <a:ln/>
        </p:spPr>
        <p:txBody>
          <a:bodyPr wrap="square" lIns="0" tIns="0" rIns="0" bIns="0" rtlCol="0" anchor="ctr"/>
          <a:lstStyle/>
          <a:p>
            <a:pPr indent="0" marL="0">
              <a:buNone/>
            </a:pPr>
            <a:r>
              <a:rPr lang="en-US" sz="950" b="1" dirty="0">
                <a:solidFill>
                  <a:srgbClr val="2563EB"/>
                </a:solidFill>
                <a:latin typeface="Calibri" pitchFamily="34" charset="0"/>
                <a:ea typeface="Calibri" pitchFamily="34" charset="-122"/>
                <a:cs typeface="Calibri" pitchFamily="34" charset="-120"/>
              </a:rPr>
              <a:t>•</a:t>
            </a:r>
            <a:endParaRPr lang="en-US" sz="950" dirty="0"/>
          </a:p>
        </p:txBody>
      </p:sp>
      <p:sp>
        <p:nvSpPr>
          <p:cNvPr id="54" name="Text 51"/>
          <p:cNvSpPr/>
          <p:nvPr/>
        </p:nvSpPr>
        <p:spPr>
          <a:xfrm>
            <a:off x="886968" y="5779008"/>
            <a:ext cx="10591495" cy="310896"/>
          </a:xfrm>
          <a:prstGeom prst="rect">
            <a:avLst/>
          </a:prstGeom>
          <a:noFill/>
          <a:ln/>
        </p:spPr>
        <p:txBody>
          <a:bodyPr wrap="square" lIns="0" tIns="0" rIns="0" bIns="0" rtlCol="0" anchor="ctr"/>
          <a:lstStyle/>
          <a:p>
            <a:pPr indent="0" marL="0">
              <a:lnSpc>
                <a:spcPct val="105000"/>
              </a:lnSpc>
              <a:buNone/>
            </a:pPr>
            <a:r>
              <a:rPr lang="en-US" sz="870" dirty="0">
                <a:solidFill>
                  <a:srgbClr val="1E293B"/>
                </a:solidFill>
                <a:latin typeface="Calibri" pitchFamily="34" charset="0"/>
                <a:ea typeface="Calibri" pitchFamily="34" charset="-122"/>
                <a:cs typeface="Calibri" pitchFamily="34" charset="-120"/>
              </a:rPr>
              <a:t>継続課金による利益積み上げ：更新顧客は新規獲得コストがかからず、契約更新が積み重なるほど利益率が向上</a:t>
            </a:r>
            <a:endParaRPr lang="en-US" sz="870" dirty="0"/>
          </a:p>
        </p:txBody>
      </p:sp>
      <p:sp>
        <p:nvSpPr>
          <p:cNvPr id="55" name="Text 52"/>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1.2</a:t>
            </a:r>
            <a:endParaRPr lang="en-US" sz="900" dirty="0"/>
          </a:p>
        </p:txBody>
      </p:sp>
      <p:sp>
        <p:nvSpPr>
          <p:cNvPr id="56" name="Text 5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WHY PROFIT IMPROVES</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800" b="1" dirty="0">
                <a:solidFill>
                  <a:srgbClr val="0A1B3D"/>
                </a:solidFill>
                <a:latin typeface="Cambria" pitchFamily="34" charset="0"/>
                <a:ea typeface="Cambria" pitchFamily="34" charset="-122"/>
                <a:cs typeface="Cambria" pitchFamily="34" charset="-120"/>
              </a:rPr>
              <a:t>利益が改善する理由</a:t>
            </a:r>
            <a:endParaRPr lang="en-US" sz="2800" dirty="0"/>
          </a:p>
        </p:txBody>
      </p:sp>
      <p:sp>
        <p:nvSpPr>
          <p:cNvPr id="4" name="Shape 2"/>
          <p:cNvSpPr/>
          <p:nvPr/>
        </p:nvSpPr>
        <p:spPr>
          <a:xfrm>
            <a:off x="502920" y="1600200"/>
            <a:ext cx="868680" cy="1051560"/>
          </a:xfrm>
          <a:prstGeom prst="roundRect">
            <a:avLst>
              <a:gd name="adj" fmla="val 8421"/>
            </a:avLst>
          </a:prstGeom>
          <a:solidFill>
            <a:srgbClr val="0A1B3D"/>
          </a:solidFill>
          <a:ln/>
        </p:spPr>
      </p:sp>
      <p:sp>
        <p:nvSpPr>
          <p:cNvPr id="5" name="Text 3"/>
          <p:cNvSpPr/>
          <p:nvPr/>
        </p:nvSpPr>
        <p:spPr>
          <a:xfrm>
            <a:off x="502920" y="1600200"/>
            <a:ext cx="868680" cy="10515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初年度</a:t>
            </a:r>
            <a:endParaRPr lang="en-US" sz="1200" dirty="0"/>
          </a:p>
        </p:txBody>
      </p:sp>
      <p:sp>
        <p:nvSpPr>
          <p:cNvPr id="6" name="Shape 4"/>
          <p:cNvSpPr/>
          <p:nvPr/>
        </p:nvSpPr>
        <p:spPr>
          <a:xfrm>
            <a:off x="5410048" y="1600200"/>
            <a:ext cx="2377440"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7" name="Shape 5"/>
          <p:cNvSpPr/>
          <p:nvPr/>
        </p:nvSpPr>
        <p:spPr>
          <a:xfrm>
            <a:off x="6347308" y="1737360"/>
            <a:ext cx="502920" cy="502920"/>
          </a:xfrm>
          <a:prstGeom prst="ellipse">
            <a:avLst/>
          </a:prstGeom>
          <a:solidFill>
            <a:srgbClr val="FFFFFF"/>
          </a:solidFill>
          <a:ln/>
        </p:spPr>
      </p:sp>
      <p:pic>
        <p:nvPicPr>
          <p:cNvPr id="8" name="Image 0" descr="C:\Users\user\AppData\Local\Temp\claude\C--Users-user-Desktop-TOEIC---\46f2443e-6c5b-45fc-8f6e-79718ae21477\scratchpad\business-plan\icons\brain.png">    </p:cNvPr>
          <p:cNvPicPr>
            <a:picLocks noChangeAspect="1"/>
          </p:cNvPicPr>
          <p:nvPr/>
        </p:nvPicPr>
        <p:blipFill>
          <a:blip r:embed="rId1"/>
          <a:stretch>
            <a:fillRect/>
          </a:stretch>
        </p:blipFill>
        <p:spPr>
          <a:xfrm>
            <a:off x="6460465" y="1850517"/>
            <a:ext cx="276606" cy="276606"/>
          </a:xfrm>
          <a:prstGeom prst="rect">
            <a:avLst/>
          </a:prstGeom>
        </p:spPr>
      </p:pic>
      <p:sp>
        <p:nvSpPr>
          <p:cNvPr id="9" name="Text 6"/>
          <p:cNvSpPr/>
          <p:nvPr/>
        </p:nvSpPr>
        <p:spPr>
          <a:xfrm>
            <a:off x="5483200" y="2295144"/>
            <a:ext cx="2231136" cy="310896"/>
          </a:xfrm>
          <a:prstGeom prst="rect">
            <a:avLst/>
          </a:prstGeom>
          <a:noFill/>
          <a:ln/>
        </p:spPr>
        <p:txBody>
          <a:bodyPr wrap="square" lIns="0" tIns="0" rIns="0" bIns="0" rtlCol="0" anchor="ctr"/>
          <a:lstStyle/>
          <a:p>
            <a:pPr algn="ctr" indent="0" marL="0">
              <a:lnSpc>
                <a:spcPct val="100000"/>
              </a:lnSpc>
              <a:buNone/>
            </a:pPr>
            <a:r>
              <a:rPr lang="en-US" sz="1000" b="1" dirty="0">
                <a:solidFill>
                  <a:srgbClr val="0A1B3D"/>
                </a:solidFill>
                <a:latin typeface="Calibri" pitchFamily="34" charset="0"/>
                <a:ea typeface="Calibri" pitchFamily="34" charset="-122"/>
                <a:cs typeface="Calibri" pitchFamily="34" charset="-120"/>
              </a:rPr>
              <a:t>開発投資</a:t>
            </a:r>
            <a:endParaRPr lang="en-US" sz="1000" dirty="0"/>
          </a:p>
        </p:txBody>
      </p:sp>
      <p:sp>
        <p:nvSpPr>
          <p:cNvPr id="10" name="Text 7"/>
          <p:cNvSpPr/>
          <p:nvPr/>
        </p:nvSpPr>
        <p:spPr>
          <a:xfrm>
            <a:off x="502920" y="2670048"/>
            <a:ext cx="868680" cy="256032"/>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a:t>
            </a:r>
            <a:endParaRPr lang="en-US" sz="1500" dirty="0"/>
          </a:p>
        </p:txBody>
      </p:sp>
      <p:sp>
        <p:nvSpPr>
          <p:cNvPr id="11" name="Shape 8"/>
          <p:cNvSpPr/>
          <p:nvPr/>
        </p:nvSpPr>
        <p:spPr>
          <a:xfrm>
            <a:off x="502920" y="2944368"/>
            <a:ext cx="868680" cy="1051560"/>
          </a:xfrm>
          <a:prstGeom prst="roundRect">
            <a:avLst>
              <a:gd name="adj" fmla="val 8421"/>
            </a:avLst>
          </a:prstGeom>
          <a:solidFill>
            <a:srgbClr val="0A1B3D"/>
          </a:solidFill>
          <a:ln/>
        </p:spPr>
      </p:sp>
      <p:sp>
        <p:nvSpPr>
          <p:cNvPr id="12" name="Text 9"/>
          <p:cNvSpPr/>
          <p:nvPr/>
        </p:nvSpPr>
        <p:spPr>
          <a:xfrm>
            <a:off x="502920" y="2944368"/>
            <a:ext cx="868680" cy="10515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2年目</a:t>
            </a:r>
            <a:endParaRPr lang="en-US" sz="1200" dirty="0"/>
          </a:p>
        </p:txBody>
      </p:sp>
      <p:sp>
        <p:nvSpPr>
          <p:cNvPr id="13" name="Shape 10"/>
          <p:cNvSpPr/>
          <p:nvPr/>
        </p:nvSpPr>
        <p:spPr>
          <a:xfrm>
            <a:off x="1508760" y="2944368"/>
            <a:ext cx="2167814"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14" name="Shape 11"/>
          <p:cNvSpPr/>
          <p:nvPr/>
        </p:nvSpPr>
        <p:spPr>
          <a:xfrm>
            <a:off x="2341207" y="3081528"/>
            <a:ext cx="502920" cy="502920"/>
          </a:xfrm>
          <a:prstGeom prst="ellipse">
            <a:avLst/>
          </a:prstGeom>
          <a:solidFill>
            <a:srgbClr val="FFFFFF"/>
          </a:solidFill>
          <a:ln/>
        </p:spPr>
      </p:sp>
      <p:pic>
        <p:nvPicPr>
          <p:cNvPr id="15" name="Image 1" descr="C:\Users\user\AppData\Local\Temp\claude\C--Users-user-Desktop-TOEIC---\46f2443e-6c5b-45fc-8f6e-79718ae21477\scratchpad\business-plan\icons\sync.png">    </p:cNvPr>
          <p:cNvPicPr>
            <a:picLocks noChangeAspect="1"/>
          </p:cNvPicPr>
          <p:nvPr/>
        </p:nvPicPr>
        <p:blipFill>
          <a:blip r:embed="rId2"/>
          <a:stretch>
            <a:fillRect/>
          </a:stretch>
        </p:blipFill>
        <p:spPr>
          <a:xfrm>
            <a:off x="2454364" y="3194685"/>
            <a:ext cx="276606" cy="276606"/>
          </a:xfrm>
          <a:prstGeom prst="rect">
            <a:avLst/>
          </a:prstGeom>
        </p:spPr>
      </p:pic>
      <p:sp>
        <p:nvSpPr>
          <p:cNvPr id="16" name="Text 12"/>
          <p:cNvSpPr/>
          <p:nvPr/>
        </p:nvSpPr>
        <p:spPr>
          <a:xfrm>
            <a:off x="1581912" y="3639312"/>
            <a:ext cx="2021510" cy="310896"/>
          </a:xfrm>
          <a:prstGeom prst="rect">
            <a:avLst/>
          </a:prstGeom>
          <a:noFill/>
          <a:ln/>
        </p:spPr>
        <p:txBody>
          <a:bodyPr wrap="square" lIns="0" tIns="0" rIns="0" bIns="0" rtlCol="0" anchor="ctr"/>
          <a:lstStyle/>
          <a:p>
            <a:pPr algn="ctr" indent="0" marL="0">
              <a:lnSpc>
                <a:spcPct val="100000"/>
              </a:lnSpc>
              <a:buNone/>
            </a:pPr>
            <a:r>
              <a:rPr lang="en-US" sz="1000" b="1" dirty="0">
                <a:solidFill>
                  <a:srgbClr val="0A1B3D"/>
                </a:solidFill>
                <a:latin typeface="Calibri" pitchFamily="34" charset="0"/>
                <a:ea typeface="Calibri" pitchFamily="34" charset="-122"/>
                <a:cs typeface="Calibri" pitchFamily="34" charset="-120"/>
              </a:rPr>
              <a:t>契約更新</a:t>
            </a:r>
            <a:endParaRPr lang="en-US" sz="1000" dirty="0"/>
          </a:p>
        </p:txBody>
      </p:sp>
      <p:sp>
        <p:nvSpPr>
          <p:cNvPr id="17" name="Text 13"/>
          <p:cNvSpPr/>
          <p:nvPr/>
        </p:nvSpPr>
        <p:spPr>
          <a:xfrm>
            <a:off x="3676574" y="3218688"/>
            <a:ext cx="502920"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18" name="Shape 14"/>
          <p:cNvSpPr/>
          <p:nvPr/>
        </p:nvSpPr>
        <p:spPr>
          <a:xfrm>
            <a:off x="4179494" y="2944368"/>
            <a:ext cx="2167814"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19" name="Shape 15"/>
          <p:cNvSpPr/>
          <p:nvPr/>
        </p:nvSpPr>
        <p:spPr>
          <a:xfrm>
            <a:off x="5011941" y="3081528"/>
            <a:ext cx="502920" cy="502920"/>
          </a:xfrm>
          <a:prstGeom prst="ellipse">
            <a:avLst/>
          </a:prstGeom>
          <a:solidFill>
            <a:srgbClr val="FFFFFF"/>
          </a:solidFill>
          <a:ln/>
        </p:spPr>
      </p:sp>
      <p:pic>
        <p:nvPicPr>
          <p:cNvPr id="20" name="Image 2" descr="C:\Users\user\AppData\Local\Temp\claude\C--Users-user-Desktop-TOEIC---\46f2443e-6c5b-45fc-8f6e-79718ae21477\scratchpad\business-plan\icons\star.png">    </p:cNvPr>
          <p:cNvPicPr>
            <a:picLocks noChangeAspect="1"/>
          </p:cNvPicPr>
          <p:nvPr/>
        </p:nvPicPr>
        <p:blipFill>
          <a:blip r:embed="rId3"/>
          <a:stretch>
            <a:fillRect/>
          </a:stretch>
        </p:blipFill>
        <p:spPr>
          <a:xfrm>
            <a:off x="5125098" y="3194685"/>
            <a:ext cx="276606" cy="276606"/>
          </a:xfrm>
          <a:prstGeom prst="rect">
            <a:avLst/>
          </a:prstGeom>
        </p:spPr>
      </p:pic>
      <p:sp>
        <p:nvSpPr>
          <p:cNvPr id="21" name="Text 16"/>
          <p:cNvSpPr/>
          <p:nvPr/>
        </p:nvSpPr>
        <p:spPr>
          <a:xfrm>
            <a:off x="4252646" y="3639312"/>
            <a:ext cx="2021510" cy="310896"/>
          </a:xfrm>
          <a:prstGeom prst="rect">
            <a:avLst/>
          </a:prstGeom>
          <a:noFill/>
          <a:ln/>
        </p:spPr>
        <p:txBody>
          <a:bodyPr wrap="square" lIns="0" tIns="0" rIns="0" bIns="0" rtlCol="0" anchor="ctr"/>
          <a:lstStyle/>
          <a:p>
            <a:pPr algn="ctr" indent="0" marL="0">
              <a:lnSpc>
                <a:spcPct val="100000"/>
              </a:lnSpc>
              <a:buNone/>
            </a:pPr>
            <a:r>
              <a:rPr lang="en-US" sz="1000" b="1" dirty="0">
                <a:solidFill>
                  <a:srgbClr val="0A1B3D"/>
                </a:solidFill>
                <a:latin typeface="Calibri" pitchFamily="34" charset="0"/>
                <a:ea typeface="Calibri" pitchFamily="34" charset="-122"/>
                <a:cs typeface="Calibri" pitchFamily="34" charset="-120"/>
              </a:rPr>
              <a:t>Partner Program</a:t>
            </a:r>
            <a:endParaRPr lang="en-US" sz="1000" dirty="0"/>
          </a:p>
        </p:txBody>
      </p:sp>
      <p:sp>
        <p:nvSpPr>
          <p:cNvPr id="22" name="Text 17"/>
          <p:cNvSpPr/>
          <p:nvPr/>
        </p:nvSpPr>
        <p:spPr>
          <a:xfrm>
            <a:off x="6347308" y="3218688"/>
            <a:ext cx="502920"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23" name="Shape 18"/>
          <p:cNvSpPr/>
          <p:nvPr/>
        </p:nvSpPr>
        <p:spPr>
          <a:xfrm>
            <a:off x="6850228" y="2944368"/>
            <a:ext cx="2167814"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24" name="Shape 19"/>
          <p:cNvSpPr/>
          <p:nvPr/>
        </p:nvSpPr>
        <p:spPr>
          <a:xfrm>
            <a:off x="7682675" y="3081528"/>
            <a:ext cx="502920" cy="502920"/>
          </a:xfrm>
          <a:prstGeom prst="ellipse">
            <a:avLst/>
          </a:prstGeom>
          <a:solidFill>
            <a:srgbClr val="FFFFFF"/>
          </a:solidFill>
          <a:ln/>
        </p:spPr>
      </p:sp>
      <p:pic>
        <p:nvPicPr>
          <p:cNvPr id="25" name="Image 3" descr="C:\Users\user\AppData\Local\Temp\claude\C--Users-user-Desktop-TOEIC---\46f2443e-6c5b-45fc-8f6e-79718ae21477\scratchpad\business-plan\icons\bullhorn.png">    </p:cNvPr>
          <p:cNvPicPr>
            <a:picLocks noChangeAspect="1"/>
          </p:cNvPicPr>
          <p:nvPr/>
        </p:nvPicPr>
        <p:blipFill>
          <a:blip r:embed="rId4"/>
          <a:stretch>
            <a:fillRect/>
          </a:stretch>
        </p:blipFill>
        <p:spPr>
          <a:xfrm>
            <a:off x="7795832" y="3194685"/>
            <a:ext cx="276606" cy="276606"/>
          </a:xfrm>
          <a:prstGeom prst="rect">
            <a:avLst/>
          </a:prstGeom>
        </p:spPr>
      </p:pic>
      <p:sp>
        <p:nvSpPr>
          <p:cNvPr id="26" name="Text 20"/>
          <p:cNvSpPr/>
          <p:nvPr/>
        </p:nvSpPr>
        <p:spPr>
          <a:xfrm>
            <a:off x="6923380" y="3639312"/>
            <a:ext cx="2021510" cy="310896"/>
          </a:xfrm>
          <a:prstGeom prst="rect">
            <a:avLst/>
          </a:prstGeom>
          <a:noFill/>
          <a:ln/>
        </p:spPr>
        <p:txBody>
          <a:bodyPr wrap="square" lIns="0" tIns="0" rIns="0" bIns="0" rtlCol="0" anchor="ctr"/>
          <a:lstStyle/>
          <a:p>
            <a:pPr algn="ctr" indent="0" marL="0">
              <a:lnSpc>
                <a:spcPct val="100000"/>
              </a:lnSpc>
              <a:buNone/>
            </a:pPr>
            <a:r>
              <a:rPr lang="en-US" sz="1000" b="1" dirty="0">
                <a:solidFill>
                  <a:srgbClr val="0A1B3D"/>
                </a:solidFill>
                <a:latin typeface="Calibri" pitchFamily="34" charset="0"/>
                <a:ea typeface="Calibri" pitchFamily="34" charset="-122"/>
                <a:cs typeface="Calibri" pitchFamily="34" charset="-120"/>
              </a:rPr>
              <a:t>広告費削減</a:t>
            </a:r>
            <a:endParaRPr lang="en-US" sz="1000" dirty="0"/>
          </a:p>
        </p:txBody>
      </p:sp>
      <p:sp>
        <p:nvSpPr>
          <p:cNvPr id="27" name="Text 21"/>
          <p:cNvSpPr/>
          <p:nvPr/>
        </p:nvSpPr>
        <p:spPr>
          <a:xfrm>
            <a:off x="9018041" y="3218688"/>
            <a:ext cx="502920"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28" name="Shape 22"/>
          <p:cNvSpPr/>
          <p:nvPr/>
        </p:nvSpPr>
        <p:spPr>
          <a:xfrm>
            <a:off x="9520961" y="2944368"/>
            <a:ext cx="2167814"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29" name="Shape 23"/>
          <p:cNvSpPr/>
          <p:nvPr/>
        </p:nvSpPr>
        <p:spPr>
          <a:xfrm>
            <a:off x="10353408" y="3081528"/>
            <a:ext cx="502920" cy="502920"/>
          </a:xfrm>
          <a:prstGeom prst="ellipse">
            <a:avLst/>
          </a:prstGeom>
          <a:solidFill>
            <a:srgbClr val="FFFFFF"/>
          </a:solidFill>
          <a:ln/>
        </p:spPr>
      </p:sp>
      <p:pic>
        <p:nvPicPr>
          <p:cNvPr id="30" name="Image 4" descr="C:\Users\user\AppData\Local\Temp\claude\C--Users-user-Desktop-TOEIC---\46f2443e-6c5b-45fc-8f6e-79718ae21477\scratchpad\business-plan\icons\chartline.png">    </p:cNvPr>
          <p:cNvPicPr>
            <a:picLocks noChangeAspect="1"/>
          </p:cNvPicPr>
          <p:nvPr/>
        </p:nvPicPr>
        <p:blipFill>
          <a:blip r:embed="rId5"/>
          <a:stretch>
            <a:fillRect/>
          </a:stretch>
        </p:blipFill>
        <p:spPr>
          <a:xfrm>
            <a:off x="10466565" y="3194685"/>
            <a:ext cx="276606" cy="276606"/>
          </a:xfrm>
          <a:prstGeom prst="rect">
            <a:avLst/>
          </a:prstGeom>
        </p:spPr>
      </p:pic>
      <p:sp>
        <p:nvSpPr>
          <p:cNvPr id="31" name="Text 24"/>
          <p:cNvSpPr/>
          <p:nvPr/>
        </p:nvSpPr>
        <p:spPr>
          <a:xfrm>
            <a:off x="9594113" y="3639312"/>
            <a:ext cx="2021510" cy="310896"/>
          </a:xfrm>
          <a:prstGeom prst="rect">
            <a:avLst/>
          </a:prstGeom>
          <a:noFill/>
          <a:ln/>
        </p:spPr>
        <p:txBody>
          <a:bodyPr wrap="square" lIns="0" tIns="0" rIns="0" bIns="0" rtlCol="0" anchor="ctr"/>
          <a:lstStyle/>
          <a:p>
            <a:pPr algn="ctr" indent="0" marL="0">
              <a:lnSpc>
                <a:spcPct val="100000"/>
              </a:lnSpc>
              <a:buNone/>
            </a:pPr>
            <a:r>
              <a:rPr lang="en-US" sz="1000" b="1" dirty="0">
                <a:solidFill>
                  <a:srgbClr val="0A1B3D"/>
                </a:solidFill>
                <a:latin typeface="Calibri" pitchFamily="34" charset="0"/>
                <a:ea typeface="Calibri" pitchFamily="34" charset="-122"/>
                <a:cs typeface="Calibri" pitchFamily="34" charset="-120"/>
              </a:rPr>
              <a:t>利益改善</a:t>
            </a:r>
            <a:endParaRPr lang="en-US" sz="1000" dirty="0"/>
          </a:p>
        </p:txBody>
      </p:sp>
      <p:sp>
        <p:nvSpPr>
          <p:cNvPr id="32" name="Text 25"/>
          <p:cNvSpPr/>
          <p:nvPr/>
        </p:nvSpPr>
        <p:spPr>
          <a:xfrm>
            <a:off x="502920" y="4014216"/>
            <a:ext cx="868680" cy="256032"/>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a:t>
            </a:r>
            <a:endParaRPr lang="en-US" sz="1500" dirty="0"/>
          </a:p>
        </p:txBody>
      </p:sp>
      <p:sp>
        <p:nvSpPr>
          <p:cNvPr id="33" name="Shape 26"/>
          <p:cNvSpPr/>
          <p:nvPr/>
        </p:nvSpPr>
        <p:spPr>
          <a:xfrm>
            <a:off x="502920" y="4288536"/>
            <a:ext cx="868680" cy="1051560"/>
          </a:xfrm>
          <a:prstGeom prst="roundRect">
            <a:avLst>
              <a:gd name="adj" fmla="val 8421"/>
            </a:avLst>
          </a:prstGeom>
          <a:solidFill>
            <a:srgbClr val="0A1B3D"/>
          </a:solidFill>
          <a:ln/>
        </p:spPr>
      </p:sp>
      <p:sp>
        <p:nvSpPr>
          <p:cNvPr id="34" name="Text 27"/>
          <p:cNvSpPr/>
          <p:nvPr/>
        </p:nvSpPr>
        <p:spPr>
          <a:xfrm>
            <a:off x="502920" y="4288536"/>
            <a:ext cx="868680" cy="10515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3年目</a:t>
            </a:r>
            <a:endParaRPr lang="en-US" sz="1200" dirty="0"/>
          </a:p>
        </p:txBody>
      </p:sp>
      <p:sp>
        <p:nvSpPr>
          <p:cNvPr id="35" name="Shape 28"/>
          <p:cNvSpPr/>
          <p:nvPr/>
        </p:nvSpPr>
        <p:spPr>
          <a:xfrm>
            <a:off x="1508760" y="4288536"/>
            <a:ext cx="3058058"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36" name="Shape 29"/>
          <p:cNvSpPr/>
          <p:nvPr/>
        </p:nvSpPr>
        <p:spPr>
          <a:xfrm>
            <a:off x="2786329" y="4425696"/>
            <a:ext cx="502920" cy="502920"/>
          </a:xfrm>
          <a:prstGeom prst="ellipse">
            <a:avLst/>
          </a:prstGeom>
          <a:solidFill>
            <a:srgbClr val="FFFFFF"/>
          </a:solidFill>
          <a:ln/>
        </p:spPr>
      </p:sp>
      <p:pic>
        <p:nvPicPr>
          <p:cNvPr id="37" name="Image 5" descr="C:\Users\user\AppData\Local\Temp\claude\C--Users-user-Desktop-TOEIC---\46f2443e-6c5b-45fc-8f6e-79718ae21477\scratchpad\business-plan\icons\layers.png">    </p:cNvPr>
          <p:cNvPicPr>
            <a:picLocks noChangeAspect="1"/>
          </p:cNvPicPr>
          <p:nvPr/>
        </p:nvPicPr>
        <p:blipFill>
          <a:blip r:embed="rId6"/>
          <a:stretch>
            <a:fillRect/>
          </a:stretch>
        </p:blipFill>
        <p:spPr>
          <a:xfrm>
            <a:off x="2899486" y="4538853"/>
            <a:ext cx="276606" cy="276606"/>
          </a:xfrm>
          <a:prstGeom prst="rect">
            <a:avLst/>
          </a:prstGeom>
        </p:spPr>
      </p:pic>
      <p:sp>
        <p:nvSpPr>
          <p:cNvPr id="38" name="Text 30"/>
          <p:cNvSpPr/>
          <p:nvPr/>
        </p:nvSpPr>
        <p:spPr>
          <a:xfrm>
            <a:off x="1581912" y="4983480"/>
            <a:ext cx="2911754" cy="310896"/>
          </a:xfrm>
          <a:prstGeom prst="rect">
            <a:avLst/>
          </a:prstGeom>
          <a:noFill/>
          <a:ln/>
        </p:spPr>
        <p:txBody>
          <a:bodyPr wrap="square" lIns="0" tIns="0" rIns="0" bIns="0" rtlCol="0" anchor="ctr"/>
          <a:lstStyle/>
          <a:p>
            <a:pPr algn="ctr" indent="0" marL="0">
              <a:lnSpc>
                <a:spcPct val="100000"/>
              </a:lnSpc>
              <a:buNone/>
            </a:pPr>
            <a:r>
              <a:rPr lang="en-US" sz="1000" b="1" dirty="0">
                <a:solidFill>
                  <a:srgbClr val="0A1B3D"/>
                </a:solidFill>
                <a:latin typeface="Calibri" pitchFamily="34" charset="0"/>
                <a:ea typeface="Calibri" pitchFamily="34" charset="-122"/>
                <a:cs typeface="Calibri" pitchFamily="34" charset="-120"/>
              </a:rPr>
              <a:t>契約積み上げ</a:t>
            </a:r>
            <a:endParaRPr lang="en-US" sz="1000" dirty="0"/>
          </a:p>
        </p:txBody>
      </p:sp>
      <p:sp>
        <p:nvSpPr>
          <p:cNvPr id="39" name="Text 31"/>
          <p:cNvSpPr/>
          <p:nvPr/>
        </p:nvSpPr>
        <p:spPr>
          <a:xfrm>
            <a:off x="4566818" y="4562856"/>
            <a:ext cx="502920"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40" name="Shape 32"/>
          <p:cNvSpPr/>
          <p:nvPr/>
        </p:nvSpPr>
        <p:spPr>
          <a:xfrm>
            <a:off x="5069738" y="4288536"/>
            <a:ext cx="3058058"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41" name="Shape 33"/>
          <p:cNvSpPr/>
          <p:nvPr/>
        </p:nvSpPr>
        <p:spPr>
          <a:xfrm>
            <a:off x="6347308" y="4425696"/>
            <a:ext cx="502920" cy="502920"/>
          </a:xfrm>
          <a:prstGeom prst="ellipse">
            <a:avLst/>
          </a:prstGeom>
          <a:solidFill>
            <a:srgbClr val="FFFFFF"/>
          </a:solidFill>
          <a:ln/>
        </p:spPr>
      </p:sp>
      <p:pic>
        <p:nvPicPr>
          <p:cNvPr id="42" name="Image 6" descr="C:\Users\user\AppData\Local\Temp\claude\C--Users-user-Desktop-TOEIC---\46f2443e-6c5b-45fc-8f6e-79718ae21477\scratchpad\business-plan\icons\coins.png">    </p:cNvPr>
          <p:cNvPicPr>
            <a:picLocks noChangeAspect="1"/>
          </p:cNvPicPr>
          <p:nvPr/>
        </p:nvPicPr>
        <p:blipFill>
          <a:blip r:embed="rId7"/>
          <a:stretch>
            <a:fillRect/>
          </a:stretch>
        </p:blipFill>
        <p:spPr>
          <a:xfrm>
            <a:off x="6460465" y="4538853"/>
            <a:ext cx="276606" cy="276606"/>
          </a:xfrm>
          <a:prstGeom prst="rect">
            <a:avLst/>
          </a:prstGeom>
        </p:spPr>
      </p:pic>
      <p:sp>
        <p:nvSpPr>
          <p:cNvPr id="43" name="Text 34"/>
          <p:cNvSpPr/>
          <p:nvPr/>
        </p:nvSpPr>
        <p:spPr>
          <a:xfrm>
            <a:off x="5142890" y="4983480"/>
            <a:ext cx="2911754" cy="310896"/>
          </a:xfrm>
          <a:prstGeom prst="rect">
            <a:avLst/>
          </a:prstGeom>
          <a:noFill/>
          <a:ln/>
        </p:spPr>
        <p:txBody>
          <a:bodyPr wrap="square" lIns="0" tIns="0" rIns="0" bIns="0" rtlCol="0" anchor="ctr"/>
          <a:lstStyle/>
          <a:p>
            <a:pPr algn="ctr" indent="0" marL="0">
              <a:lnSpc>
                <a:spcPct val="100000"/>
              </a:lnSpc>
              <a:buNone/>
            </a:pPr>
            <a:r>
              <a:rPr lang="en-US" sz="1000" b="1" dirty="0">
                <a:solidFill>
                  <a:srgbClr val="0A1B3D"/>
                </a:solidFill>
                <a:latin typeface="Calibri" pitchFamily="34" charset="0"/>
                <a:ea typeface="Calibri" pitchFamily="34" charset="-122"/>
                <a:cs typeface="Calibri" pitchFamily="34" charset="-120"/>
              </a:rPr>
              <a:t>ストック収益</a:t>
            </a:r>
            <a:endParaRPr lang="en-US" sz="1000" dirty="0"/>
          </a:p>
        </p:txBody>
      </p:sp>
      <p:sp>
        <p:nvSpPr>
          <p:cNvPr id="44" name="Text 35"/>
          <p:cNvSpPr/>
          <p:nvPr/>
        </p:nvSpPr>
        <p:spPr>
          <a:xfrm>
            <a:off x="8127797" y="4562856"/>
            <a:ext cx="502920"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45" name="Shape 36"/>
          <p:cNvSpPr/>
          <p:nvPr/>
        </p:nvSpPr>
        <p:spPr>
          <a:xfrm>
            <a:off x="8630717" y="4288536"/>
            <a:ext cx="3058058"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46" name="Shape 37"/>
          <p:cNvSpPr/>
          <p:nvPr/>
        </p:nvSpPr>
        <p:spPr>
          <a:xfrm>
            <a:off x="9908286" y="4425696"/>
            <a:ext cx="502920" cy="502920"/>
          </a:xfrm>
          <a:prstGeom prst="ellipse">
            <a:avLst/>
          </a:prstGeom>
          <a:solidFill>
            <a:srgbClr val="FFFFFF"/>
          </a:solidFill>
          <a:ln/>
        </p:spPr>
      </p:sp>
      <p:pic>
        <p:nvPicPr>
          <p:cNvPr id="47" name="Image 7" descr="C:\Users\user\AppData\Local\Temp\claude\C--Users-user-Desktop-TOEIC---\46f2443e-6c5b-45fc-8f6e-79718ae21477\scratchpad\business-plan\icons\rocket.png">    </p:cNvPr>
          <p:cNvPicPr>
            <a:picLocks noChangeAspect="1"/>
          </p:cNvPicPr>
          <p:nvPr/>
        </p:nvPicPr>
        <p:blipFill>
          <a:blip r:embed="rId8"/>
          <a:stretch>
            <a:fillRect/>
          </a:stretch>
        </p:blipFill>
        <p:spPr>
          <a:xfrm>
            <a:off x="10021443" y="4538853"/>
            <a:ext cx="276606" cy="276606"/>
          </a:xfrm>
          <a:prstGeom prst="rect">
            <a:avLst/>
          </a:prstGeom>
        </p:spPr>
      </p:pic>
      <p:sp>
        <p:nvSpPr>
          <p:cNvPr id="48" name="Text 38"/>
          <p:cNvSpPr/>
          <p:nvPr/>
        </p:nvSpPr>
        <p:spPr>
          <a:xfrm>
            <a:off x="8703869" y="4983480"/>
            <a:ext cx="2911754" cy="310896"/>
          </a:xfrm>
          <a:prstGeom prst="rect">
            <a:avLst/>
          </a:prstGeom>
          <a:noFill/>
          <a:ln/>
        </p:spPr>
        <p:txBody>
          <a:bodyPr wrap="square" lIns="0" tIns="0" rIns="0" bIns="0" rtlCol="0" anchor="ctr"/>
          <a:lstStyle/>
          <a:p>
            <a:pPr algn="ctr" indent="0" marL="0">
              <a:lnSpc>
                <a:spcPct val="100000"/>
              </a:lnSpc>
              <a:buNone/>
            </a:pPr>
            <a:r>
              <a:rPr lang="en-US" sz="1000" b="1" dirty="0">
                <a:solidFill>
                  <a:srgbClr val="0A1B3D"/>
                </a:solidFill>
                <a:latin typeface="Calibri" pitchFamily="34" charset="0"/>
                <a:ea typeface="Calibri" pitchFamily="34" charset="-122"/>
                <a:cs typeface="Calibri" pitchFamily="34" charset="-120"/>
              </a:rPr>
              <a:t>利益拡大</a:t>
            </a:r>
            <a:endParaRPr lang="en-US" sz="1000" dirty="0"/>
          </a:p>
        </p:txBody>
      </p:sp>
      <p:sp>
        <p:nvSpPr>
          <p:cNvPr id="49" name="Shape 39"/>
          <p:cNvSpPr/>
          <p:nvPr/>
        </p:nvSpPr>
        <p:spPr>
          <a:xfrm>
            <a:off x="502920" y="5678424"/>
            <a:ext cx="11185855" cy="960120"/>
          </a:xfrm>
          <a:prstGeom prst="roundRect">
            <a:avLst>
              <a:gd name="adj" fmla="val 7619"/>
            </a:avLst>
          </a:prstGeom>
          <a:solidFill>
            <a:srgbClr val="EFF4FE"/>
          </a:solidFill>
          <a:ln/>
          <a:effectLst>
            <a:outerShdw sx="100000" sy="100000" kx="0" ky="0" algn="bl" rotWithShape="0" blurRad="76200" dist="25400" dir="5400000">
              <a:srgbClr val="0A1B3D">
                <a:alpha val="12000"/>
              </a:srgbClr>
            </a:outerShdw>
          </a:effectLst>
        </p:spPr>
      </p:sp>
      <p:sp>
        <p:nvSpPr>
          <p:cNvPr id="50" name="Text 40"/>
          <p:cNvSpPr/>
          <p:nvPr/>
        </p:nvSpPr>
        <p:spPr>
          <a:xfrm>
            <a:off x="731520" y="5797296"/>
            <a:ext cx="10728655" cy="731520"/>
          </a:xfrm>
          <a:prstGeom prst="rect">
            <a:avLst/>
          </a:prstGeom>
          <a:noFill/>
          <a:ln/>
        </p:spPr>
        <p:txBody>
          <a:bodyPr wrap="square" lIns="0" tIns="0" rIns="0" bIns="0" rtlCol="0" anchor="ctr"/>
          <a:lstStyle/>
          <a:p>
            <a:pPr indent="0" marL="0">
              <a:lnSpc>
                <a:spcPct val="125000"/>
              </a:lnSpc>
              <a:buNone/>
            </a:pPr>
            <a:r>
              <a:rPr lang="en-US" sz="1050" dirty="0">
                <a:solidFill>
                  <a:srgbClr val="0A1B3D"/>
                </a:solidFill>
                <a:latin typeface="Calibri" pitchFamily="34" charset="0"/>
                <a:ea typeface="Calibri" pitchFamily="34" charset="-122"/>
                <a:cs typeface="Calibri" pitchFamily="34" charset="-120"/>
              </a:rPr>
              <a:t>初年度の開発投資を土台に、2年目はPartner Programによる紹介ネットワークが広告費を抑えながら契約更新を後押しし黒字化。3年目は積み上がった契約がストック収益となり、利益が拡大します。</a:t>
            </a:r>
            <a:endParaRPr lang="en-US" sz="1050" dirty="0"/>
          </a:p>
        </p:txBody>
      </p:sp>
      <p:sp>
        <p:nvSpPr>
          <p:cNvPr id="51" name="Text 41"/>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1.2</a:t>
            </a:r>
            <a:endParaRPr lang="en-US" sz="900" dirty="0"/>
          </a:p>
        </p:txBody>
      </p:sp>
      <p:sp>
        <p:nvSpPr>
          <p:cNvPr id="52" name="Text 4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USE OF FUNDS</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資金使途</a:t>
            </a:r>
            <a:endParaRPr lang="en-US" sz="3000" dirty="0"/>
          </a:p>
        </p:txBody>
      </p:sp>
      <p:graphicFrame>
        <p:nvGraphicFramePr>
          <p:cNvPr id="4" name="Chart 0" descr=""/>
          <p:cNvGraphicFramePr/>
          <p:nvPr/>
        </p:nvGraphicFramePr>
        <p:xfrm>
          <a:off x="502920" y="173736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446520" y="1746504"/>
            <a:ext cx="502920" cy="502920"/>
          </a:xfrm>
          <a:prstGeom prst="ellipse">
            <a:avLst/>
          </a:prstGeom>
          <a:solidFill>
            <a:srgbClr val="F3F6FA"/>
          </a:solidFill>
          <a:ln/>
        </p:spPr>
      </p:sp>
      <p:pic>
        <p:nvPicPr>
          <p:cNvPr id="6" name="Image 0" descr="C:\Users\user\AppData\Local\Temp\claude\C--Users-user-Desktop-TOEIC---\46f2443e-6c5b-45fc-8f6e-79718ae21477\scratchpad\business-plan\icons\brain.png">    </p:cNvPr>
          <p:cNvPicPr>
            <a:picLocks noChangeAspect="1"/>
          </p:cNvPicPr>
          <p:nvPr/>
        </p:nvPicPr>
        <p:blipFill>
          <a:blip r:embed="rId2"/>
          <a:stretch>
            <a:fillRect/>
          </a:stretch>
        </p:blipFill>
        <p:spPr>
          <a:xfrm>
            <a:off x="6572250" y="1872234"/>
            <a:ext cx="251460" cy="251460"/>
          </a:xfrm>
          <a:prstGeom prst="rect">
            <a:avLst/>
          </a:prstGeom>
        </p:spPr>
      </p:pic>
      <p:sp>
        <p:nvSpPr>
          <p:cNvPr id="7" name="Text 3"/>
          <p:cNvSpPr/>
          <p:nvPr/>
        </p:nvSpPr>
        <p:spPr>
          <a:xfrm>
            <a:off x="7132320" y="1691640"/>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開発費 35%</a:t>
            </a:r>
            <a:endParaRPr lang="en-US" sz="1200" dirty="0"/>
          </a:p>
        </p:txBody>
      </p:sp>
      <p:sp>
        <p:nvSpPr>
          <p:cNvPr id="8" name="Text 4"/>
          <p:cNvSpPr/>
          <p:nvPr/>
        </p:nvSpPr>
        <p:spPr>
          <a:xfrm>
            <a:off x="7132320" y="1947672"/>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AI機能の開発・プロダクト改善、業種特化テンプレートの拡充</a:t>
            </a:r>
            <a:endParaRPr lang="en-US" sz="1000" dirty="0"/>
          </a:p>
        </p:txBody>
      </p:sp>
      <p:sp>
        <p:nvSpPr>
          <p:cNvPr id="9" name="Shape 5"/>
          <p:cNvSpPr/>
          <p:nvPr/>
        </p:nvSpPr>
        <p:spPr>
          <a:xfrm>
            <a:off x="6446520" y="2532888"/>
            <a:ext cx="502920" cy="502920"/>
          </a:xfrm>
          <a:prstGeom prst="ellipse">
            <a:avLst/>
          </a:prstGeom>
          <a:solidFill>
            <a:srgbClr val="F3F6FA"/>
          </a:solidFill>
          <a:ln/>
        </p:spPr>
      </p:sp>
      <p:pic>
        <p:nvPicPr>
          <p:cNvPr id="10" name="Image 1" descr="C:\Users\user\AppData\Local\Temp\claude\C--Users-user-Desktop-TOEIC---\46f2443e-6c5b-45fc-8f6e-79718ae21477\scratchpad\business-plan\icons\server.png">    </p:cNvPr>
          <p:cNvPicPr>
            <a:picLocks noChangeAspect="1"/>
          </p:cNvPicPr>
          <p:nvPr/>
        </p:nvPicPr>
        <p:blipFill>
          <a:blip r:embed="rId3"/>
          <a:stretch>
            <a:fillRect/>
          </a:stretch>
        </p:blipFill>
        <p:spPr>
          <a:xfrm>
            <a:off x="6572250" y="2658618"/>
            <a:ext cx="251460" cy="251460"/>
          </a:xfrm>
          <a:prstGeom prst="rect">
            <a:avLst/>
          </a:prstGeom>
        </p:spPr>
      </p:pic>
      <p:sp>
        <p:nvSpPr>
          <p:cNvPr id="11" name="Text 6"/>
          <p:cNvSpPr/>
          <p:nvPr/>
        </p:nvSpPr>
        <p:spPr>
          <a:xfrm>
            <a:off x="7132320" y="2478024"/>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サーバー・インフラ費 15%</a:t>
            </a:r>
            <a:endParaRPr lang="en-US" sz="1200" dirty="0"/>
          </a:p>
        </p:txBody>
      </p:sp>
      <p:sp>
        <p:nvSpPr>
          <p:cNvPr id="12" name="Text 7"/>
          <p:cNvSpPr/>
          <p:nvPr/>
        </p:nvSpPr>
        <p:spPr>
          <a:xfrm>
            <a:off x="7132320" y="2734056"/>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AI API利用料、ホスティング・セキュリティ関連費用</a:t>
            </a:r>
            <a:endParaRPr lang="en-US" sz="1000" dirty="0"/>
          </a:p>
        </p:txBody>
      </p:sp>
      <p:sp>
        <p:nvSpPr>
          <p:cNvPr id="13" name="Shape 8"/>
          <p:cNvSpPr/>
          <p:nvPr/>
        </p:nvSpPr>
        <p:spPr>
          <a:xfrm>
            <a:off x="6446520" y="3319272"/>
            <a:ext cx="502920" cy="502920"/>
          </a:xfrm>
          <a:prstGeom prst="ellipse">
            <a:avLst/>
          </a:prstGeom>
          <a:solidFill>
            <a:srgbClr val="F3F6FA"/>
          </a:solidFill>
          <a:ln/>
        </p:spPr>
      </p:sp>
      <p:pic>
        <p:nvPicPr>
          <p:cNvPr id="14" name="Image 2" descr="C:\Users\user\AppData\Local\Temp\claude\C--Users-user-Desktop-TOEIC---\46f2443e-6c5b-45fc-8f6e-79718ae21477\scratchpad\business-plan\icons\handshake.png">    </p:cNvPr>
          <p:cNvPicPr>
            <a:picLocks noChangeAspect="1"/>
          </p:cNvPicPr>
          <p:nvPr/>
        </p:nvPicPr>
        <p:blipFill>
          <a:blip r:embed="rId4"/>
          <a:stretch>
            <a:fillRect/>
          </a:stretch>
        </p:blipFill>
        <p:spPr>
          <a:xfrm>
            <a:off x="6572250" y="3445002"/>
            <a:ext cx="251460" cy="251460"/>
          </a:xfrm>
          <a:prstGeom prst="rect">
            <a:avLst/>
          </a:prstGeom>
        </p:spPr>
      </p:pic>
      <p:sp>
        <p:nvSpPr>
          <p:cNvPr id="15" name="Text 9"/>
          <p:cNvSpPr/>
          <p:nvPr/>
        </p:nvSpPr>
        <p:spPr>
          <a:xfrm>
            <a:off x="7132320" y="3264408"/>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営業費 20%</a:t>
            </a:r>
            <a:endParaRPr lang="en-US" sz="1200" dirty="0"/>
          </a:p>
        </p:txBody>
      </p:sp>
      <p:sp>
        <p:nvSpPr>
          <p:cNvPr id="16" name="Text 10"/>
          <p:cNvSpPr/>
          <p:nvPr/>
        </p:nvSpPr>
        <p:spPr>
          <a:xfrm>
            <a:off x="7132320" y="3520440"/>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営業人員の確保、導入企業へのオンボーディング支援</a:t>
            </a:r>
            <a:endParaRPr lang="en-US" sz="1000" dirty="0"/>
          </a:p>
        </p:txBody>
      </p:sp>
      <p:sp>
        <p:nvSpPr>
          <p:cNvPr id="17" name="Shape 11"/>
          <p:cNvSpPr/>
          <p:nvPr/>
        </p:nvSpPr>
        <p:spPr>
          <a:xfrm>
            <a:off x="6446520" y="4105656"/>
            <a:ext cx="502920" cy="502920"/>
          </a:xfrm>
          <a:prstGeom prst="ellipse">
            <a:avLst/>
          </a:prstGeom>
          <a:solidFill>
            <a:srgbClr val="F3F6FA"/>
          </a:solidFill>
          <a:ln/>
        </p:spPr>
      </p:sp>
      <p:pic>
        <p:nvPicPr>
          <p:cNvPr id="18" name="Image 3" descr="C:\Users\user\AppData\Local\Temp\claude\C--Users-user-Desktop-TOEIC---\46f2443e-6c5b-45fc-8f6e-79718ae21477\scratchpad\business-plan\icons\bullhorn.png">    </p:cNvPr>
          <p:cNvPicPr>
            <a:picLocks noChangeAspect="1"/>
          </p:cNvPicPr>
          <p:nvPr/>
        </p:nvPicPr>
        <p:blipFill>
          <a:blip r:embed="rId5"/>
          <a:stretch>
            <a:fillRect/>
          </a:stretch>
        </p:blipFill>
        <p:spPr>
          <a:xfrm>
            <a:off x="6572250" y="4231386"/>
            <a:ext cx="251460" cy="251460"/>
          </a:xfrm>
          <a:prstGeom prst="rect">
            <a:avLst/>
          </a:prstGeom>
        </p:spPr>
      </p:pic>
      <p:sp>
        <p:nvSpPr>
          <p:cNvPr id="19" name="Text 12"/>
          <p:cNvSpPr/>
          <p:nvPr/>
        </p:nvSpPr>
        <p:spPr>
          <a:xfrm>
            <a:off x="7132320" y="4050792"/>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広告宣伝費 15%</a:t>
            </a:r>
            <a:endParaRPr lang="en-US" sz="1200" dirty="0"/>
          </a:p>
        </p:txBody>
      </p:sp>
      <p:sp>
        <p:nvSpPr>
          <p:cNvPr id="20" name="Text 13"/>
          <p:cNvSpPr/>
          <p:nvPr/>
        </p:nvSpPr>
        <p:spPr>
          <a:xfrm>
            <a:off x="7132320" y="4306824"/>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Webマーケティング、展示会等の販路開拓活動</a:t>
            </a:r>
            <a:endParaRPr lang="en-US" sz="1000" dirty="0"/>
          </a:p>
        </p:txBody>
      </p:sp>
      <p:sp>
        <p:nvSpPr>
          <p:cNvPr id="21" name="Shape 14"/>
          <p:cNvSpPr/>
          <p:nvPr/>
        </p:nvSpPr>
        <p:spPr>
          <a:xfrm>
            <a:off x="6446520" y="4892040"/>
            <a:ext cx="502920" cy="502920"/>
          </a:xfrm>
          <a:prstGeom prst="ellipse">
            <a:avLst/>
          </a:prstGeom>
          <a:solidFill>
            <a:srgbClr val="F3F6FA"/>
          </a:solidFill>
          <a:ln/>
        </p:spPr>
      </p:sp>
      <p:pic>
        <p:nvPicPr>
          <p:cNvPr id="22" name="Image 4" descr="C:\Users\user\AppData\Local\Temp\claude\C--Users-user-Desktop-TOEIC---\46f2443e-6c5b-45fc-8f6e-79718ae21477\scratchpad\business-plan\icons\wallet.png">    </p:cNvPr>
          <p:cNvPicPr>
            <a:picLocks noChangeAspect="1"/>
          </p:cNvPicPr>
          <p:nvPr/>
        </p:nvPicPr>
        <p:blipFill>
          <a:blip r:embed="rId6"/>
          <a:stretch>
            <a:fillRect/>
          </a:stretch>
        </p:blipFill>
        <p:spPr>
          <a:xfrm>
            <a:off x="6572250" y="5017770"/>
            <a:ext cx="251460" cy="251460"/>
          </a:xfrm>
          <a:prstGeom prst="rect">
            <a:avLst/>
          </a:prstGeom>
        </p:spPr>
      </p:pic>
      <p:sp>
        <p:nvSpPr>
          <p:cNvPr id="23" name="Text 15"/>
          <p:cNvSpPr/>
          <p:nvPr/>
        </p:nvSpPr>
        <p:spPr>
          <a:xfrm>
            <a:off x="7132320" y="4837176"/>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運転資金 15%</a:t>
            </a:r>
            <a:endParaRPr lang="en-US" sz="1200" dirty="0"/>
          </a:p>
        </p:txBody>
      </p:sp>
      <p:sp>
        <p:nvSpPr>
          <p:cNvPr id="24" name="Text 16"/>
          <p:cNvSpPr/>
          <p:nvPr/>
        </p:nvSpPr>
        <p:spPr>
          <a:xfrm>
            <a:off x="7132320" y="5093208"/>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事業拡大に伴う運転資金、予備費</a:t>
            </a:r>
            <a:endParaRPr lang="en-US" sz="1000" dirty="0"/>
          </a:p>
        </p:txBody>
      </p:sp>
      <p:sp>
        <p:nvSpPr>
          <p:cNvPr id="25" name="Text 17"/>
          <p:cNvSpPr/>
          <p:nvPr/>
        </p:nvSpPr>
        <p:spPr>
          <a:xfrm>
            <a:off x="502920" y="6080760"/>
            <a:ext cx="11185855" cy="32004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 具体的な調達希望額は、事業進捗・資金計画の精査を踏まえて別途ご相談させていただきます。上記は使途の配分比率を示すものです。</a:t>
            </a:r>
            <a:endParaRPr lang="en-US" sz="950" dirty="0"/>
          </a:p>
        </p:txBody>
      </p:sp>
      <p:sp>
        <p:nvSpPr>
          <p:cNvPr id="26" name="Text 18"/>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1.2</a:t>
            </a:r>
            <a:endParaRPr lang="en-US" sz="900" dirty="0"/>
          </a:p>
        </p:txBody>
      </p:sp>
      <p:sp>
        <p:nvSpPr>
          <p:cNvPr id="27"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PRODUCT ROADMAP</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開発ロードマップ</a:t>
            </a:r>
            <a:endParaRPr lang="en-US" sz="3000" dirty="0"/>
          </a:p>
        </p:txBody>
      </p:sp>
      <p:sp>
        <p:nvSpPr>
          <p:cNvPr id="4" name="Shape 2"/>
          <p:cNvSpPr/>
          <p:nvPr/>
        </p:nvSpPr>
        <p:spPr>
          <a:xfrm>
            <a:off x="1051560" y="3017520"/>
            <a:ext cx="10088575" cy="0"/>
          </a:xfrm>
          <a:prstGeom prst="line">
            <a:avLst/>
          </a:prstGeom>
          <a:noFill/>
          <a:ln w="38100">
            <a:solidFill>
              <a:srgbClr val="F3F6FA"/>
            </a:solidFill>
            <a:prstDash val="solid"/>
          </a:ln>
        </p:spPr>
      </p:sp>
      <p:sp>
        <p:nvSpPr>
          <p:cNvPr id="5" name="Shape 3"/>
          <p:cNvSpPr/>
          <p:nvPr/>
        </p:nvSpPr>
        <p:spPr>
          <a:xfrm>
            <a:off x="1493490" y="2889504"/>
            <a:ext cx="256032" cy="256032"/>
          </a:xfrm>
          <a:prstGeom prst="ellipse">
            <a:avLst/>
          </a:prstGeom>
          <a:solidFill>
            <a:srgbClr val="2563EB"/>
          </a:solidFill>
          <a:ln w="25400">
            <a:solidFill>
              <a:srgbClr val="FFFFFF"/>
            </a:solidFill>
            <a:prstDash val="solid"/>
          </a:ln>
        </p:spPr>
      </p:sp>
      <p:sp>
        <p:nvSpPr>
          <p:cNvPr id="6" name="Text 4"/>
          <p:cNvSpPr/>
          <p:nvPr/>
        </p:nvSpPr>
        <p:spPr>
          <a:xfrm>
            <a:off x="594360"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2026</a:t>
            </a:r>
            <a:endParaRPr lang="en-US" sz="1200" dirty="0"/>
          </a:p>
        </p:txBody>
      </p:sp>
      <p:sp>
        <p:nvSpPr>
          <p:cNvPr id="7" name="Shape 5"/>
          <p:cNvSpPr/>
          <p:nvPr/>
        </p:nvSpPr>
        <p:spPr>
          <a:xfrm>
            <a:off x="594360"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8" name="Text 6"/>
          <p:cNvSpPr/>
          <p:nvPr/>
        </p:nvSpPr>
        <p:spPr>
          <a:xfrm>
            <a:off x="731520"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ホームページ公開</a:t>
            </a:r>
            <a:endParaRPr lang="en-US" sz="1200" dirty="0"/>
          </a:p>
        </p:txBody>
      </p:sp>
      <p:sp>
        <p:nvSpPr>
          <p:cNvPr id="9" name="Text 7"/>
          <p:cNvSpPr/>
          <p:nvPr/>
        </p:nvSpPr>
        <p:spPr>
          <a:xfrm>
            <a:off x="704088"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コーポレートサイト・問い合わせ基盤の整備</a:t>
            </a:r>
            <a:endParaRPr lang="en-US" sz="950" dirty="0"/>
          </a:p>
        </p:txBody>
      </p:sp>
      <p:sp>
        <p:nvSpPr>
          <p:cNvPr id="10" name="Shape 8"/>
          <p:cNvSpPr/>
          <p:nvPr/>
        </p:nvSpPr>
        <p:spPr>
          <a:xfrm>
            <a:off x="3730661" y="2889504"/>
            <a:ext cx="256032" cy="256032"/>
          </a:xfrm>
          <a:prstGeom prst="ellipse">
            <a:avLst/>
          </a:prstGeom>
          <a:solidFill>
            <a:srgbClr val="0A1B3D"/>
          </a:solidFill>
          <a:ln w="25400">
            <a:solidFill>
              <a:srgbClr val="FFFFFF"/>
            </a:solidFill>
            <a:prstDash val="solid"/>
          </a:ln>
        </p:spPr>
      </p:sp>
      <p:sp>
        <p:nvSpPr>
          <p:cNvPr id="11" name="Text 9"/>
          <p:cNvSpPr/>
          <p:nvPr/>
        </p:nvSpPr>
        <p:spPr>
          <a:xfrm>
            <a:off x="2831531"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2026-2027</a:t>
            </a:r>
            <a:endParaRPr lang="en-US" sz="1200" dirty="0"/>
          </a:p>
        </p:txBody>
      </p:sp>
      <p:sp>
        <p:nvSpPr>
          <p:cNvPr id="12" name="Shape 10"/>
          <p:cNvSpPr/>
          <p:nvPr/>
        </p:nvSpPr>
        <p:spPr>
          <a:xfrm>
            <a:off x="2831531"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13" name="Text 11"/>
          <p:cNvSpPr/>
          <p:nvPr/>
        </p:nvSpPr>
        <p:spPr>
          <a:xfrm>
            <a:off x="2968691"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正式販売開始</a:t>
            </a:r>
            <a:endParaRPr lang="en-US" sz="1200" dirty="0"/>
          </a:p>
        </p:txBody>
      </p:sp>
      <p:sp>
        <p:nvSpPr>
          <p:cNvPr id="14" name="Text 12"/>
          <p:cNvSpPr/>
          <p:nvPr/>
        </p:nvSpPr>
        <p:spPr>
          <a:xfrm>
            <a:off x="2941259"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不動産会社を起点にSmart Labo Worksの提供を開始</a:t>
            </a:r>
            <a:endParaRPr lang="en-US" sz="950" dirty="0"/>
          </a:p>
        </p:txBody>
      </p:sp>
      <p:sp>
        <p:nvSpPr>
          <p:cNvPr id="15" name="Shape 13"/>
          <p:cNvSpPr/>
          <p:nvPr/>
        </p:nvSpPr>
        <p:spPr>
          <a:xfrm>
            <a:off x="5967832" y="2889504"/>
            <a:ext cx="256032" cy="256032"/>
          </a:xfrm>
          <a:prstGeom prst="ellipse">
            <a:avLst/>
          </a:prstGeom>
          <a:solidFill>
            <a:srgbClr val="0A1B3D"/>
          </a:solidFill>
          <a:ln w="25400">
            <a:solidFill>
              <a:srgbClr val="FFFFFF"/>
            </a:solidFill>
            <a:prstDash val="solid"/>
          </a:ln>
        </p:spPr>
      </p:sp>
      <p:sp>
        <p:nvSpPr>
          <p:cNvPr id="16" name="Text 14"/>
          <p:cNvSpPr/>
          <p:nvPr/>
        </p:nvSpPr>
        <p:spPr>
          <a:xfrm>
            <a:off x="5068702"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2027</a:t>
            </a:r>
            <a:endParaRPr lang="en-US" sz="1200" dirty="0"/>
          </a:p>
        </p:txBody>
      </p:sp>
      <p:sp>
        <p:nvSpPr>
          <p:cNvPr id="17" name="Shape 15"/>
          <p:cNvSpPr/>
          <p:nvPr/>
        </p:nvSpPr>
        <p:spPr>
          <a:xfrm>
            <a:off x="5068702"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18" name="Text 16"/>
          <p:cNvSpPr/>
          <p:nvPr/>
        </p:nvSpPr>
        <p:spPr>
          <a:xfrm>
            <a:off x="5205862"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AIチャット機能の実装</a:t>
            </a:r>
            <a:endParaRPr lang="en-US" sz="1200" dirty="0"/>
          </a:p>
        </p:txBody>
      </p:sp>
      <p:sp>
        <p:nvSpPr>
          <p:cNvPr id="19" name="Text 17"/>
          <p:cNvSpPr/>
          <p:nvPr/>
        </p:nvSpPr>
        <p:spPr>
          <a:xfrm>
            <a:off x="5178430"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Smart AI Routerを本番接続し、実際のAI応答を提供</a:t>
            </a:r>
            <a:endParaRPr lang="en-US" sz="950" dirty="0"/>
          </a:p>
        </p:txBody>
      </p:sp>
      <p:sp>
        <p:nvSpPr>
          <p:cNvPr id="20" name="Shape 18"/>
          <p:cNvSpPr/>
          <p:nvPr/>
        </p:nvSpPr>
        <p:spPr>
          <a:xfrm>
            <a:off x="8205003" y="2889504"/>
            <a:ext cx="256032" cy="256032"/>
          </a:xfrm>
          <a:prstGeom prst="ellipse">
            <a:avLst/>
          </a:prstGeom>
          <a:solidFill>
            <a:srgbClr val="0A1B3D"/>
          </a:solidFill>
          <a:ln w="25400">
            <a:solidFill>
              <a:srgbClr val="FFFFFF"/>
            </a:solidFill>
            <a:prstDash val="solid"/>
          </a:ln>
        </p:spPr>
      </p:sp>
      <p:sp>
        <p:nvSpPr>
          <p:cNvPr id="21" name="Text 19"/>
          <p:cNvSpPr/>
          <p:nvPr/>
        </p:nvSpPr>
        <p:spPr>
          <a:xfrm>
            <a:off x="7305873"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2027-2028</a:t>
            </a:r>
            <a:endParaRPr lang="en-US" sz="1200" dirty="0"/>
          </a:p>
        </p:txBody>
      </p:sp>
      <p:sp>
        <p:nvSpPr>
          <p:cNvPr id="22" name="Shape 20"/>
          <p:cNvSpPr/>
          <p:nvPr/>
        </p:nvSpPr>
        <p:spPr>
          <a:xfrm>
            <a:off x="7305873"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23" name="Text 21"/>
          <p:cNvSpPr/>
          <p:nvPr/>
        </p:nvSpPr>
        <p:spPr>
          <a:xfrm>
            <a:off x="7443033"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app.smartlaboworks.com</a:t>
            </a:r>
            <a:endParaRPr lang="en-US" sz="1200" dirty="0"/>
          </a:p>
        </p:txBody>
      </p:sp>
      <p:sp>
        <p:nvSpPr>
          <p:cNvPr id="24" name="Text 22"/>
          <p:cNvSpPr/>
          <p:nvPr/>
        </p:nvSpPr>
        <p:spPr>
          <a:xfrm>
            <a:off x="7415601"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プラットフォーム本体の一般提供を開始</a:t>
            </a:r>
            <a:endParaRPr lang="en-US" sz="950" dirty="0"/>
          </a:p>
        </p:txBody>
      </p:sp>
      <p:sp>
        <p:nvSpPr>
          <p:cNvPr id="25" name="Shape 23"/>
          <p:cNvSpPr/>
          <p:nvPr/>
        </p:nvSpPr>
        <p:spPr>
          <a:xfrm>
            <a:off x="10442174" y="2889504"/>
            <a:ext cx="256032" cy="256032"/>
          </a:xfrm>
          <a:prstGeom prst="ellipse">
            <a:avLst/>
          </a:prstGeom>
          <a:solidFill>
            <a:srgbClr val="0A1B3D"/>
          </a:solidFill>
          <a:ln w="25400">
            <a:solidFill>
              <a:srgbClr val="FFFFFF"/>
            </a:solidFill>
            <a:prstDash val="solid"/>
          </a:ln>
        </p:spPr>
      </p:sp>
      <p:sp>
        <p:nvSpPr>
          <p:cNvPr id="26" name="Text 24"/>
          <p:cNvSpPr/>
          <p:nvPr/>
        </p:nvSpPr>
        <p:spPr>
          <a:xfrm>
            <a:off x="9543044"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2028以降</a:t>
            </a:r>
            <a:endParaRPr lang="en-US" sz="1200" dirty="0"/>
          </a:p>
        </p:txBody>
      </p:sp>
      <p:sp>
        <p:nvSpPr>
          <p:cNvPr id="27" name="Shape 25"/>
          <p:cNvSpPr/>
          <p:nvPr/>
        </p:nvSpPr>
        <p:spPr>
          <a:xfrm>
            <a:off x="9543044"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28" name="Text 26"/>
          <p:cNvSpPr/>
          <p:nvPr/>
        </p:nvSpPr>
        <p:spPr>
          <a:xfrm>
            <a:off x="9680204"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AI Company Platformへ</a:t>
            </a:r>
            <a:endParaRPr lang="en-US" sz="1200" dirty="0"/>
          </a:p>
        </p:txBody>
      </p:sp>
      <p:sp>
        <p:nvSpPr>
          <p:cNvPr id="29" name="Text 27"/>
          <p:cNvSpPr/>
          <p:nvPr/>
        </p:nvSpPr>
        <p:spPr>
          <a:xfrm>
            <a:off x="9652772"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業種を横断する経営プラットフォームとして展開</a:t>
            </a:r>
            <a:endParaRPr lang="en-US" sz="950" dirty="0"/>
          </a:p>
        </p:txBody>
      </p:sp>
      <p:sp>
        <p:nvSpPr>
          <p:cNvPr id="30" name="Text 28"/>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1.2</a:t>
            </a:r>
            <a:endParaRPr lang="en-US" sz="900" dirty="0"/>
          </a:p>
        </p:txBody>
      </p:sp>
      <p:sp>
        <p:nvSpPr>
          <p:cNvPr id="31" name="Text 2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FOUNDER PROFILE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900" b="1" dirty="0">
                <a:solidFill>
                  <a:srgbClr val="0A1B3D"/>
                </a:solidFill>
                <a:latin typeface="Cambria" pitchFamily="34" charset="0"/>
                <a:ea typeface="Cambria" pitchFamily="34" charset="-122"/>
                <a:cs typeface="Cambria" pitchFamily="34" charset="-120"/>
              </a:rPr>
              <a:t>代表者プロフィール</a:t>
            </a:r>
            <a:endParaRPr lang="en-US" sz="2900" dirty="0"/>
          </a:p>
        </p:txBody>
      </p:sp>
      <p:sp>
        <p:nvSpPr>
          <p:cNvPr id="4" name="Shape 2"/>
          <p:cNvSpPr/>
          <p:nvPr/>
        </p:nvSpPr>
        <p:spPr>
          <a:xfrm>
            <a:off x="502920" y="1783080"/>
            <a:ext cx="3108960" cy="4160520"/>
          </a:xfrm>
          <a:prstGeom prst="roundRect">
            <a:avLst>
              <a:gd name="adj" fmla="val 2353"/>
            </a:avLst>
          </a:prstGeom>
          <a:solidFill>
            <a:srgbClr val="F3F6FA"/>
          </a:solidFill>
          <a:ln/>
          <a:effectLst>
            <a:outerShdw sx="100000" sy="100000" kx="0" ky="0" algn="bl" rotWithShape="0" blurRad="76200" dist="25400" dir="5400000">
              <a:srgbClr val="0A1B3D">
                <a:alpha val="12000"/>
              </a:srgbClr>
            </a:outerShdw>
          </a:effectLst>
        </p:spPr>
      </p:sp>
      <p:sp>
        <p:nvSpPr>
          <p:cNvPr id="5" name="Shape 3"/>
          <p:cNvSpPr/>
          <p:nvPr/>
        </p:nvSpPr>
        <p:spPr>
          <a:xfrm>
            <a:off x="1463040" y="2286000"/>
            <a:ext cx="1188720" cy="1188720"/>
          </a:xfrm>
          <a:prstGeom prst="ellipse">
            <a:avLst/>
          </a:prstGeom>
          <a:solidFill>
            <a:srgbClr val="FFFFFF"/>
          </a:solidFill>
          <a:ln/>
        </p:spPr>
      </p:sp>
      <p:pic>
        <p:nvPicPr>
          <p:cNvPr id="6" name="Image 0" descr="C:\Users\user\AppData\Local\Temp\claude\C--Users-user-Desktop-TOEIC---\46f2443e-6c5b-45fc-8f6e-79718ae21477\scratchpad\business-plan\icons\usertie.png">    </p:cNvPr>
          <p:cNvPicPr>
            <a:picLocks noChangeAspect="1"/>
          </p:cNvPicPr>
          <p:nvPr/>
        </p:nvPicPr>
        <p:blipFill>
          <a:blip r:embed="rId1"/>
          <a:stretch>
            <a:fillRect/>
          </a:stretch>
        </p:blipFill>
        <p:spPr>
          <a:xfrm>
            <a:off x="1730502" y="2553462"/>
            <a:ext cx="653796" cy="653796"/>
          </a:xfrm>
          <a:prstGeom prst="rect">
            <a:avLst/>
          </a:prstGeom>
        </p:spPr>
      </p:pic>
      <p:sp>
        <p:nvSpPr>
          <p:cNvPr id="7" name="Text 4"/>
          <p:cNvSpPr/>
          <p:nvPr/>
        </p:nvSpPr>
        <p:spPr>
          <a:xfrm>
            <a:off x="502920" y="3657600"/>
            <a:ext cx="3108960" cy="274320"/>
          </a:xfrm>
          <a:prstGeom prst="rect">
            <a:avLst/>
          </a:prstGeom>
          <a:noFill/>
          <a:ln/>
        </p:spPr>
        <p:txBody>
          <a:bodyPr wrap="square" lIns="0" tIns="0" rIns="0" bIns="0" rtlCol="0" anchor="ctr"/>
          <a:lstStyle/>
          <a:p>
            <a:pPr algn="ctr" indent="0" marL="0">
              <a:buNone/>
            </a:pPr>
            <a:r>
              <a:rPr lang="en-US" sz="1050" i="1" dirty="0">
                <a:solidFill>
                  <a:srgbClr val="64748B"/>
                </a:solidFill>
                <a:latin typeface="Calibri" pitchFamily="34" charset="0"/>
                <a:ea typeface="Calibri" pitchFamily="34" charset="-122"/>
                <a:cs typeface="Calibri" pitchFamily="34" charset="-120"/>
              </a:rPr>
              <a:t>[代表者写真]</a:t>
            </a:r>
            <a:endParaRPr lang="en-US" sz="1050" dirty="0"/>
          </a:p>
        </p:txBody>
      </p:sp>
      <p:sp>
        <p:nvSpPr>
          <p:cNvPr id="8" name="Shape 5"/>
          <p:cNvSpPr/>
          <p:nvPr/>
        </p:nvSpPr>
        <p:spPr>
          <a:xfrm>
            <a:off x="777240" y="4114800"/>
            <a:ext cx="2560320" cy="868680"/>
          </a:xfrm>
          <a:prstGeom prst="roundRect">
            <a:avLst>
              <a:gd name="adj" fmla="val 6316"/>
            </a:avLst>
          </a:prstGeom>
          <a:solidFill>
            <a:srgbClr val="FDEDEC"/>
          </a:solidFill>
          <a:ln/>
        </p:spPr>
      </p:sp>
      <p:sp>
        <p:nvSpPr>
          <p:cNvPr id="9" name="Text 6"/>
          <p:cNvSpPr/>
          <p:nvPr/>
        </p:nvSpPr>
        <p:spPr>
          <a:xfrm>
            <a:off x="868680" y="4206240"/>
            <a:ext cx="2377440" cy="320040"/>
          </a:xfrm>
          <a:prstGeom prst="rect">
            <a:avLst/>
          </a:prstGeom>
          <a:noFill/>
          <a:ln/>
        </p:spPr>
        <p:txBody>
          <a:bodyPr wrap="square" lIns="0" tIns="0" rIns="0" bIns="0" rtlCol="0" anchor="ctr"/>
          <a:lstStyle/>
          <a:p>
            <a:pPr algn="ctr" indent="0" marL="0">
              <a:buNone/>
            </a:pPr>
            <a:r>
              <a:rPr lang="en-US" sz="1300" b="1" dirty="0">
                <a:solidFill>
                  <a:srgbClr val="B91C1C"/>
                </a:solidFill>
                <a:latin typeface="Calibri" pitchFamily="34" charset="0"/>
                <a:ea typeface="Calibri" pitchFamily="34" charset="-122"/>
                <a:cs typeface="Calibri" pitchFamily="34" charset="-120"/>
              </a:rPr>
              <a:t>[代表者名：CEO記入]</a:t>
            </a:r>
            <a:endParaRPr lang="en-US" sz="1300" dirty="0"/>
          </a:p>
        </p:txBody>
      </p:sp>
      <p:sp>
        <p:nvSpPr>
          <p:cNvPr id="10" name="Text 7"/>
          <p:cNvSpPr/>
          <p:nvPr/>
        </p:nvSpPr>
        <p:spPr>
          <a:xfrm>
            <a:off x="868680" y="4572000"/>
            <a:ext cx="2377440" cy="32004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代表取締役</a:t>
            </a:r>
            <a:endParaRPr lang="en-US" sz="1100" dirty="0"/>
          </a:p>
        </p:txBody>
      </p:sp>
      <p:sp>
        <p:nvSpPr>
          <p:cNvPr id="11" name="Shape 8"/>
          <p:cNvSpPr/>
          <p:nvPr/>
        </p:nvSpPr>
        <p:spPr>
          <a:xfrm>
            <a:off x="4023360" y="1783080"/>
            <a:ext cx="7665415" cy="1188720"/>
          </a:xfrm>
          <a:prstGeom prst="roundRect">
            <a:avLst>
              <a:gd name="adj" fmla="val 6154"/>
            </a:avLst>
          </a:prstGeom>
          <a:solidFill>
            <a:srgbClr val="0A1B3D"/>
          </a:solidFill>
          <a:ln/>
        </p:spPr>
      </p:sp>
      <p:sp>
        <p:nvSpPr>
          <p:cNvPr id="12" name="Shape 9"/>
          <p:cNvSpPr/>
          <p:nvPr/>
        </p:nvSpPr>
        <p:spPr>
          <a:xfrm>
            <a:off x="4251960" y="2002536"/>
            <a:ext cx="457200" cy="457200"/>
          </a:xfrm>
          <a:prstGeom prst="ellipse">
            <a:avLst/>
          </a:prstGeom>
          <a:solidFill>
            <a:srgbClr val="2563EB"/>
          </a:solidFill>
          <a:ln/>
        </p:spPr>
      </p:sp>
      <p:pic>
        <p:nvPicPr>
          <p:cNvPr id="13" name="Image 1" descr="C:\Users\user\AppData\Local\Temp\claude\C--Users-user-Desktop-TOEIC---\46f2443e-6c5b-45fc-8f6e-79718ae21477\scratchpad\business-plan\icons\quote.png">    </p:cNvPr>
          <p:cNvPicPr>
            <a:picLocks noChangeAspect="1"/>
          </p:cNvPicPr>
          <p:nvPr/>
        </p:nvPicPr>
        <p:blipFill>
          <a:blip r:embed="rId2"/>
          <a:stretch>
            <a:fillRect/>
          </a:stretch>
        </p:blipFill>
        <p:spPr>
          <a:xfrm>
            <a:off x="4366260" y="2116836"/>
            <a:ext cx="228600" cy="228600"/>
          </a:xfrm>
          <a:prstGeom prst="rect">
            <a:avLst/>
          </a:prstGeom>
        </p:spPr>
      </p:pic>
      <p:sp>
        <p:nvSpPr>
          <p:cNvPr id="14" name="Text 10"/>
          <p:cNvSpPr/>
          <p:nvPr/>
        </p:nvSpPr>
        <p:spPr>
          <a:xfrm>
            <a:off x="4892040" y="1911096"/>
            <a:ext cx="6568135" cy="960120"/>
          </a:xfrm>
          <a:prstGeom prst="rect">
            <a:avLst/>
          </a:prstGeom>
          <a:noFill/>
          <a:ln/>
        </p:spPr>
        <p:txBody>
          <a:bodyPr wrap="square" lIns="0" tIns="0" rIns="0" bIns="0" rtlCol="0" anchor="ctr"/>
          <a:lstStyle/>
          <a:p>
            <a:pPr indent="0" marL="0">
              <a:lnSpc>
                <a:spcPct val="115000"/>
              </a:lnSpc>
              <a:buNone/>
            </a:pPr>
            <a:r>
              <a:rPr lang="en-US" sz="1150" i="1" dirty="0">
                <a:solidFill>
                  <a:srgbClr val="FFFFFF"/>
                </a:solidFill>
                <a:latin typeface="Calibri" pitchFamily="34" charset="0"/>
                <a:ea typeface="Calibri" pitchFamily="34" charset="-122"/>
                <a:cs typeface="Calibri" pitchFamily="34" charset="-120"/>
              </a:rPr>
              <a:t>「Smart Laboは AI を売る会社ではない。社長が本来の仕事に集中できる時間をつくる会社である。デザインも、システムも、営業も、すべてこの考え方を軸に判断する。」</a:t>
            </a:r>
            <a:endParaRPr lang="en-US" sz="1150" dirty="0"/>
          </a:p>
        </p:txBody>
      </p:sp>
      <p:sp>
        <p:nvSpPr>
          <p:cNvPr id="15" name="Text 11"/>
          <p:cNvSpPr/>
          <p:nvPr/>
        </p:nvSpPr>
        <p:spPr>
          <a:xfrm>
            <a:off x="4023360" y="3200400"/>
            <a:ext cx="7665415" cy="274320"/>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経歴</a:t>
            </a:r>
            <a:endParaRPr lang="en-US" sz="1200" dirty="0"/>
          </a:p>
        </p:txBody>
      </p:sp>
      <p:sp>
        <p:nvSpPr>
          <p:cNvPr id="16" name="Shape 12"/>
          <p:cNvSpPr/>
          <p:nvPr/>
        </p:nvSpPr>
        <p:spPr>
          <a:xfrm>
            <a:off x="4023360" y="3493008"/>
            <a:ext cx="7665415" cy="566928"/>
          </a:xfrm>
          <a:prstGeom prst="roundRect">
            <a:avLst>
              <a:gd name="adj" fmla="val 9677"/>
            </a:avLst>
          </a:prstGeom>
          <a:solidFill>
            <a:srgbClr val="FDEDEC"/>
          </a:solidFill>
          <a:ln/>
        </p:spPr>
      </p:sp>
      <p:sp>
        <p:nvSpPr>
          <p:cNvPr id="17" name="Text 13"/>
          <p:cNvSpPr/>
          <p:nvPr/>
        </p:nvSpPr>
        <p:spPr>
          <a:xfrm>
            <a:off x="4206240" y="3493008"/>
            <a:ext cx="7299655" cy="566928"/>
          </a:xfrm>
          <a:prstGeom prst="rect">
            <a:avLst/>
          </a:prstGeom>
          <a:noFill/>
          <a:ln/>
        </p:spPr>
        <p:txBody>
          <a:bodyPr wrap="square" lIns="0" tIns="0" rIns="0" bIns="0" rtlCol="0" anchor="ctr"/>
          <a:lstStyle/>
          <a:p>
            <a:pPr indent="0" marL="0">
              <a:buNone/>
            </a:pPr>
            <a:r>
              <a:rPr lang="en-US" sz="1050" i="1" dirty="0">
                <a:solidFill>
                  <a:srgbClr val="B91C1C"/>
                </a:solidFill>
                <a:latin typeface="Calibri" pitchFamily="34" charset="0"/>
                <a:ea typeface="Calibri" pitchFamily="34" charset="-122"/>
                <a:cs typeface="Calibri" pitchFamily="34" charset="-120"/>
              </a:rPr>
              <a:t>[これまでのご経歴をご記入ください]</a:t>
            </a:r>
            <a:endParaRPr lang="en-US" sz="1050" dirty="0"/>
          </a:p>
        </p:txBody>
      </p:sp>
      <p:sp>
        <p:nvSpPr>
          <p:cNvPr id="18" name="Text 14"/>
          <p:cNvSpPr/>
          <p:nvPr/>
        </p:nvSpPr>
        <p:spPr>
          <a:xfrm>
            <a:off x="4023360" y="4142232"/>
            <a:ext cx="7665415" cy="274320"/>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なぜこの事業か</a:t>
            </a:r>
            <a:endParaRPr lang="en-US" sz="1200" dirty="0"/>
          </a:p>
        </p:txBody>
      </p:sp>
      <p:sp>
        <p:nvSpPr>
          <p:cNvPr id="19" name="Shape 15"/>
          <p:cNvSpPr/>
          <p:nvPr/>
        </p:nvSpPr>
        <p:spPr>
          <a:xfrm>
            <a:off x="4023360" y="4434840"/>
            <a:ext cx="7665415" cy="566928"/>
          </a:xfrm>
          <a:prstGeom prst="roundRect">
            <a:avLst>
              <a:gd name="adj" fmla="val 9677"/>
            </a:avLst>
          </a:prstGeom>
          <a:solidFill>
            <a:srgbClr val="FDEDEC"/>
          </a:solidFill>
          <a:ln/>
        </p:spPr>
      </p:sp>
      <p:sp>
        <p:nvSpPr>
          <p:cNvPr id="20" name="Text 16"/>
          <p:cNvSpPr/>
          <p:nvPr/>
        </p:nvSpPr>
        <p:spPr>
          <a:xfrm>
            <a:off x="4206240" y="4434840"/>
            <a:ext cx="7299655" cy="566928"/>
          </a:xfrm>
          <a:prstGeom prst="rect">
            <a:avLst/>
          </a:prstGeom>
          <a:noFill/>
          <a:ln/>
        </p:spPr>
        <p:txBody>
          <a:bodyPr wrap="square" lIns="0" tIns="0" rIns="0" bIns="0" rtlCol="0" anchor="ctr"/>
          <a:lstStyle/>
          <a:p>
            <a:pPr indent="0" marL="0">
              <a:buNone/>
            </a:pPr>
            <a:r>
              <a:rPr lang="en-US" sz="1050" i="1" dirty="0">
                <a:solidFill>
                  <a:srgbClr val="B91C1C"/>
                </a:solidFill>
                <a:latin typeface="Calibri" pitchFamily="34" charset="0"/>
                <a:ea typeface="Calibri" pitchFamily="34" charset="-122"/>
                <a:cs typeface="Calibri" pitchFamily="34" charset="-120"/>
              </a:rPr>
              <a:t>[現場で感じた課題・原体験をご記入ください]</a:t>
            </a:r>
            <a:endParaRPr lang="en-US" sz="1050" dirty="0"/>
          </a:p>
        </p:txBody>
      </p:sp>
      <p:sp>
        <p:nvSpPr>
          <p:cNvPr id="21" name="Text 17"/>
          <p:cNvSpPr/>
          <p:nvPr/>
        </p:nvSpPr>
        <p:spPr>
          <a:xfrm>
            <a:off x="4023360" y="5084064"/>
            <a:ext cx="7665415" cy="274320"/>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会社設立への想い</a:t>
            </a:r>
            <a:endParaRPr lang="en-US" sz="1200" dirty="0"/>
          </a:p>
        </p:txBody>
      </p:sp>
      <p:sp>
        <p:nvSpPr>
          <p:cNvPr id="22" name="Shape 18"/>
          <p:cNvSpPr/>
          <p:nvPr/>
        </p:nvSpPr>
        <p:spPr>
          <a:xfrm>
            <a:off x="4023360" y="5376672"/>
            <a:ext cx="7665415" cy="566928"/>
          </a:xfrm>
          <a:prstGeom prst="roundRect">
            <a:avLst>
              <a:gd name="adj" fmla="val 9677"/>
            </a:avLst>
          </a:prstGeom>
          <a:solidFill>
            <a:srgbClr val="FDEDEC"/>
          </a:solidFill>
          <a:ln/>
        </p:spPr>
      </p:sp>
      <p:sp>
        <p:nvSpPr>
          <p:cNvPr id="23" name="Text 19"/>
          <p:cNvSpPr/>
          <p:nvPr/>
        </p:nvSpPr>
        <p:spPr>
          <a:xfrm>
            <a:off x="4206240" y="5376672"/>
            <a:ext cx="7299655" cy="566928"/>
          </a:xfrm>
          <a:prstGeom prst="rect">
            <a:avLst/>
          </a:prstGeom>
          <a:noFill/>
          <a:ln/>
        </p:spPr>
        <p:txBody>
          <a:bodyPr wrap="square" lIns="0" tIns="0" rIns="0" bIns="0" rtlCol="0" anchor="ctr"/>
          <a:lstStyle/>
          <a:p>
            <a:pPr indent="0" marL="0">
              <a:buNone/>
            </a:pPr>
            <a:r>
              <a:rPr lang="en-US" sz="1050" i="1" dirty="0">
                <a:solidFill>
                  <a:srgbClr val="B91C1C"/>
                </a:solidFill>
                <a:latin typeface="Calibri" pitchFamily="34" charset="0"/>
                <a:ea typeface="Calibri" pitchFamily="34" charset="-122"/>
                <a:cs typeface="Calibri" pitchFamily="34" charset="-120"/>
              </a:rPr>
              <a:t>[会社設立に込めた想いをご記入ください]</a:t>
            </a:r>
            <a:endParaRPr lang="en-US" sz="1050" dirty="0"/>
          </a:p>
        </p:txBody>
      </p:sp>
      <p:sp>
        <p:nvSpPr>
          <p:cNvPr id="24" name="Text 20"/>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1.2</a:t>
            </a:r>
            <a:endParaRPr lang="en-US" sz="900" dirty="0"/>
          </a:p>
        </p:txBody>
      </p:sp>
      <p:sp>
        <p:nvSpPr>
          <p:cNvPr id="25"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B3D"/>
        </a:solidFill>
      </p:bgPr>
    </p:bg>
    <p:spTree>
      <p:nvGrpSpPr>
        <p:cNvPr id="1" name=""/>
        <p:cNvGrpSpPr/>
        <p:nvPr/>
      </p:nvGrpSpPr>
      <p:grpSpPr>
        <a:xfrm>
          <a:off x="0" y="0"/>
          <a:ext cx="0" cy="0"/>
          <a:chOff x="0" y="0"/>
          <a:chExt cx="0" cy="0"/>
        </a:xfrm>
      </p:grpSpPr>
      <p:sp>
        <p:nvSpPr>
          <p:cNvPr id="2" name="Shape 0"/>
          <p:cNvSpPr/>
          <p:nvPr/>
        </p:nvSpPr>
        <p:spPr>
          <a:xfrm>
            <a:off x="8961120" y="-2194560"/>
            <a:ext cx="5486400" cy="5486400"/>
          </a:xfrm>
          <a:prstGeom prst="ellipse">
            <a:avLst/>
          </a:prstGeom>
          <a:solidFill>
            <a:srgbClr val="2563EB">
              <a:alpha val="10000"/>
            </a:srgbClr>
          </a:solidFill>
          <a:ln/>
        </p:spPr>
      </p:sp>
      <p:sp>
        <p:nvSpPr>
          <p:cNvPr id="3" name="Shape 1"/>
          <p:cNvSpPr/>
          <p:nvPr/>
        </p:nvSpPr>
        <p:spPr>
          <a:xfrm>
            <a:off x="-2743200" y="4572000"/>
            <a:ext cx="5029200" cy="5029200"/>
          </a:xfrm>
          <a:prstGeom prst="ellipse">
            <a:avLst/>
          </a:prstGeom>
          <a:solidFill>
            <a:srgbClr val="00D4FF">
              <a:alpha val="7000"/>
            </a:srgbClr>
          </a:solidFill>
          <a:ln/>
        </p:spPr>
      </p:sp>
      <p:sp>
        <p:nvSpPr>
          <p:cNvPr id="4" name="Text 2"/>
          <p:cNvSpPr/>
          <p:nvPr/>
        </p:nvSpPr>
        <p:spPr>
          <a:xfrm>
            <a:off x="0" y="594360"/>
            <a:ext cx="12191695" cy="320040"/>
          </a:xfrm>
          <a:prstGeom prst="rect">
            <a:avLst/>
          </a:prstGeom>
          <a:noFill/>
          <a:ln/>
        </p:spPr>
        <p:txBody>
          <a:bodyPr wrap="square" lIns="0" tIns="0" rIns="0" bIns="0" rtlCol="0" anchor="ctr"/>
          <a:lstStyle/>
          <a:p>
            <a:pPr algn="ctr" indent="0" marL="0">
              <a:buNone/>
            </a:pPr>
            <a:r>
              <a:rPr lang="en-US" sz="1200" b="1" spc="300" kern="0" dirty="0">
                <a:solidFill>
                  <a:srgbClr val="60A5FA"/>
                </a:solidFill>
                <a:latin typeface="Calibri" pitchFamily="34" charset="0"/>
                <a:ea typeface="Calibri" pitchFamily="34" charset="-122"/>
                <a:cs typeface="Calibri" pitchFamily="34" charset="-120"/>
              </a:rPr>
              <a:t>OUR PHILOSOPHY</a:t>
            </a:r>
            <a:endParaRPr lang="en-US" sz="1200" dirty="0"/>
          </a:p>
        </p:txBody>
      </p:sp>
      <p:sp>
        <p:nvSpPr>
          <p:cNvPr id="5" name="Text 3"/>
          <p:cNvSpPr/>
          <p:nvPr/>
        </p:nvSpPr>
        <p:spPr>
          <a:xfrm>
            <a:off x="0" y="914400"/>
            <a:ext cx="12191695" cy="5943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Smart Labo Philosophy</a:t>
            </a:r>
            <a:endParaRPr lang="en-US" sz="3000" dirty="0"/>
          </a:p>
        </p:txBody>
      </p:sp>
      <p:sp>
        <p:nvSpPr>
          <p:cNvPr id="6" name="Text 4"/>
          <p:cNvSpPr/>
          <p:nvPr/>
        </p:nvSpPr>
        <p:spPr>
          <a:xfrm>
            <a:off x="1188720" y="1828800"/>
            <a:ext cx="9814255" cy="868680"/>
          </a:xfrm>
          <a:prstGeom prst="rect">
            <a:avLst/>
          </a:prstGeom>
          <a:noFill/>
          <a:ln/>
        </p:spPr>
        <p:txBody>
          <a:bodyPr wrap="square" lIns="0" tIns="0" rIns="0" bIns="0" rtlCol="0" anchor="ctr"/>
          <a:lstStyle/>
          <a:p>
            <a:pPr algn="ctr" indent="0" marL="0">
              <a:lnSpc>
                <a:spcPct val="130000"/>
              </a:lnSpc>
              <a:buNone/>
            </a:pPr>
            <a:r>
              <a:rPr lang="en-US" sz="1500" dirty="0">
                <a:solidFill>
                  <a:srgbClr val="DCE6F7"/>
                </a:solidFill>
                <a:latin typeface="Calibri" pitchFamily="34" charset="0"/>
                <a:ea typeface="Calibri" pitchFamily="34" charset="-122"/>
                <a:cs typeface="Calibri" pitchFamily="34" charset="-120"/>
              </a:rPr>
              <a:t>私たちはAIを販売する会社ではありません。</a:t>
            </a:r>
            <a:endParaRPr lang="en-US" sz="1500" dirty="0"/>
          </a:p>
          <a:p>
            <a:pPr algn="ctr" indent="0" marL="0">
              <a:lnSpc>
                <a:spcPct val="130000"/>
              </a:lnSpc>
              <a:buNone/>
            </a:pPr>
            <a:r>
              <a:rPr lang="en-US" sz="1500" dirty="0">
                <a:solidFill>
                  <a:srgbClr val="DCE6F7"/>
                </a:solidFill>
                <a:latin typeface="Calibri" pitchFamily="34" charset="0"/>
                <a:ea typeface="Calibri" pitchFamily="34" charset="-122"/>
                <a:cs typeface="Calibri" pitchFamily="34" charset="-120"/>
              </a:rPr>
              <a:t>企業が持続的に成長する仕組みを提供する会社です。</a:t>
            </a:r>
            <a:endParaRPr lang="en-US" sz="1500" dirty="0"/>
          </a:p>
        </p:txBody>
      </p:sp>
      <p:sp>
        <p:nvSpPr>
          <p:cNvPr id="7" name="Text 5"/>
          <p:cNvSpPr/>
          <p:nvPr/>
        </p:nvSpPr>
        <p:spPr>
          <a:xfrm>
            <a:off x="731520" y="2788920"/>
            <a:ext cx="10728655"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AIで会社を強くする。人との信頼で未来をつくる。</a:t>
            </a:r>
            <a:endParaRPr lang="en-US" sz="2400" dirty="0"/>
          </a:p>
        </p:txBody>
      </p:sp>
      <p:sp>
        <p:nvSpPr>
          <p:cNvPr id="8" name="Shape 6"/>
          <p:cNvSpPr/>
          <p:nvPr/>
        </p:nvSpPr>
        <p:spPr>
          <a:xfrm>
            <a:off x="2941168" y="3749040"/>
            <a:ext cx="640080" cy="640080"/>
          </a:xfrm>
          <a:prstGeom prst="ellipse">
            <a:avLst/>
          </a:prstGeom>
          <a:solidFill>
            <a:srgbClr val="2563EB"/>
          </a:solidFill>
          <a:ln/>
        </p:spPr>
      </p:sp>
      <p:pic>
        <p:nvPicPr>
          <p:cNvPr id="9" name="Image 0" descr="C:\Users\user\AppData\Local\Temp\claude\C--Users-user-Desktop-TOEIC---\46f2443e-6c5b-45fc-8f6e-79718ae21477\scratchpad\business-plan\icons\users.png">    </p:cNvPr>
          <p:cNvPicPr>
            <a:picLocks noChangeAspect="1"/>
          </p:cNvPicPr>
          <p:nvPr/>
        </p:nvPicPr>
        <p:blipFill>
          <a:blip r:embed="rId1"/>
          <a:stretch>
            <a:fillRect/>
          </a:stretch>
        </p:blipFill>
        <p:spPr>
          <a:xfrm>
            <a:off x="3101188" y="3909060"/>
            <a:ext cx="320040" cy="320040"/>
          </a:xfrm>
          <a:prstGeom prst="rect">
            <a:avLst/>
          </a:prstGeom>
        </p:spPr>
      </p:pic>
      <p:sp>
        <p:nvSpPr>
          <p:cNvPr id="10" name="Text 7"/>
          <p:cNvSpPr/>
          <p:nvPr/>
        </p:nvSpPr>
        <p:spPr>
          <a:xfrm>
            <a:off x="2072488" y="4526280"/>
            <a:ext cx="2377440"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お客様</a:t>
            </a:r>
            <a:endParaRPr lang="en-US" sz="1250" dirty="0"/>
          </a:p>
        </p:txBody>
      </p:sp>
      <p:sp>
        <p:nvSpPr>
          <p:cNvPr id="11" name="Text 8"/>
          <p:cNvSpPr/>
          <p:nvPr/>
        </p:nvSpPr>
        <p:spPr>
          <a:xfrm>
            <a:off x="4449928" y="3877056"/>
            <a:ext cx="457200" cy="457200"/>
          </a:xfrm>
          <a:prstGeom prst="rect">
            <a:avLst/>
          </a:prstGeom>
          <a:noFill/>
          <a:ln/>
        </p:spPr>
        <p:txBody>
          <a:bodyPr wrap="square" lIns="0" tIns="0" rIns="0" bIns="0" rtlCol="0" anchor="ctr"/>
          <a:lstStyle/>
          <a:p>
            <a:pPr algn="ctr" indent="0" marL="0">
              <a:buNone/>
            </a:pPr>
            <a:r>
              <a:rPr lang="en-US" sz="1600" b="1" dirty="0">
                <a:solidFill>
                  <a:srgbClr val="60A5FA"/>
                </a:solidFill>
                <a:latin typeface="Calibri" pitchFamily="34" charset="0"/>
                <a:ea typeface="Calibri" pitchFamily="34" charset="-122"/>
                <a:cs typeface="Calibri" pitchFamily="34" charset="-120"/>
              </a:rPr>
              <a:t>+</a:t>
            </a:r>
            <a:endParaRPr lang="en-US" sz="1600" dirty="0"/>
          </a:p>
        </p:txBody>
      </p:sp>
      <p:sp>
        <p:nvSpPr>
          <p:cNvPr id="12" name="Shape 9"/>
          <p:cNvSpPr/>
          <p:nvPr/>
        </p:nvSpPr>
        <p:spPr>
          <a:xfrm>
            <a:off x="5775808" y="3749040"/>
            <a:ext cx="640080" cy="640080"/>
          </a:xfrm>
          <a:prstGeom prst="ellipse">
            <a:avLst/>
          </a:prstGeom>
          <a:solidFill>
            <a:srgbClr val="2563EB"/>
          </a:solidFill>
          <a:ln/>
        </p:spPr>
      </p:sp>
      <p:pic>
        <p:nvPicPr>
          <p:cNvPr id="13" name="Image 1" descr="C:\Users\user\AppData\Local\Temp\claude\C--Users-user-Desktop-TOEIC---\46f2443e-6c5b-45fc-8f6e-79718ae21477\scratchpad\business-plan\icons\handshake.png">    </p:cNvPr>
          <p:cNvPicPr>
            <a:picLocks noChangeAspect="1"/>
          </p:cNvPicPr>
          <p:nvPr/>
        </p:nvPicPr>
        <p:blipFill>
          <a:blip r:embed="rId2"/>
          <a:stretch>
            <a:fillRect/>
          </a:stretch>
        </p:blipFill>
        <p:spPr>
          <a:xfrm>
            <a:off x="5935828" y="3909060"/>
            <a:ext cx="320040" cy="320040"/>
          </a:xfrm>
          <a:prstGeom prst="rect">
            <a:avLst/>
          </a:prstGeom>
        </p:spPr>
      </p:pic>
      <p:sp>
        <p:nvSpPr>
          <p:cNvPr id="14" name="Text 10"/>
          <p:cNvSpPr/>
          <p:nvPr/>
        </p:nvSpPr>
        <p:spPr>
          <a:xfrm>
            <a:off x="4907128" y="4526280"/>
            <a:ext cx="2377440"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パートナー</a:t>
            </a:r>
            <a:endParaRPr lang="en-US" sz="1250" dirty="0"/>
          </a:p>
        </p:txBody>
      </p:sp>
      <p:sp>
        <p:nvSpPr>
          <p:cNvPr id="15" name="Text 11"/>
          <p:cNvSpPr/>
          <p:nvPr/>
        </p:nvSpPr>
        <p:spPr>
          <a:xfrm>
            <a:off x="7284568" y="3877056"/>
            <a:ext cx="457200" cy="457200"/>
          </a:xfrm>
          <a:prstGeom prst="rect">
            <a:avLst/>
          </a:prstGeom>
          <a:noFill/>
          <a:ln/>
        </p:spPr>
        <p:txBody>
          <a:bodyPr wrap="square" lIns="0" tIns="0" rIns="0" bIns="0" rtlCol="0" anchor="ctr"/>
          <a:lstStyle/>
          <a:p>
            <a:pPr algn="ctr" indent="0" marL="0">
              <a:buNone/>
            </a:pPr>
            <a:r>
              <a:rPr lang="en-US" sz="1600" b="1" dirty="0">
                <a:solidFill>
                  <a:srgbClr val="60A5FA"/>
                </a:solidFill>
                <a:latin typeface="Calibri" pitchFamily="34" charset="0"/>
                <a:ea typeface="Calibri" pitchFamily="34" charset="-122"/>
                <a:cs typeface="Calibri" pitchFamily="34" charset="-120"/>
              </a:rPr>
              <a:t>+</a:t>
            </a:r>
            <a:endParaRPr lang="en-US" sz="1600" dirty="0"/>
          </a:p>
        </p:txBody>
      </p:sp>
      <p:sp>
        <p:nvSpPr>
          <p:cNvPr id="16" name="Shape 12"/>
          <p:cNvSpPr/>
          <p:nvPr/>
        </p:nvSpPr>
        <p:spPr>
          <a:xfrm>
            <a:off x="8610448" y="3749040"/>
            <a:ext cx="640080" cy="640080"/>
          </a:xfrm>
          <a:prstGeom prst="ellipse">
            <a:avLst/>
          </a:prstGeom>
          <a:solidFill>
            <a:srgbClr val="2563EB"/>
          </a:solidFill>
          <a:ln/>
        </p:spPr>
      </p:sp>
      <p:pic>
        <p:nvPicPr>
          <p:cNvPr id="17" name="Image 2" descr="C:\Users\user\AppData\Local\Temp\claude\C--Users-user-Desktop-TOEIC---\46f2443e-6c5b-45fc-8f6e-79718ae21477\scratchpad\business-plan\icons\city.png">    </p:cNvPr>
          <p:cNvPicPr>
            <a:picLocks noChangeAspect="1"/>
          </p:cNvPicPr>
          <p:nvPr/>
        </p:nvPicPr>
        <p:blipFill>
          <a:blip r:embed="rId3"/>
          <a:stretch>
            <a:fillRect/>
          </a:stretch>
        </p:blipFill>
        <p:spPr>
          <a:xfrm>
            <a:off x="8770468" y="3909060"/>
            <a:ext cx="320040" cy="320040"/>
          </a:xfrm>
          <a:prstGeom prst="rect">
            <a:avLst/>
          </a:prstGeom>
        </p:spPr>
      </p:pic>
      <p:sp>
        <p:nvSpPr>
          <p:cNvPr id="18" name="Text 13"/>
          <p:cNvSpPr/>
          <p:nvPr/>
        </p:nvSpPr>
        <p:spPr>
          <a:xfrm>
            <a:off x="7741768" y="4526280"/>
            <a:ext cx="2377440"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地域社会</a:t>
            </a:r>
            <a:endParaRPr lang="en-US" sz="1250" dirty="0"/>
          </a:p>
        </p:txBody>
      </p:sp>
      <p:sp>
        <p:nvSpPr>
          <p:cNvPr id="19" name="Text 14"/>
          <p:cNvSpPr/>
          <p:nvPr/>
        </p:nvSpPr>
        <p:spPr>
          <a:xfrm>
            <a:off x="0" y="4983480"/>
            <a:ext cx="12191695" cy="411480"/>
          </a:xfrm>
          <a:prstGeom prst="rect">
            <a:avLst/>
          </a:prstGeom>
          <a:noFill/>
          <a:ln/>
        </p:spPr>
        <p:txBody>
          <a:bodyPr wrap="square" lIns="0" tIns="0" rIns="0" bIns="0" rtlCol="0" anchor="ctr"/>
          <a:lstStyle/>
          <a:p>
            <a:pPr algn="ctr" indent="0" marL="0">
              <a:buNone/>
            </a:pPr>
            <a:r>
              <a:rPr lang="en-US" sz="1400" i="1" dirty="0">
                <a:solidFill>
                  <a:srgbClr val="60A5FA"/>
                </a:solidFill>
                <a:latin typeface="Calibri" pitchFamily="34" charset="0"/>
                <a:ea typeface="Calibri" pitchFamily="34" charset="-122"/>
                <a:cs typeface="Calibri" pitchFamily="34" charset="-120"/>
              </a:rPr>
              <a:t>すべてと共に成長する企業を目指します。</a:t>
            </a:r>
            <a:endParaRPr lang="en-US" sz="1400" dirty="0"/>
          </a:p>
        </p:txBody>
      </p:sp>
      <p:sp>
        <p:nvSpPr>
          <p:cNvPr id="20" name="Text 15"/>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9FB3D9"/>
                </a:solidFill>
                <a:latin typeface="Calibri" pitchFamily="34" charset="0"/>
                <a:ea typeface="Calibri" pitchFamily="34" charset="-122"/>
                <a:cs typeface="Calibri" pitchFamily="34" charset="-120"/>
              </a:rPr>
              <a:t>株式会社スマートラボ　|　銀行提出用事業計画書 Version 1.2</a:t>
            </a:r>
            <a:endParaRPr lang="en-US" sz="900" dirty="0"/>
          </a:p>
        </p:txBody>
      </p:sp>
      <p:sp>
        <p:nvSpPr>
          <p:cNvPr id="21"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9FB3D9"/>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B3D"/>
        </a:solidFill>
      </p:bgPr>
    </p:bg>
    <p:spTree>
      <p:nvGrpSpPr>
        <p:cNvPr id="1" name=""/>
        <p:cNvGrpSpPr/>
        <p:nvPr/>
      </p:nvGrpSpPr>
      <p:grpSpPr>
        <a:xfrm>
          <a:off x="0" y="0"/>
          <a:ext cx="0" cy="0"/>
          <a:chOff x="0" y="0"/>
          <a:chExt cx="0" cy="0"/>
        </a:xfrm>
      </p:grpSpPr>
      <p:sp>
        <p:nvSpPr>
          <p:cNvPr id="2" name="Shape 0"/>
          <p:cNvSpPr/>
          <p:nvPr/>
        </p:nvSpPr>
        <p:spPr>
          <a:xfrm>
            <a:off x="-2560320" y="-2011680"/>
            <a:ext cx="5486400" cy="5486400"/>
          </a:xfrm>
          <a:prstGeom prst="ellipse">
            <a:avLst/>
          </a:prstGeom>
          <a:solidFill>
            <a:srgbClr val="2563EB">
              <a:alpha val="10000"/>
            </a:srgbClr>
          </a:solidFill>
          <a:ln/>
        </p:spPr>
      </p:sp>
      <p:sp>
        <p:nvSpPr>
          <p:cNvPr id="3" name="Shape 1"/>
          <p:cNvSpPr/>
          <p:nvPr/>
        </p:nvSpPr>
        <p:spPr>
          <a:xfrm>
            <a:off x="8961120" y="3840480"/>
            <a:ext cx="5029200" cy="5029200"/>
          </a:xfrm>
          <a:prstGeom prst="ellipse">
            <a:avLst/>
          </a:prstGeom>
          <a:solidFill>
            <a:srgbClr val="00D4FF">
              <a:alpha val="7000"/>
            </a:srgbClr>
          </a:solidFill>
          <a:ln/>
        </p:spPr>
      </p:sp>
      <p:pic>
        <p:nvPicPr>
          <p:cNvPr id="4" name="Image 0" descr="C:\Users\user\Desktop\SmartLabo\DESIGN_ASSETS\01_LOGO\Icon\smartlabo_icon_white.png">    </p:cNvPr>
          <p:cNvPicPr>
            <a:picLocks noChangeAspect="1"/>
          </p:cNvPicPr>
          <p:nvPr/>
        </p:nvPicPr>
        <p:blipFill>
          <a:blip r:embed="rId1"/>
          <a:stretch>
            <a:fillRect/>
          </a:stretch>
        </p:blipFill>
        <p:spPr>
          <a:xfrm>
            <a:off x="5684368" y="777240"/>
            <a:ext cx="822960" cy="908685"/>
          </a:xfrm>
          <a:prstGeom prst="rect">
            <a:avLst/>
          </a:prstGeom>
        </p:spPr>
      </p:pic>
      <p:sp>
        <p:nvSpPr>
          <p:cNvPr id="5" name="Text 2"/>
          <p:cNvSpPr/>
          <p:nvPr/>
        </p:nvSpPr>
        <p:spPr>
          <a:xfrm>
            <a:off x="1371600" y="2148840"/>
            <a:ext cx="9448495" cy="1097280"/>
          </a:xfrm>
          <a:prstGeom prst="rect">
            <a:avLst/>
          </a:prstGeom>
          <a:noFill/>
          <a:ln/>
        </p:spPr>
        <p:txBody>
          <a:bodyPr wrap="square" lIns="0" tIns="0" rIns="0" bIns="0" rtlCol="0" anchor="ctr"/>
          <a:lstStyle/>
          <a:p>
            <a:pPr algn="ctr" indent="0" marL="0">
              <a:lnSpc>
                <a:spcPct val="135000"/>
              </a:lnSpc>
              <a:buNone/>
            </a:pPr>
            <a:r>
              <a:rPr lang="en-US" sz="1600" dirty="0">
                <a:solidFill>
                  <a:srgbClr val="DCE6F7"/>
                </a:solidFill>
                <a:latin typeface="Calibri" pitchFamily="34" charset="0"/>
                <a:ea typeface="Calibri" pitchFamily="34" charset="-122"/>
                <a:cs typeface="Calibri" pitchFamily="34" charset="-120"/>
              </a:rPr>
              <a:t>株式会社スマートラボは、AIを活用し中小企業の生産性向上を支援し、</a:t>
            </a:r>
            <a:endParaRPr lang="en-US" sz="1600" dirty="0"/>
          </a:p>
          <a:p>
            <a:pPr algn="ctr" indent="0" marL="0">
              <a:lnSpc>
                <a:spcPct val="135000"/>
              </a:lnSpc>
              <a:buNone/>
            </a:pPr>
            <a:r>
              <a:rPr lang="en-US" sz="1600" dirty="0">
                <a:solidFill>
                  <a:srgbClr val="DCE6F7"/>
                </a:solidFill>
                <a:latin typeface="Calibri" pitchFamily="34" charset="0"/>
                <a:ea typeface="Calibri" pitchFamily="34" charset="-122"/>
                <a:cs typeface="Calibri" pitchFamily="34" charset="-120"/>
              </a:rPr>
              <a:t>地域企業から全国へ展開することを目指します。</a:t>
            </a:r>
            <a:endParaRPr lang="en-US" sz="1600" dirty="0"/>
          </a:p>
        </p:txBody>
      </p:sp>
      <p:sp>
        <p:nvSpPr>
          <p:cNvPr id="6" name="Text 3"/>
          <p:cNvSpPr/>
          <p:nvPr/>
        </p:nvSpPr>
        <p:spPr>
          <a:xfrm>
            <a:off x="0" y="3429000"/>
            <a:ext cx="12191695" cy="9144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会社を動かすAI。</a:t>
            </a:r>
            <a:endParaRPr lang="en-US" sz="4000" dirty="0"/>
          </a:p>
        </p:txBody>
      </p:sp>
      <p:sp>
        <p:nvSpPr>
          <p:cNvPr id="7" name="Text 4"/>
          <p:cNvSpPr/>
          <p:nvPr/>
        </p:nvSpPr>
        <p:spPr>
          <a:xfrm>
            <a:off x="0" y="4663440"/>
            <a:ext cx="12191695" cy="365760"/>
          </a:xfrm>
          <a:prstGeom prst="rect">
            <a:avLst/>
          </a:prstGeom>
          <a:noFill/>
          <a:ln/>
        </p:spPr>
        <p:txBody>
          <a:bodyPr wrap="square" lIns="0" tIns="0" rIns="0" bIns="0" rtlCol="0" anchor="ctr"/>
          <a:lstStyle/>
          <a:p>
            <a:pPr algn="ctr" indent="0" marL="0">
              <a:buNone/>
            </a:pPr>
            <a:r>
              <a:rPr lang="en-US" sz="1300" dirty="0">
                <a:solidFill>
                  <a:srgbClr val="60A5FA"/>
                </a:solidFill>
                <a:latin typeface="Calibri" pitchFamily="34" charset="0"/>
                <a:ea typeface="Calibri" pitchFamily="34" charset="-122"/>
                <a:cs typeface="Calibri" pitchFamily="34" charset="-120"/>
              </a:rPr>
              <a:t>https://smartlaboworks.com/　|　info@smartlaboworks.com</a:t>
            </a:r>
            <a:endParaRPr lang="en-US" sz="1300" dirty="0"/>
          </a:p>
        </p:txBody>
      </p:sp>
      <p:sp>
        <p:nvSpPr>
          <p:cNvPr id="8" name="Text 5"/>
          <p:cNvSpPr/>
          <p:nvPr/>
        </p:nvSpPr>
        <p:spPr>
          <a:xfrm>
            <a:off x="0" y="6263640"/>
            <a:ext cx="12191695" cy="320040"/>
          </a:xfrm>
          <a:prstGeom prst="rect">
            <a:avLst/>
          </a:prstGeom>
          <a:noFill/>
          <a:ln/>
        </p:spPr>
        <p:txBody>
          <a:bodyPr wrap="square" lIns="0" tIns="0" rIns="0" bIns="0" rtlCol="0" anchor="ctr"/>
          <a:lstStyle/>
          <a:p>
            <a:pPr algn="ctr" indent="0" marL="0">
              <a:buNone/>
            </a:pPr>
            <a:r>
              <a:rPr lang="en-US" sz="1000" dirty="0">
                <a:solidFill>
                  <a:srgbClr val="6E85AC"/>
                </a:solidFill>
                <a:latin typeface="Calibri" pitchFamily="34" charset="0"/>
                <a:ea typeface="Calibri" pitchFamily="34" charset="-122"/>
                <a:cs typeface="Calibri" pitchFamily="34" charset="-120"/>
              </a:rPr>
              <a:t>Smart Labo Works ― 銀行提出用事業計画書 Version 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2026-07-15T01:44:26Z</dcterms:created>
  <dcterms:modified xsi:type="dcterms:W3CDTF">2026-07-15T01:44:26Z</dcterms:modified>
</cp:coreProperties>
</file>